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1.svg" ContentType="image/svg+xml"/>
  <Override PartName="/ppt/media/image13.svg" ContentType="image/svg+xml"/>
  <Override PartName="/ppt/media/image19.svg" ContentType="image/svg+xml"/>
  <Override PartName="/ppt/media/image2.svg" ContentType="image/svg+xml"/>
  <Override PartName="/ppt/media/image4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</p:sldIdLst>
  <p:sldSz cx="18288000" cy="10287000"/>
  <p:notesSz cx="6858000" cy="9144000"/>
  <p:embeddedFontLst>
    <p:embeddedFont>
      <p:font typeface="Montserrat Semi-Bold" charset="1" panose="00000700000000000000"/>
      <p:regular r:id="rId17"/>
    </p:embeddedFont>
    <p:embeddedFont>
      <p:font typeface="たづがね角ゴシック Info Bold" charset="1" panose="020B0803020203020204"/>
      <p:regular r:id="rId18"/>
    </p:embeddedFont>
    <p:embeddedFont>
      <p:font typeface="たづがね角ゴシック Info Semi-Bold" charset="1" panose="020B0703020203020204"/>
      <p:regular r:id="rId19"/>
    </p:embeddedFont>
    <p:embeddedFont>
      <p:font typeface="たづがね角ゴシック Info Medium" charset="1" panose="020B0603020203020204"/>
      <p:regular r:id="rId20"/>
    </p:embeddedFont>
    <p:embeddedFont>
      <p:font typeface="Montserrat Medium" charset="1" panose="00000600000000000000"/>
      <p:regular r:id="rId21"/>
    </p:embeddedFont>
    <p:embeddedFont>
      <p:font typeface="たづがね角ゴシック Info" charset="1" panose="020B0503020203020204"/>
      <p:regular r:id="rId22"/>
    </p:embeddedFont>
    <p:embeddedFont>
      <p:font typeface="Montserrat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失敗率5%の最小台数（中央値、空欄＝未達）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171戸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20.5</c:v>
                </c:pt>
                <c:pt idx="1">
                  <c:v>32.5</c:v>
                </c:pt>
                <c:pt idx="2">
                  <c:v>18.0</c:v>
                </c:pt>
                <c:pt idx="3">
                  <c:v>51.0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230戸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24.0</c:v>
                </c:pt>
                <c:pt idx="1">
                  <c:v>77.5</c:v>
                </c:pt>
                <c:pt idx="2">
                  <c:v>22.0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最小台数の内訳（中央値、0＝未達）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電動アシスト自転車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Sheet1!$A$2:$A$9</c:f>
              <c:strCache>
                <c:ptCount val="8"/>
                <c:pt idx="0">
                  <c:v>低位
80%</c:v>
                </c:pt>
                <c:pt idx="1">
                  <c:v>低位
5%</c:v>
                </c:pt>
                <c:pt idx="2">
                  <c:v>高位
80%</c:v>
                </c:pt>
                <c:pt idx="3">
                  <c:v>高位
5%</c:v>
                </c:pt>
                <c:pt idx="4">
                  <c:v>旧10%
80%</c:v>
                </c:pt>
                <c:pt idx="5">
                  <c:v>旧10%
5%</c:v>
                </c:pt>
                <c:pt idx="6">
                  <c:v>旧30%
80%</c:v>
                </c:pt>
                <c:pt idx="7">
                  <c:v>旧30%
5%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9.0</c:v>
                </c:pt>
                <c:pt idx="1">
                  <c:v>14.5</c:v>
                </c:pt>
                <c:pt idx="2">
                  <c:v>16.0</c:v>
                </c:pt>
                <c:pt idx="3">
                  <c:v>28.0</c:v>
                </c:pt>
                <c:pt idx="4">
                  <c:v>8.0</c:v>
                </c:pt>
                <c:pt idx="5">
                  <c:v>13.0</c:v>
                </c:pt>
                <c:pt idx="6">
                  <c:v>20.5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電動キックボード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Sheet1!$A$2:$A$9</c:f>
              <c:strCache>
                <c:ptCount val="8"/>
                <c:pt idx="0">
                  <c:v>低位
80%</c:v>
                </c:pt>
                <c:pt idx="1">
                  <c:v>低位
5%</c:v>
                </c:pt>
                <c:pt idx="2">
                  <c:v>高位
80%</c:v>
                </c:pt>
                <c:pt idx="3">
                  <c:v>高位
5%</c:v>
                </c:pt>
                <c:pt idx="4">
                  <c:v>旧10%
80%</c:v>
                </c:pt>
                <c:pt idx="5">
                  <c:v>旧10%
5%</c:v>
                </c:pt>
                <c:pt idx="6">
                  <c:v>旧30%
80%</c:v>
                </c:pt>
                <c:pt idx="7">
                  <c:v>旧30%
5%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6.0</c:v>
                </c:pt>
                <c:pt idx="1">
                  <c:v>10.0</c:v>
                </c:pt>
                <c:pt idx="2">
                  <c:v>10.0</c:v>
                </c:pt>
                <c:pt idx="3">
                  <c:v>41.5</c:v>
                </c:pt>
                <c:pt idx="4">
                  <c:v>5.0</c:v>
                </c:pt>
                <c:pt idx="5">
                  <c:v>9.0</c:v>
                </c:pt>
                <c:pt idx="6">
                  <c:v>13.0</c:v>
                </c:pt>
                <c:pt idx="7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失敗率5%の最小台数（合計）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最小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低位(i)</c:v>
                </c:pt>
                <c:pt idx="1">
                  <c:v>低位(ii)</c:v>
                </c:pt>
                <c:pt idx="2">
                  <c:v>高位(ii)</c:v>
                </c:pt>
                <c:pt idx="3">
                  <c:v>旧10%(i)</c:v>
                </c:pt>
                <c:pt idx="4">
                  <c:v>旧10%(ii)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30.0</c:v>
                </c:pt>
                <c:pt idx="1">
                  <c:v>22.0</c:v>
                </c:pt>
                <c:pt idx="2">
                  <c:v>54.0</c:v>
                </c:pt>
                <c:pt idx="3">
                  <c:v>27.0</c:v>
                </c:pt>
                <c:pt idx="4">
                  <c:v>21.0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最小〜25%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Sheet1!$A$2:$A$6</c:f>
              <c:strCache>
                <c:ptCount val="5"/>
                <c:pt idx="0">
                  <c:v>低位(i)</c:v>
                </c:pt>
                <c:pt idx="1">
                  <c:v>低位(ii)</c:v>
                </c:pt>
                <c:pt idx="2">
                  <c:v>高位(ii)</c:v>
                </c:pt>
                <c:pt idx="3">
                  <c:v>旧10%(i)</c:v>
                </c:pt>
                <c:pt idx="4">
                  <c:v>旧10%(ii)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2.0</c:v>
                </c:pt>
                <c:pt idx="1">
                  <c:v>1.25</c:v>
                </c:pt>
                <c:pt idx="2">
                  <c:v>15.75</c:v>
                </c:pt>
                <c:pt idx="3">
                  <c:v>1.0</c:v>
                </c:pt>
                <c:pt idx="4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25%〜中央値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Sheet1!$A$2:$A$6</c:f>
              <c:strCache>
                <c:ptCount val="5"/>
                <c:pt idx="0">
                  <c:v>低位(i)</c:v>
                </c:pt>
                <c:pt idx="1">
                  <c:v>低位(ii)</c:v>
                </c:pt>
                <c:pt idx="2">
                  <c:v>高位(ii)</c:v>
                </c:pt>
                <c:pt idx="3">
                  <c:v>旧10%(i)</c:v>
                </c:pt>
                <c:pt idx="4">
                  <c:v>旧10%(ii)</c:v>
                </c:pt>
              </c:strCache>
            </c:strRef>
          </c:cat>
          <c:val>
            <c:numRef>
              <c:f>Sheet1!$D$2:$D$6</c:f>
              <c:numCache>
                <c:formatCode>0</c:formatCode>
                <c:ptCount val="5"/>
                <c:pt idx="0">
                  <c:v>1.0</c:v>
                </c:pt>
                <c:pt idx="1">
                  <c:v>0.75</c:v>
                </c:pt>
                <c:pt idx="2">
                  <c:v>7.75</c:v>
                </c:pt>
                <c:pt idx="3">
                  <c:v>1.0</c:v>
                </c:pt>
                <c:pt idx="4">
                  <c:v>0.75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中央値〜75%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Sheet1!$A$2:$A$6</c:f>
              <c:strCache>
                <c:ptCount val="5"/>
                <c:pt idx="0">
                  <c:v>低位(i)</c:v>
                </c:pt>
                <c:pt idx="1">
                  <c:v>低位(ii)</c:v>
                </c:pt>
                <c:pt idx="2">
                  <c:v>高位(ii)</c:v>
                </c:pt>
                <c:pt idx="3">
                  <c:v>旧10%(i)</c:v>
                </c:pt>
                <c:pt idx="4">
                  <c:v>旧10%(ii)</c:v>
                </c:pt>
              </c:strCache>
            </c:strRef>
          </c:cat>
          <c:val>
            <c:numRef>
              <c:f>Sheet1!$E$2:$E$6</c:f>
              <c:numCache>
                <c:formatCode>0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2.5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75%〜最大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Sheet1!$A$2:$A$6</c:f>
              <c:strCache>
                <c:ptCount val="5"/>
                <c:pt idx="0">
                  <c:v>低位(i)</c:v>
                </c:pt>
                <c:pt idx="1">
                  <c:v>低位(ii)</c:v>
                </c:pt>
                <c:pt idx="2">
                  <c:v>高位(ii)</c:v>
                </c:pt>
                <c:pt idx="3">
                  <c:v>旧10%(i)</c:v>
                </c:pt>
                <c:pt idx="4">
                  <c:v>旧10%(ii)</c:v>
                </c:pt>
              </c:strCache>
            </c:strRef>
          </c:cat>
          <c:val>
            <c:numRef>
              <c:f>Sheet1!$F$2:$F$6</c:f>
              <c:numCache>
                <c:formatCode>0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4.0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充足率80%の最小台数（合計）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最小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低位(i)</c:v>
                </c:pt>
                <c:pt idx="1">
                  <c:v>低位(ii)</c:v>
                </c:pt>
                <c:pt idx="2">
                  <c:v>高位(i)</c:v>
                </c:pt>
                <c:pt idx="3">
                  <c:v>高位(ii)</c:v>
                </c:pt>
                <c:pt idx="4">
                  <c:v>旧10%(i)</c:v>
                </c:pt>
                <c:pt idx="5">
                  <c:v>旧10%(ii)</c:v>
                </c:pt>
                <c:pt idx="6">
                  <c:v>旧30%(i)</c:v>
                </c:pt>
                <c:pt idx="7">
                  <c:v>旧30%(ii)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17.0</c:v>
                </c:pt>
                <c:pt idx="1">
                  <c:v>13.0</c:v>
                </c:pt>
                <c:pt idx="2">
                  <c:v>31.0</c:v>
                </c:pt>
                <c:pt idx="3">
                  <c:v>24.0</c:v>
                </c:pt>
                <c:pt idx="4">
                  <c:v>15.0</c:v>
                </c:pt>
                <c:pt idx="5">
                  <c:v>12.0</c:v>
                </c:pt>
                <c:pt idx="6">
                  <c:v>46.0</c:v>
                </c:pt>
                <c:pt idx="7">
                  <c:v>32.0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最小〜25%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Sheet1!$A$2:$A$9</c:f>
              <c:strCache>
                <c:ptCount val="8"/>
                <c:pt idx="0">
                  <c:v>低位(i)</c:v>
                </c:pt>
                <c:pt idx="1">
                  <c:v>低位(ii)</c:v>
                </c:pt>
                <c:pt idx="2">
                  <c:v>高位(i)</c:v>
                </c:pt>
                <c:pt idx="3">
                  <c:v>高位(ii)</c:v>
                </c:pt>
                <c:pt idx="4">
                  <c:v>旧10%(i)</c:v>
                </c:pt>
                <c:pt idx="5">
                  <c:v>旧10%(ii)</c:v>
                </c:pt>
                <c:pt idx="6">
                  <c:v>旧30%(i)</c:v>
                </c:pt>
                <c:pt idx="7">
                  <c:v>旧30%(ii)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0.0</c:v>
                </c:pt>
                <c:pt idx="6">
                  <c:v>1.25</c:v>
                </c:pt>
                <c:pt idx="7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25%〜中央値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Sheet1!$A$2:$A$9</c:f>
              <c:strCache>
                <c:ptCount val="8"/>
                <c:pt idx="0">
                  <c:v>低位(i)</c:v>
                </c:pt>
                <c:pt idx="1">
                  <c:v>低位(ii)</c:v>
                </c:pt>
                <c:pt idx="2">
                  <c:v>高位(i)</c:v>
                </c:pt>
                <c:pt idx="3">
                  <c:v>高位(ii)</c:v>
                </c:pt>
                <c:pt idx="4">
                  <c:v>旧10%(i)</c:v>
                </c:pt>
                <c:pt idx="5">
                  <c:v>旧10%(ii)</c:v>
                </c:pt>
                <c:pt idx="6">
                  <c:v>旧30%(i)</c:v>
                </c:pt>
                <c:pt idx="7">
                  <c:v>旧30%(ii)</c:v>
                </c:pt>
              </c:strCache>
            </c:strRef>
          </c:cat>
          <c:val>
            <c:numRef>
              <c:f>Sheet1!$D$2:$D$9</c:f>
              <c:numCache>
                <c:formatCode>0</c:formatCode>
                <c:ptCount val="8"/>
                <c:pt idx="0">
                  <c:v>0.0</c:v>
                </c:pt>
                <c:pt idx="1">
                  <c:v>1.0</c:v>
                </c:pt>
                <c:pt idx="2">
                  <c:v>0.5</c:v>
                </c:pt>
                <c:pt idx="3">
                  <c:v>1.0</c:v>
                </c:pt>
                <c:pt idx="4">
                  <c:v>0.0</c:v>
                </c:pt>
                <c:pt idx="5">
                  <c:v>1.0</c:v>
                </c:pt>
                <c:pt idx="6">
                  <c:v>1.25</c:v>
                </c:pt>
                <c:pt idx="7">
                  <c:v>0.75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中央値〜75%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Sheet1!$A$2:$A$9</c:f>
              <c:strCache>
                <c:ptCount val="8"/>
                <c:pt idx="0">
                  <c:v>低位(i)</c:v>
                </c:pt>
                <c:pt idx="1">
                  <c:v>低位(ii)</c:v>
                </c:pt>
                <c:pt idx="2">
                  <c:v>高位(i)</c:v>
                </c:pt>
                <c:pt idx="3">
                  <c:v>高位(ii)</c:v>
                </c:pt>
                <c:pt idx="4">
                  <c:v>旧10%(i)</c:v>
                </c:pt>
                <c:pt idx="5">
                  <c:v>旧10%(ii)</c:v>
                </c:pt>
                <c:pt idx="6">
                  <c:v>旧30%(i)</c:v>
                </c:pt>
                <c:pt idx="7">
                  <c:v>旧30%(ii)</c:v>
                </c:pt>
              </c:strCache>
            </c:strRef>
          </c:cat>
          <c:val>
            <c:numRef>
              <c:f>Sheet1!$E$2:$E$9</c:f>
              <c:numCache>
                <c:formatCode>0</c:formatCode>
                <c:ptCount val="8"/>
                <c:pt idx="0">
                  <c:v>0.75</c:v>
                </c:pt>
                <c:pt idx="1">
                  <c:v>0.0</c:v>
                </c:pt>
                <c:pt idx="2">
                  <c:v>0.5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1.25</c:v>
                </c:pt>
                <c:pt idx="7">
                  <c:v>1.0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75%〜最大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Sheet1!$A$2:$A$9</c:f>
              <c:strCache>
                <c:ptCount val="8"/>
                <c:pt idx="0">
                  <c:v>低位(i)</c:v>
                </c:pt>
                <c:pt idx="1">
                  <c:v>低位(ii)</c:v>
                </c:pt>
                <c:pt idx="2">
                  <c:v>高位(i)</c:v>
                </c:pt>
                <c:pt idx="3">
                  <c:v>高位(ii)</c:v>
                </c:pt>
                <c:pt idx="4">
                  <c:v>旧10%(i)</c:v>
                </c:pt>
                <c:pt idx="5">
                  <c:v>旧10%(ii)</c:v>
                </c:pt>
                <c:pt idx="6">
                  <c:v>旧30%(i)</c:v>
                </c:pt>
                <c:pt idx="7">
                  <c:v>旧30%(ii)</c:v>
                </c:pt>
              </c:strCache>
            </c:strRef>
          </c:cat>
          <c:val>
            <c:numRef>
              <c:f>Sheet1!$F$2:$F$9</c:f>
              <c:numCache>
                <c:formatCode>0</c:formatCode>
                <c:ptCount val="8"/>
                <c:pt idx="0">
                  <c:v>0.25</c:v>
                </c:pt>
                <c:pt idx="1">
                  <c:v>0.0</c:v>
                </c:pt>
                <c:pt idx="2">
                  <c:v>2.0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1.25</c:v>
                </c:pt>
                <c:pt idx="7">
                  <c:v>2.0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1か月の充足率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最小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0.9266409266409268</c:v>
                </c:pt>
                <c:pt idx="1">
                  <c:v>0.9283422459893048</c:v>
                </c:pt>
                <c:pt idx="2">
                  <c:v>0.9334916864608076</c:v>
                </c:pt>
                <c:pt idx="3">
                  <c:v>0.9178423236514522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最小〜25%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0.019818486139729585</c:v>
                </c:pt>
                <c:pt idx="1">
                  <c:v>0.027172119163614394</c:v>
                </c:pt>
                <c:pt idx="2">
                  <c:v>0.011485992110620957</c:v>
                </c:pt>
                <c:pt idx="3">
                  <c:v>0.03549708073276048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25%〜中央値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0.010176989888258436</c:v>
                </c:pt>
                <c:pt idx="1">
                  <c:v>0.009777734202837896</c:v>
                </c:pt>
                <c:pt idx="2">
                  <c:v>0.010279592122083847</c:v>
                </c:pt>
                <c:pt idx="3">
                  <c:v>0.009409771569326764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中央値〜75%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0.009738997048494347</c:v>
                </c:pt>
                <c:pt idx="1">
                  <c:v>0.005709658113487337</c:v>
                </c:pt>
                <c:pt idx="2">
                  <c:v>0.01108888315264156</c:v>
                </c:pt>
                <c:pt idx="3">
                  <c:v>0.006742903092679664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75%〜最大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Sheet1!$F$2:$F$5</c:f>
              <c:numCache>
                <c:formatCode>0%</c:formatCode>
                <c:ptCount val="4"/>
                <c:pt idx="0">
                  <c:v>0.024655990417120077</c:v>
                </c:pt>
                <c:pt idx="1">
                  <c:v>0.012454124883696793</c:v>
                </c:pt>
                <c:pt idx="2">
                  <c:v>0.020963490823896813</c:v>
                </c:pt>
                <c:pt idx="3">
                  <c:v>0.014029169869652414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返却失敗率（満車）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最小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最小〜25%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0.0</c:v>
                </c:pt>
                <c:pt idx="1">
                  <c:v>0.0017179606220702</c:v>
                </c:pt>
                <c:pt idx="2">
                  <c:v>0.0</c:v>
                </c:pt>
                <c:pt idx="3">
                  <c:v>0.04462960213776718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25%〜中央値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Sheet1!$D$2:$D$5</c:f>
              <c:numCache>
                <c:formatCode>0.0%</c:formatCode>
                <c:ptCount val="4"/>
                <c:pt idx="0">
                  <c:v>0.0</c:v>
                </c:pt>
                <c:pt idx="1">
                  <c:v>0.12122678660863209</c:v>
                </c:pt>
                <c:pt idx="2">
                  <c:v>0.0</c:v>
                </c:pt>
                <c:pt idx="3">
                  <c:v>0.08474988195466399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中央値〜75%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Sheet1!$E$2:$E$5</c:f>
              <c:numCache>
                <c:formatCode>0.0%</c:formatCode>
                <c:ptCount val="4"/>
                <c:pt idx="0">
                  <c:v>0.0332211294185962</c:v>
                </c:pt>
                <c:pt idx="1">
                  <c:v>0.12307957456536879</c:v>
                </c:pt>
                <c:pt idx="2">
                  <c:v>0.019045302426037376</c:v>
                </c:pt>
                <c:pt idx="3">
                  <c:v>0.2790618160553129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75%〜最大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Sheet1!$F$2:$F$5</c:f>
              <c:numCache>
                <c:formatCode>0.0%</c:formatCode>
                <c:ptCount val="4"/>
                <c:pt idx="0">
                  <c:v>0.3737131771507468</c:v>
                </c:pt>
                <c:pt idx="1">
                  <c:v>0.2411265161927557</c:v>
                </c:pt>
                <c:pt idx="2">
                  <c:v>0.26373104718835855</c:v>
                </c:pt>
                <c:pt idx="3">
                  <c:v>0.06918215664237937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代替乗車率（(ii)のみ）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最小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0.0364464692482915</c:v>
                </c:pt>
                <c:pt idx="1">
                  <c:v>0.0187018701870187</c:v>
                </c:pt>
                <c:pt idx="2">
                  <c:v>0.0327455919395466</c:v>
                </c:pt>
                <c:pt idx="3">
                  <c:v>0.0176380368098159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最小〜25%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0.0253717125698903</c:v>
                </c:pt>
                <c:pt idx="1">
                  <c:v>0.02660563617232327</c:v>
                </c:pt>
                <c:pt idx="2">
                  <c:v>0.016434735929305805</c:v>
                </c:pt>
                <c:pt idx="3">
                  <c:v>0.02248014616913117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25%〜中央値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0.010933559194428705</c:v>
                </c:pt>
                <c:pt idx="1">
                  <c:v>0.011522005106261127</c:v>
                </c:pt>
                <c:pt idx="2">
                  <c:v>0.010589787073676298</c:v>
                </c:pt>
                <c:pt idx="3">
                  <c:v>0.010246940216871232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中央値〜75%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0.010581592320722796</c:v>
                </c:pt>
                <c:pt idx="1">
                  <c:v>0.0523658908332474</c:v>
                </c:pt>
                <c:pt idx="2">
                  <c:v>0.011828930403533298</c:v>
                </c:pt>
                <c:pt idx="3">
                  <c:v>0.005372737590781149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75%〜最大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Sheet1!$F$2:$F$5</c:f>
              <c:numCache>
                <c:formatCode>0%</c:formatCode>
                <c:ptCount val="4"/>
                <c:pt idx="0">
                  <c:v>0.07605531295487629</c:v>
                </c:pt>
                <c:pt idx="1">
                  <c:v>0.4600353669319187</c:v>
                </c:pt>
                <c:pt idx="2">
                  <c:v>0.1437855700385534</c:v>
                </c:pt>
                <c:pt idx="3">
                  <c:v>0.05222188303773714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年間総費用（万円）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最小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267.575</c:v>
                </c:pt>
                <c:pt idx="1">
                  <c:v>400.755</c:v>
                </c:pt>
                <c:pt idx="2">
                  <c:v>257.485</c:v>
                </c:pt>
                <c:pt idx="3">
                  <c:v>462.74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最小〜25%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71.74375000000003</c:v>
                </c:pt>
                <c:pt idx="1">
                  <c:v>87.89125000000001</c:v>
                </c:pt>
                <c:pt idx="2">
                  <c:v>67.29874999999998</c:v>
                </c:pt>
                <c:pt idx="3">
                  <c:v>130.04375000000005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25%〜中央値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25.747499999999945</c:v>
                </c:pt>
                <c:pt idx="1">
                  <c:v>145.28999999999996</c:v>
                </c:pt>
                <c:pt idx="2">
                  <c:v>46.662499999999966</c:v>
                </c:pt>
                <c:pt idx="3">
                  <c:v>83.29374999999993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中央値〜75%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200.07000000000005</c:v>
                </c:pt>
                <c:pt idx="1">
                  <c:v>241.54625</c:v>
                </c:pt>
                <c:pt idx="2">
                  <c:v>139.28937500000006</c:v>
                </c:pt>
                <c:pt idx="3">
                  <c:v>678.8181250000001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75%〜最大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Sheet1!$F$2:$F$5</c:f>
              <c:numCache>
                <c:formatCode>#,##0</c:formatCode>
                <c:ptCount val="4"/>
                <c:pt idx="0">
                  <c:v>89.77874999999995</c:v>
                </c:pt>
                <c:pt idx="1">
                  <c:v>445.77250000000015</c:v>
                </c:pt>
                <c:pt idx="2">
                  <c:v>45.96437500000002</c:v>
                </c:pt>
                <c:pt idx="3">
                  <c:v>363.4868749999998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失敗率5%の最小台数（中央値、0＝未達）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代替乗車なし(i)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33.0</c:v>
                </c:pt>
                <c:pt idx="1">
                  <c:v>0</c:v>
                </c:pt>
                <c:pt idx="2">
                  <c:v>29.0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代替乗車あり(ii)</c:v>
                </c:pt>
              </c:strCache>
            </c:strRef>
          </c:tx>
          <c:spPr>
            <a:solidFill>
              <a:srgbClr val="808FB0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24.0</c:v>
                </c:pt>
                <c:pt idx="1">
                  <c:v>77.5</c:v>
                </c:pt>
                <c:pt idx="2">
                  <c:v>22.0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失敗率5%の最小台数（あり(ii)・運用a、0＝未達）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18台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24.0</c:v>
                </c:pt>
                <c:pt idx="1">
                  <c:v>0</c:v>
                </c:pt>
                <c:pt idx="2">
                  <c:v>22.0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25台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24.0</c:v>
                </c:pt>
                <c:pt idx="1">
                  <c:v>77.5</c:v>
                </c:pt>
                <c:pt idx="2">
                  <c:v>22.0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32台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24.0</c:v>
                </c:pt>
                <c:pt idx="1">
                  <c:v>39.5</c:v>
                </c:pt>
                <c:pt idx="2">
                  <c:v>22.0</c:v>
                </c:pt>
                <c:pt idx="3">
                  <c:v>58.5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40台</c:v>
                </c:pt>
              </c:strCache>
            </c:strRef>
          </c:tx>
          <c:spPr>
            <a:solidFill>
              <a:srgbClr val="5D549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24.0</c:v>
                </c:pt>
                <c:pt idx="1">
                  <c:v>39.5</c:v>
                </c:pt>
                <c:pt idx="2">
                  <c:v>22.0</c:v>
                </c:pt>
                <c:pt idx="3">
                  <c:v>47.0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低位：自転車15＋キックボード10台（運用a）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利用希望（回/日）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4.0</c:v>
                </c:pt>
                <c:pt idx="1">
                  <c:v>12.0</c:v>
                </c:pt>
                <c:pt idx="2">
                  <c:v>2.0</c:v>
                </c:pt>
                <c:pt idx="3">
                  <c:v>25.0</c:v>
                </c:pt>
                <c:pt idx="4">
                  <c:v>8.0</c:v>
                </c:pt>
                <c:pt idx="5">
                  <c:v>25.0</c:v>
                </c:pt>
                <c:pt idx="6">
                  <c:v>10.0</c:v>
                </c:pt>
                <c:pt idx="7">
                  <c:v>9.0</c:v>
                </c:pt>
                <c:pt idx="8">
                  <c:v>24.0</c:v>
                </c:pt>
                <c:pt idx="9">
                  <c:v>11.0</c:v>
                </c:pt>
                <c:pt idx="10">
                  <c:v>26.0</c:v>
                </c:pt>
                <c:pt idx="11">
                  <c:v>21.0</c:v>
                </c:pt>
                <c:pt idx="12">
                  <c:v>28.0</c:v>
                </c:pt>
                <c:pt idx="13">
                  <c:v>4.0</c:v>
                </c:pt>
                <c:pt idx="14">
                  <c:v>10.0</c:v>
                </c:pt>
                <c:pt idx="15">
                  <c:v>37.0</c:v>
                </c:pt>
                <c:pt idx="16">
                  <c:v>8.0</c:v>
                </c:pt>
                <c:pt idx="17">
                  <c:v>31.0</c:v>
                </c:pt>
                <c:pt idx="18">
                  <c:v>30.0</c:v>
                </c:pt>
                <c:pt idx="19">
                  <c:v>23.0</c:v>
                </c:pt>
                <c:pt idx="20">
                  <c:v>5.0</c:v>
                </c:pt>
                <c:pt idx="21">
                  <c:v>11.0</c:v>
                </c:pt>
                <c:pt idx="22">
                  <c:v>7.0</c:v>
                </c:pt>
                <c:pt idx="23">
                  <c:v>20.0</c:v>
                </c:pt>
                <c:pt idx="24">
                  <c:v>39.0</c:v>
                </c:pt>
                <c:pt idx="25">
                  <c:v>16.0</c:v>
                </c:pt>
                <c:pt idx="26">
                  <c:v>20.0</c:v>
                </c:pt>
                <c:pt idx="27">
                  <c:v>5.0</c:v>
                </c:pt>
                <c:pt idx="28">
                  <c:v>3.0</c:v>
                </c:pt>
                <c:pt idx="29">
                  <c:v>29.0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利用（回/日）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4.0</c:v>
                </c:pt>
                <c:pt idx="1">
                  <c:v>12.0</c:v>
                </c:pt>
                <c:pt idx="2">
                  <c:v>2.0</c:v>
                </c:pt>
                <c:pt idx="3">
                  <c:v>25.0</c:v>
                </c:pt>
                <c:pt idx="4">
                  <c:v>8.0</c:v>
                </c:pt>
                <c:pt idx="5">
                  <c:v>25.0</c:v>
                </c:pt>
                <c:pt idx="6">
                  <c:v>10.0</c:v>
                </c:pt>
                <c:pt idx="7">
                  <c:v>9.0</c:v>
                </c:pt>
                <c:pt idx="8">
                  <c:v>23.0</c:v>
                </c:pt>
                <c:pt idx="9">
                  <c:v>11.0</c:v>
                </c:pt>
                <c:pt idx="10">
                  <c:v>26.0</c:v>
                </c:pt>
                <c:pt idx="11">
                  <c:v>21.0</c:v>
                </c:pt>
                <c:pt idx="12">
                  <c:v>25.0</c:v>
                </c:pt>
                <c:pt idx="13">
                  <c:v>4.0</c:v>
                </c:pt>
                <c:pt idx="14">
                  <c:v>10.0</c:v>
                </c:pt>
                <c:pt idx="15">
                  <c:v>35.0</c:v>
                </c:pt>
                <c:pt idx="16">
                  <c:v>8.0</c:v>
                </c:pt>
                <c:pt idx="17">
                  <c:v>30.0</c:v>
                </c:pt>
                <c:pt idx="18">
                  <c:v>27.0</c:v>
                </c:pt>
                <c:pt idx="19">
                  <c:v>23.0</c:v>
                </c:pt>
                <c:pt idx="20">
                  <c:v>5.0</c:v>
                </c:pt>
                <c:pt idx="21">
                  <c:v>11.0</c:v>
                </c:pt>
                <c:pt idx="22">
                  <c:v>7.0</c:v>
                </c:pt>
                <c:pt idx="23">
                  <c:v>20.0</c:v>
                </c:pt>
                <c:pt idx="24">
                  <c:v>37.0</c:v>
                </c:pt>
                <c:pt idx="25">
                  <c:v>16.0</c:v>
                </c:pt>
                <c:pt idx="26">
                  <c:v>20.0</c:v>
                </c:pt>
                <c:pt idx="27">
                  <c:v>5.0</c:v>
                </c:pt>
                <c:pt idx="28">
                  <c:v>3.0</c:v>
                </c:pt>
                <c:pt idx="29">
                  <c:v>27.0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高位：自転車24＋キックボード16台（運用a）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利用希望（回/日）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3.0</c:v>
                </c:pt>
                <c:pt idx="1">
                  <c:v>22.0</c:v>
                </c:pt>
                <c:pt idx="2">
                  <c:v>5.0</c:v>
                </c:pt>
                <c:pt idx="3">
                  <c:v>55.0</c:v>
                </c:pt>
                <c:pt idx="4">
                  <c:v>17.0</c:v>
                </c:pt>
                <c:pt idx="5">
                  <c:v>50.0</c:v>
                </c:pt>
                <c:pt idx="6">
                  <c:v>12.0</c:v>
                </c:pt>
                <c:pt idx="7">
                  <c:v>11.0</c:v>
                </c:pt>
                <c:pt idx="8">
                  <c:v>51.0</c:v>
                </c:pt>
                <c:pt idx="9">
                  <c:v>31.0</c:v>
                </c:pt>
                <c:pt idx="10">
                  <c:v>55.0</c:v>
                </c:pt>
                <c:pt idx="11">
                  <c:v>54.0</c:v>
                </c:pt>
                <c:pt idx="12">
                  <c:v>47.0</c:v>
                </c:pt>
                <c:pt idx="13">
                  <c:v>8.0</c:v>
                </c:pt>
                <c:pt idx="14">
                  <c:v>13.0</c:v>
                </c:pt>
                <c:pt idx="15">
                  <c:v>57.0</c:v>
                </c:pt>
                <c:pt idx="16">
                  <c:v>32.0</c:v>
                </c:pt>
                <c:pt idx="17">
                  <c:v>35.0</c:v>
                </c:pt>
                <c:pt idx="18">
                  <c:v>46.0</c:v>
                </c:pt>
                <c:pt idx="19">
                  <c:v>60.0</c:v>
                </c:pt>
                <c:pt idx="20">
                  <c:v>12.0</c:v>
                </c:pt>
                <c:pt idx="21">
                  <c:v>15.0</c:v>
                </c:pt>
                <c:pt idx="22">
                  <c:v>12.0</c:v>
                </c:pt>
                <c:pt idx="23">
                  <c:v>58.0</c:v>
                </c:pt>
                <c:pt idx="24">
                  <c:v>48.0</c:v>
                </c:pt>
                <c:pt idx="25">
                  <c:v>56.0</c:v>
                </c:pt>
                <c:pt idx="26">
                  <c:v>47.0</c:v>
                </c:pt>
                <c:pt idx="27">
                  <c:v>7.0</c:v>
                </c:pt>
                <c:pt idx="28">
                  <c:v>15.0</c:v>
                </c:pt>
                <c:pt idx="29">
                  <c:v>72.0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利用（回/日）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3.0</c:v>
                </c:pt>
                <c:pt idx="1">
                  <c:v>22.0</c:v>
                </c:pt>
                <c:pt idx="2">
                  <c:v>5.0</c:v>
                </c:pt>
                <c:pt idx="3">
                  <c:v>49.0</c:v>
                </c:pt>
                <c:pt idx="4">
                  <c:v>17.0</c:v>
                </c:pt>
                <c:pt idx="5">
                  <c:v>43.0</c:v>
                </c:pt>
                <c:pt idx="6">
                  <c:v>12.0</c:v>
                </c:pt>
                <c:pt idx="7">
                  <c:v>7.0</c:v>
                </c:pt>
                <c:pt idx="8">
                  <c:v>45.0</c:v>
                </c:pt>
                <c:pt idx="9">
                  <c:v>31.0</c:v>
                </c:pt>
                <c:pt idx="10">
                  <c:v>43.0</c:v>
                </c:pt>
                <c:pt idx="11">
                  <c:v>53.0</c:v>
                </c:pt>
                <c:pt idx="12">
                  <c:v>47.0</c:v>
                </c:pt>
                <c:pt idx="13">
                  <c:v>8.0</c:v>
                </c:pt>
                <c:pt idx="14">
                  <c:v>11.0</c:v>
                </c:pt>
                <c:pt idx="15">
                  <c:v>49.0</c:v>
                </c:pt>
                <c:pt idx="16">
                  <c:v>29.0</c:v>
                </c:pt>
                <c:pt idx="17">
                  <c:v>35.0</c:v>
                </c:pt>
                <c:pt idx="18">
                  <c:v>46.0</c:v>
                </c:pt>
                <c:pt idx="19">
                  <c:v>58.0</c:v>
                </c:pt>
                <c:pt idx="20">
                  <c:v>12.0</c:v>
                </c:pt>
                <c:pt idx="21">
                  <c:v>13.0</c:v>
                </c:pt>
                <c:pt idx="22">
                  <c:v>12.0</c:v>
                </c:pt>
                <c:pt idx="23">
                  <c:v>53.0</c:v>
                </c:pt>
                <c:pt idx="24">
                  <c:v>43.0</c:v>
                </c:pt>
                <c:pt idx="25">
                  <c:v>51.0</c:v>
                </c:pt>
                <c:pt idx="26">
                  <c:v>47.0</c:v>
                </c:pt>
                <c:pt idx="27">
                  <c:v>7.0</c:v>
                </c:pt>
                <c:pt idx="28">
                  <c:v>15.0</c:v>
                </c:pt>
                <c:pt idx="29">
                  <c:v>65.0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月別の1日あたり利用回数（推奨案）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低位：利用（回/日）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15.96774193548387</c:v>
                </c:pt>
                <c:pt idx="1">
                  <c:v>16.285714285714285</c:v>
                </c:pt>
                <c:pt idx="2">
                  <c:v>17.64516129032258</c:v>
                </c:pt>
                <c:pt idx="3">
                  <c:v>18.733333333333334</c:v>
                </c:pt>
                <c:pt idx="4">
                  <c:v>15.161290322580646</c:v>
                </c:pt>
                <c:pt idx="5">
                  <c:v>16.533333333333335</c:v>
                </c:pt>
                <c:pt idx="6">
                  <c:v>18.870967741935484</c:v>
                </c:pt>
                <c:pt idx="7">
                  <c:v>15.64516129032258</c:v>
                </c:pt>
                <c:pt idx="8">
                  <c:v>13.733333333333333</c:v>
                </c:pt>
                <c:pt idx="9">
                  <c:v>16.516129032258064</c:v>
                </c:pt>
                <c:pt idx="10">
                  <c:v>16.3</c:v>
                </c:pt>
                <c:pt idx="11">
                  <c:v>19.741935483870968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高位：利用（回/日）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30.580645161290324</c:v>
                </c:pt>
                <c:pt idx="1">
                  <c:v>32.892857142857146</c:v>
                </c:pt>
                <c:pt idx="2">
                  <c:v>33.96774193548387</c:v>
                </c:pt>
                <c:pt idx="3">
                  <c:v>32.53333333333333</c:v>
                </c:pt>
                <c:pt idx="4">
                  <c:v>31.032258064516128</c:v>
                </c:pt>
                <c:pt idx="5">
                  <c:v>33.733333333333334</c:v>
                </c:pt>
                <c:pt idx="6">
                  <c:v>34.225806451612904</c:v>
                </c:pt>
                <c:pt idx="7">
                  <c:v>33.03225806451613</c:v>
                </c:pt>
                <c:pt idx="8">
                  <c:v>27.0</c:v>
                </c:pt>
                <c:pt idx="9">
                  <c:v>33.29032258064516</c:v>
                </c:pt>
                <c:pt idx="10">
                  <c:v>31.033333333333335</c:v>
                </c:pt>
                <c:pt idx="11">
                  <c:v>37.54838709677419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年間費用の内訳（万円、中央値）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車両（償却）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120.0</c:v>
                </c:pt>
                <c:pt idx="1">
                  <c:v>197.5</c:v>
                </c:pt>
                <c:pt idx="2">
                  <c:v>110.0</c:v>
                </c:pt>
                <c:pt idx="3">
                  <c:v>235.0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車両維持</c:v>
                </c:pt>
              </c:strCache>
            </c:strRef>
          </c:tx>
          <c:spPr>
            <a:solidFill>
              <a:srgbClr val="808FB0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36.0</c:v>
                </c:pt>
                <c:pt idx="1">
                  <c:v>59.25</c:v>
                </c:pt>
                <c:pt idx="2">
                  <c:v>33.0</c:v>
                </c:pt>
                <c:pt idx="3">
                  <c:v>70.5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ポート（償却）</c:v>
                </c:pt>
              </c:strCache>
            </c:strRef>
          </c:tx>
          <c:spPr>
            <a:solidFill>
              <a:srgbClr val="086B89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20.0</c:v>
                </c:pt>
                <c:pt idx="1">
                  <c:v>20.0</c:v>
                </c:pt>
                <c:pt idx="2">
                  <c:v>20.0</c:v>
                </c:pt>
                <c:pt idx="3">
                  <c:v>20.0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用地</c:v>
                </c:pt>
              </c:strCache>
            </c:strRef>
          </c:tx>
          <c:spPr>
            <a:solidFill>
              <a:srgbClr val="ABB5CA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45.36</c:v>
                </c:pt>
                <c:pt idx="1">
                  <c:v>72.0</c:v>
                </c:pt>
                <c:pt idx="2">
                  <c:v>42.12</c:v>
                </c:pt>
                <c:pt idx="3">
                  <c:v>86.4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人件費（リバランス）</c:v>
                </c:pt>
              </c:strCache>
            </c:strRef>
          </c:tx>
          <c:spPr>
            <a:solidFill>
              <a:srgbClr val="5D5491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Sheet1!$F$2:$F$5</c:f>
              <c:numCache>
                <c:formatCode>#,##0</c:formatCode>
                <c:ptCount val="4"/>
                <c:pt idx="0">
                  <c:v>42.5225</c:v>
                </c:pt>
                <c:pt idx="1">
                  <c:v>50.60875</c:v>
                </c:pt>
                <c:pt idx="2">
                  <c:v>40.7375</c:v>
                </c:pt>
                <c:pt idx="3">
                  <c:v>53.45125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軽トラック</c:v>
                </c:pt>
              </c:strCache>
            </c:strRef>
          </c:tx>
          <c:spPr>
            <a:solidFill>
              <a:srgbClr val="C9CFDC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Sheet1!$G$2:$G$5</c:f>
              <c:numCache>
                <c:formatCode>#,##0</c:formatCode>
                <c:ptCount val="4"/>
                <c:pt idx="0">
                  <c:v>18.0</c:v>
                </c:pt>
                <c:pt idx="1">
                  <c:v>18.2</c:v>
                </c:pt>
                <c:pt idx="2">
                  <c:v>18.0</c:v>
                </c:pt>
                <c:pt idx="3">
                  <c:v>18.25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人件費（電池交換）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Sheet1!$A$2:$A$5</c:f>
              <c:strCache>
                <c:ptCount val="4"/>
                <c:pt idx="0">
                  <c:v>低位</c:v>
                </c:pt>
                <c:pt idx="1">
                  <c:v>高位</c:v>
                </c:pt>
                <c:pt idx="2">
                  <c:v>旧10%</c:v>
                </c:pt>
                <c:pt idx="3">
                  <c:v>旧30%</c:v>
                </c:pt>
              </c:strCache>
            </c:strRef>
          </c:cat>
          <c:val>
            <c:numRef>
              <c:f>Sheet1!$H$2:$H$5</c:f>
              <c:numCache>
                <c:formatCode>#,##0</c:formatCode>
                <c:ptCount val="4"/>
                <c:pt idx="0">
                  <c:v>1.25</c:v>
                </c:pt>
                <c:pt idx="1">
                  <c:v>2.55</c:v>
                </c:pt>
                <c:pt idx="2">
                  <c:v>1.025</c:v>
                </c:pt>
                <c:pt idx="3">
                  <c:v>3.15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最小台数の増減（台）　基準 33台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下限の値のとき</c:v>
                </c:pt>
              </c:strCache>
            </c:strRef>
          </c:tx>
          <c:spPr>
            <a:solidFill>
              <a:srgbClr val="808FB0"/>
            </a:solidFill>
          </c:spPr>
          <c:cat>
            <c:strRef>
              <c:f>Sheet1!$A$2:$A$6</c:f>
              <c:strCache>
                <c:ptCount val="5"/>
                <c:pt idx="0">
                  <c:v>手続き時間（秒）
30秒〜120秒</c:v>
                </c:pt>
                <c:pt idx="1">
                  <c:v>自転車の比率
50%〜70%</c:v>
                </c:pt>
                <c:pt idx="2">
                  <c:v>歩行速度（km/h）
4.0〜5.5</c:v>
                </c:pt>
                <c:pt idx="3">
                  <c:v>駅ポート容量
18台〜40台</c:v>
                </c:pt>
                <c:pt idx="4">
                  <c:v>需要（転換率）
12%〜24%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0.0</c:v>
                </c:pt>
                <c:pt idx="1">
                  <c:v>-1.0</c:v>
                </c:pt>
                <c:pt idx="2">
                  <c:v>0.0</c:v>
                </c:pt>
                <c:pt idx="3">
                  <c:v>43.0</c:v>
                </c:pt>
                <c:pt idx="4">
                  <c:v>-9.0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上限の値のとき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Sheet1!$A$2:$A$6</c:f>
              <c:strCache>
                <c:ptCount val="5"/>
                <c:pt idx="0">
                  <c:v>手続き時間（秒）
30秒〜120秒</c:v>
                </c:pt>
                <c:pt idx="1">
                  <c:v>自転車の比率
50%〜70%</c:v>
                </c:pt>
                <c:pt idx="2">
                  <c:v>歩行速度（km/h）
4.0〜5.5</c:v>
                </c:pt>
                <c:pt idx="3">
                  <c:v>駅ポート容量
18台〜40台</c:v>
                </c:pt>
                <c:pt idx="4">
                  <c:v>需要（転換率）
12%〜24%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-1.0</c:v>
                </c:pt>
                <c:pt idx="3">
                  <c:v>-1.0</c:v>
                </c:pt>
                <c:pt idx="4">
                  <c:v>45.0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F81"/>
                </a:solidFill>
                <a:latin typeface="たづがね角ゴシック Info Bold"/>
              </a:rPr>
              <a:t>年間総費用の増減（万円）　基準 362万円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下限の値のとき</c:v>
                </c:pt>
              </c:strCache>
            </c:strRef>
          </c:tx>
          <c:spPr>
            <a:solidFill>
              <a:srgbClr val="808FB0"/>
            </a:solidFill>
          </c:spPr>
          <c:cat>
            <c:strRef>
              <c:f>Sheet1!$A$2:$A$9</c:f>
              <c:strCache>
                <c:ptCount val="8"/>
                <c:pt idx="0">
                  <c:v>手続き時間（秒）
30秒〜120秒</c:v>
                </c:pt>
                <c:pt idx="1">
                  <c:v>歩行速度（km/h）
4.0〜5.5</c:v>
                </c:pt>
                <c:pt idx="2">
                  <c:v>自転車の比率
50%〜70%</c:v>
                </c:pt>
                <c:pt idx="3">
                  <c:v>軽トラック費
×0.5〜×2</c:v>
                </c:pt>
                <c:pt idx="4">
                  <c:v>ポート初期費用
×0.5〜×2</c:v>
                </c:pt>
                <c:pt idx="5">
                  <c:v>車両単価
×0.7〜×1.3</c:v>
                </c:pt>
                <c:pt idx="6">
                  <c:v>駅ポート容量
18台〜40台</c:v>
                </c:pt>
                <c:pt idx="7">
                  <c:v>需要（転換率）
12%〜24%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0.0</c:v>
                </c:pt>
                <c:pt idx="1">
                  <c:v>-0.7775000000000001</c:v>
                </c:pt>
                <c:pt idx="2">
                  <c:v>-8.17625</c:v>
                </c:pt>
                <c:pt idx="3">
                  <c:v>-9.0875</c:v>
                </c:pt>
                <c:pt idx="4">
                  <c:v>-10.0</c:v>
                </c:pt>
                <c:pt idx="5">
                  <c:v>-49.5</c:v>
                </c:pt>
                <c:pt idx="6">
                  <c:v>331.73875000000004</c:v>
                </c:pt>
                <c:pt idx="7">
                  <c:v>-73.1675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上限の値のとき</c:v>
                </c:pt>
              </c:strCache>
            </c:strRef>
          </c:tx>
          <c:spPr>
            <a:solidFill>
              <a:srgbClr val="1A2F81"/>
            </a:solidFill>
          </c:spPr>
          <c:cat>
            <c:strRef>
              <c:f>Sheet1!$A$2:$A$9</c:f>
              <c:strCache>
                <c:ptCount val="8"/>
                <c:pt idx="0">
                  <c:v>手続き時間（秒）
30秒〜120秒</c:v>
                </c:pt>
                <c:pt idx="1">
                  <c:v>歩行速度（km/h）
4.0〜5.5</c:v>
                </c:pt>
                <c:pt idx="2">
                  <c:v>自転車の比率
50%〜70%</c:v>
                </c:pt>
                <c:pt idx="3">
                  <c:v>軽トラック費
×0.5〜×2</c:v>
                </c:pt>
                <c:pt idx="4">
                  <c:v>ポート初期費用
×0.5〜×2</c:v>
                </c:pt>
                <c:pt idx="5">
                  <c:v>車両単価
×0.7〜×1.3</c:v>
                </c:pt>
                <c:pt idx="6">
                  <c:v>駅ポート容量
18台〜40台</c:v>
                </c:pt>
                <c:pt idx="7">
                  <c:v>需要（転換率）
12%〜24%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0.0</c:v>
                </c:pt>
                <c:pt idx="1">
                  <c:v>-4.00125</c:v>
                </c:pt>
                <c:pt idx="2">
                  <c:v>-0.9525</c:v>
                </c:pt>
                <c:pt idx="3">
                  <c:v>18.175</c:v>
                </c:pt>
                <c:pt idx="4">
                  <c:v>20.0</c:v>
                </c:pt>
                <c:pt idx="5">
                  <c:v>49.5</c:v>
                </c:pt>
                <c:pt idx="6">
                  <c:v>6.6875</c:v>
                </c:pt>
                <c:pt idx="7">
                  <c:v>351.825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ABB5C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6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66A9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010817"/>
          </a:solidFill>
          <a:latin typeface="たづがね角ゴシック Inf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chart" Target="../charts/char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>
            <a:off x="1047750" y="8789779"/>
            <a:ext cx="16192500" cy="0"/>
          </a:xfrm>
          <a:prstGeom prst="line">
            <a:avLst/>
          </a:prstGeom>
          <a:ln cap="rnd" w="19050">
            <a:solidFill>
              <a:srgbClr val="01081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47750" y="5701081"/>
            <a:ext cx="6194522" cy="651527"/>
            <a:chOff x="0" y="0"/>
            <a:chExt cx="1631479" cy="1715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1479" cy="171596"/>
            </a:xfrm>
            <a:custGeom>
              <a:avLst/>
              <a:gdLst/>
              <a:ahLst/>
              <a:cxnLst/>
              <a:rect r="r" b="b" t="t" l="l"/>
              <a:pathLst>
                <a:path h="171596" w="1631479">
                  <a:moveTo>
                    <a:pt x="0" y="0"/>
                  </a:moveTo>
                  <a:lnTo>
                    <a:pt x="1631479" y="0"/>
                  </a:lnTo>
                  <a:lnTo>
                    <a:pt x="1631479" y="171596"/>
                  </a:lnTo>
                  <a:lnTo>
                    <a:pt x="0" y="171596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1631479" cy="285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47750"/>
            <a:ext cx="770312" cy="521011"/>
          </a:xfrm>
          <a:custGeom>
            <a:avLst/>
            <a:gdLst/>
            <a:ahLst/>
            <a:cxnLst/>
            <a:rect r="r" b="b" t="t" l="l"/>
            <a:pathLst>
              <a:path h="521011" w="770312">
                <a:moveTo>
                  <a:pt x="0" y="0"/>
                </a:moveTo>
                <a:lnTo>
                  <a:pt x="770312" y="0"/>
                </a:lnTo>
                <a:lnTo>
                  <a:pt x="770312" y="521011"/>
                </a:lnTo>
                <a:lnTo>
                  <a:pt x="0" y="521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63860" y="1112112"/>
            <a:ext cx="189410" cy="189410"/>
            <a:chOff x="0" y="0"/>
            <a:chExt cx="81040" cy="81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040" cy="81040"/>
            </a:xfrm>
            <a:custGeom>
              <a:avLst/>
              <a:gdLst/>
              <a:ahLst/>
              <a:cxnLst/>
              <a:rect r="r" b="b" t="t" l="l"/>
              <a:pathLst>
                <a:path h="81040" w="81040">
                  <a:moveTo>
                    <a:pt x="0" y="0"/>
                  </a:moveTo>
                  <a:lnTo>
                    <a:pt x="81040" y="0"/>
                  </a:lnTo>
                  <a:lnTo>
                    <a:pt x="81040" y="81040"/>
                  </a:lnTo>
                  <a:lnTo>
                    <a:pt x="0" y="81040"/>
                  </a:lnTo>
                  <a:close/>
                </a:path>
              </a:pathLst>
            </a:custGeom>
            <a:solidFill>
              <a:srgbClr val="ABB5C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1040" cy="157240"/>
            </a:xfrm>
            <a:prstGeom prst="rect">
              <a:avLst/>
            </a:prstGeom>
          </p:spPr>
          <p:txBody>
            <a:bodyPr anchor="ctr" rtlCol="false" tIns="77068" lIns="77068" bIns="77068" rIns="77068"/>
            <a:lstStyle/>
            <a:p>
              <a:pPr algn="ctr" marL="0" indent="0" lvl="0">
                <a:lnSpc>
                  <a:spcPts val="1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393263" y="1112112"/>
            <a:ext cx="189410" cy="189410"/>
            <a:chOff x="0" y="0"/>
            <a:chExt cx="81040" cy="8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040" cy="81040"/>
            </a:xfrm>
            <a:custGeom>
              <a:avLst/>
              <a:gdLst/>
              <a:ahLst/>
              <a:cxnLst/>
              <a:rect r="r" b="b" t="t" l="l"/>
              <a:pathLst>
                <a:path h="81040" w="81040">
                  <a:moveTo>
                    <a:pt x="0" y="0"/>
                  </a:moveTo>
                  <a:lnTo>
                    <a:pt x="81040" y="0"/>
                  </a:lnTo>
                  <a:lnTo>
                    <a:pt x="81040" y="81040"/>
                  </a:lnTo>
                  <a:lnTo>
                    <a:pt x="0" y="81040"/>
                  </a:lnTo>
                  <a:close/>
                </a:path>
              </a:pathLst>
            </a:custGeom>
            <a:solidFill>
              <a:srgbClr val="808F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81040" cy="157240"/>
            </a:xfrm>
            <a:prstGeom prst="rect">
              <a:avLst/>
            </a:prstGeom>
          </p:spPr>
          <p:txBody>
            <a:bodyPr anchor="ctr" rtlCol="false" tIns="77068" lIns="77068" bIns="77068" rIns="77068"/>
            <a:lstStyle/>
            <a:p>
              <a:pPr algn="ctr" marL="0" indent="0" lvl="0">
                <a:lnSpc>
                  <a:spcPts val="1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22667" y="1112112"/>
            <a:ext cx="189410" cy="189410"/>
            <a:chOff x="0" y="0"/>
            <a:chExt cx="81040" cy="81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040" cy="81040"/>
            </a:xfrm>
            <a:custGeom>
              <a:avLst/>
              <a:gdLst/>
              <a:ahLst/>
              <a:cxnLst/>
              <a:rect r="r" b="b" t="t" l="l"/>
              <a:pathLst>
                <a:path h="81040" w="81040">
                  <a:moveTo>
                    <a:pt x="0" y="0"/>
                  </a:moveTo>
                  <a:lnTo>
                    <a:pt x="81040" y="0"/>
                  </a:lnTo>
                  <a:lnTo>
                    <a:pt x="81040" y="81040"/>
                  </a:lnTo>
                  <a:lnTo>
                    <a:pt x="0" y="81040"/>
                  </a:lnTo>
                  <a:close/>
                </a:path>
              </a:pathLst>
            </a:custGeom>
            <a:solidFill>
              <a:srgbClr val="566A95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81040" cy="157240"/>
            </a:xfrm>
            <a:prstGeom prst="rect">
              <a:avLst/>
            </a:prstGeom>
          </p:spPr>
          <p:txBody>
            <a:bodyPr anchor="ctr" rtlCol="false" tIns="77068" lIns="77068" bIns="77068" rIns="77068"/>
            <a:lstStyle/>
            <a:p>
              <a:pPr algn="ctr" marL="0" indent="0" lvl="0">
                <a:lnSpc>
                  <a:spcPts val="1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52071" y="1112112"/>
            <a:ext cx="189410" cy="189410"/>
            <a:chOff x="0" y="0"/>
            <a:chExt cx="81040" cy="81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040" cy="81040"/>
            </a:xfrm>
            <a:custGeom>
              <a:avLst/>
              <a:gdLst/>
              <a:ahLst/>
              <a:cxnLst/>
              <a:rect r="r" b="b" t="t" l="l"/>
              <a:pathLst>
                <a:path h="81040" w="81040">
                  <a:moveTo>
                    <a:pt x="0" y="0"/>
                  </a:moveTo>
                  <a:lnTo>
                    <a:pt x="81040" y="0"/>
                  </a:lnTo>
                  <a:lnTo>
                    <a:pt x="81040" y="81040"/>
                  </a:lnTo>
                  <a:lnTo>
                    <a:pt x="0" y="81040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81040" cy="157240"/>
            </a:xfrm>
            <a:prstGeom prst="rect">
              <a:avLst/>
            </a:prstGeom>
          </p:spPr>
          <p:txBody>
            <a:bodyPr anchor="ctr" rtlCol="false" tIns="77068" lIns="77068" bIns="77068" rIns="77068"/>
            <a:lstStyle/>
            <a:p>
              <a:pPr algn="ctr" marL="0" indent="0" lvl="0">
                <a:lnSpc>
                  <a:spcPts val="1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045004" y="4212349"/>
            <a:ext cx="4195246" cy="4411827"/>
          </a:xfrm>
          <a:custGeom>
            <a:avLst/>
            <a:gdLst/>
            <a:ahLst/>
            <a:cxnLst/>
            <a:rect r="r" b="b" t="t" l="l"/>
            <a:pathLst>
              <a:path h="4411827" w="4195246">
                <a:moveTo>
                  <a:pt x="0" y="0"/>
                </a:moveTo>
                <a:lnTo>
                  <a:pt x="4195246" y="0"/>
                </a:lnTo>
                <a:lnTo>
                  <a:pt x="4195246" y="4411827"/>
                </a:lnTo>
                <a:lnTo>
                  <a:pt x="0" y="4411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990456" y="1091085"/>
            <a:ext cx="667729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南栗橋BLP街区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3159336"/>
            <a:ext cx="9265586" cy="235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84"/>
              </a:lnSpc>
              <a:spcBef>
                <a:spcPct val="0"/>
              </a:spcBef>
            </a:pPr>
            <a:r>
              <a:rPr lang="en-US" b="true" sz="9703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検討報告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" y="2476832"/>
            <a:ext cx="9265586" cy="140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50"/>
              </a:lnSpc>
              <a:spcBef>
                <a:spcPct val="0"/>
              </a:spcBef>
            </a:pPr>
            <a:r>
              <a:rPr lang="en-US" b="true" sz="5822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モビリティシェア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0859" y="5549325"/>
            <a:ext cx="6106403" cy="69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7F8F9"/>
                </a:solidFill>
                <a:latin typeface="たづがね角ゴシック Info Semi-Bold"/>
                <a:ea typeface="たづがね角ゴシック Info Semi-Bold"/>
                <a:cs typeface="たづがね角ゴシック Info Semi-Bold"/>
                <a:sym typeface="たづがね角ゴシック Info Semi-Bold"/>
              </a:rPr>
              <a:t>配置・運用・費用の検討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65903" y="8834755"/>
            <a:ext cx="3474720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作成日：2026年10月22日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8834755"/>
            <a:ext cx="2246964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作成：検討チーム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7750" y="6529792"/>
            <a:ext cx="7620000" cy="81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全96条件×10回のシミュレーション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6680200" y="3048055"/>
            <a:ext cx="4908550" cy="6191195"/>
            <a:chOff x="0" y="0"/>
            <a:chExt cx="1292787" cy="16306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2787" cy="1630603"/>
            </a:xfrm>
            <a:custGeom>
              <a:avLst/>
              <a:gdLst/>
              <a:ahLst/>
              <a:cxnLst/>
              <a:rect r="r" b="b" t="t" l="l"/>
              <a:pathLst>
                <a:path h="1630603" w="1292787">
                  <a:moveTo>
                    <a:pt x="0" y="0"/>
                  </a:moveTo>
                  <a:lnTo>
                    <a:pt x="1292787" y="0"/>
                  </a:lnTo>
                  <a:lnTo>
                    <a:pt x="1292787" y="1630603"/>
                  </a:lnTo>
                  <a:lnTo>
                    <a:pt x="0" y="1630603"/>
                  </a:lnTo>
                  <a:close/>
                </a:path>
              </a:pathLst>
            </a:custGeom>
            <a:ln w="19050" cap="sq">
              <a:solidFill>
                <a:srgbClr val="086B8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00025"/>
              <a:ext cx="1292787" cy="1830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31700" y="3048055"/>
            <a:ext cx="4908550" cy="6191195"/>
            <a:chOff x="0" y="0"/>
            <a:chExt cx="1292787" cy="16306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2787" cy="1630603"/>
            </a:xfrm>
            <a:custGeom>
              <a:avLst/>
              <a:gdLst/>
              <a:ahLst/>
              <a:cxnLst/>
              <a:rect r="r" b="b" t="t" l="l"/>
              <a:pathLst>
                <a:path h="1630603" w="1292787">
                  <a:moveTo>
                    <a:pt x="0" y="0"/>
                  </a:moveTo>
                  <a:lnTo>
                    <a:pt x="1292787" y="0"/>
                  </a:lnTo>
                  <a:lnTo>
                    <a:pt x="1292787" y="1630603"/>
                  </a:lnTo>
                  <a:lnTo>
                    <a:pt x="0" y="1630603"/>
                  </a:lnTo>
                  <a:close/>
                </a:path>
              </a:pathLst>
            </a:custGeom>
            <a:ln w="19050" cap="sq">
              <a:solidFill>
                <a:srgbClr val="5D549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00025"/>
              <a:ext cx="1292787" cy="1830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712859" y="3390928"/>
            <a:ext cx="41462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5D549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OPERATION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2859" y="4760638"/>
            <a:ext cx="4146232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5D549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駅ポート・運用・費用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2859" y="6251603"/>
            <a:ext cx="4146232" cy="26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低位：駅18台・年間284万円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高位：駅32台・年間421万円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日中の再配置（b・c）は一部の条件でのみ有利。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712859" y="5622417"/>
            <a:ext cx="4146232" cy="535121"/>
            <a:chOff x="0" y="0"/>
            <a:chExt cx="1092012" cy="1409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2012" cy="140937"/>
            </a:xfrm>
            <a:custGeom>
              <a:avLst/>
              <a:gdLst/>
              <a:ahLst/>
              <a:cxnLst/>
              <a:rect r="r" b="b" t="t" l="l"/>
              <a:pathLst>
                <a:path h="140937" w="1092012">
                  <a:moveTo>
                    <a:pt x="70469" y="0"/>
                  </a:moveTo>
                  <a:lnTo>
                    <a:pt x="1021543" y="0"/>
                  </a:lnTo>
                  <a:cubicBezTo>
                    <a:pt x="1040233" y="0"/>
                    <a:pt x="1058157" y="7424"/>
                    <a:pt x="1071372" y="20640"/>
                  </a:cubicBezTo>
                  <a:cubicBezTo>
                    <a:pt x="1084587" y="33855"/>
                    <a:pt x="1092012" y="51779"/>
                    <a:pt x="1092012" y="70469"/>
                  </a:cubicBezTo>
                  <a:lnTo>
                    <a:pt x="1092012" y="70469"/>
                  </a:lnTo>
                  <a:cubicBezTo>
                    <a:pt x="1092012" y="89158"/>
                    <a:pt x="1084587" y="107082"/>
                    <a:pt x="1071372" y="120297"/>
                  </a:cubicBezTo>
                  <a:cubicBezTo>
                    <a:pt x="1058157" y="133513"/>
                    <a:pt x="1040233" y="140937"/>
                    <a:pt x="1021543" y="140937"/>
                  </a:cubicBezTo>
                  <a:lnTo>
                    <a:pt x="70469" y="140937"/>
                  </a:lnTo>
                  <a:cubicBezTo>
                    <a:pt x="51779" y="140937"/>
                    <a:pt x="33855" y="133513"/>
                    <a:pt x="20640" y="120297"/>
                  </a:cubicBezTo>
                  <a:cubicBezTo>
                    <a:pt x="7424" y="107082"/>
                    <a:pt x="0" y="89158"/>
                    <a:pt x="0" y="70469"/>
                  </a:cubicBezTo>
                  <a:lnTo>
                    <a:pt x="0" y="70469"/>
                  </a:lnTo>
                  <a:cubicBezTo>
                    <a:pt x="0" y="51779"/>
                    <a:pt x="7424" y="33855"/>
                    <a:pt x="20640" y="20640"/>
                  </a:cubicBezTo>
                  <a:cubicBezTo>
                    <a:pt x="33855" y="7424"/>
                    <a:pt x="51779" y="0"/>
                    <a:pt x="70469" y="0"/>
                  </a:cubicBezTo>
                  <a:close/>
                </a:path>
              </a:pathLst>
            </a:custGeom>
            <a:solidFill>
              <a:srgbClr val="5D549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00025"/>
              <a:ext cx="1092012" cy="340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712859" y="5593750"/>
            <a:ext cx="414623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7F8F9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運用a（夜1回の再配置）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1441" y="1915295"/>
            <a:ext cx="76044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失敗率5%以下で最安の構成（代替あり）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結論：推奨案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Recommendation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3048055"/>
            <a:ext cx="4908550" cy="6191195"/>
            <a:chOff x="0" y="0"/>
            <a:chExt cx="1292787" cy="16306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92787" cy="1630603"/>
            </a:xfrm>
            <a:custGeom>
              <a:avLst/>
              <a:gdLst/>
              <a:ahLst/>
              <a:cxnLst/>
              <a:rect r="r" b="b" t="t" l="l"/>
              <a:pathLst>
                <a:path h="1630603" w="1292787">
                  <a:moveTo>
                    <a:pt x="0" y="0"/>
                  </a:moveTo>
                  <a:lnTo>
                    <a:pt x="1292787" y="0"/>
                  </a:lnTo>
                  <a:lnTo>
                    <a:pt x="1292787" y="1630603"/>
                  </a:lnTo>
                  <a:lnTo>
                    <a:pt x="0" y="1630603"/>
                  </a:lnTo>
                  <a:close/>
                </a:path>
              </a:pathLst>
            </a:custGeom>
            <a:ln w="19050" cap="sq">
              <a:solidFill>
                <a:srgbClr val="1A2F8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00025"/>
              <a:ext cx="1292787" cy="1830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4404975" y="3965928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8753475" y="3965928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3206577" y="3965928"/>
            <a:ext cx="552796" cy="762000"/>
          </a:xfrm>
          <a:custGeom>
            <a:avLst/>
            <a:gdLst/>
            <a:ahLst/>
            <a:cxnLst/>
            <a:rect r="r" b="b" t="t" l="l"/>
            <a:pathLst>
              <a:path h="762000" w="552796">
                <a:moveTo>
                  <a:pt x="0" y="0"/>
                </a:moveTo>
                <a:lnTo>
                  <a:pt x="552796" y="0"/>
                </a:lnTo>
                <a:lnTo>
                  <a:pt x="552796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409859" y="3390928"/>
            <a:ext cx="41462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PORT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9859" y="4760638"/>
            <a:ext cx="4146232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住宅側ポート3か所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09859" y="6251603"/>
            <a:ext cx="4146232" cy="26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徒歩＋走行＋施設側徒歩の合計が最小になる3地点（P1〜P3）。各ポートの担当戸数は 60・114・56 戸。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駅西口ポート・モビリティステーションは固定。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09859" y="5622417"/>
            <a:ext cx="4146232" cy="535121"/>
            <a:chOff x="0" y="0"/>
            <a:chExt cx="1092012" cy="14093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2012" cy="140937"/>
            </a:xfrm>
            <a:custGeom>
              <a:avLst/>
              <a:gdLst/>
              <a:ahLst/>
              <a:cxnLst/>
              <a:rect r="r" b="b" t="t" l="l"/>
              <a:pathLst>
                <a:path h="140937" w="1092012">
                  <a:moveTo>
                    <a:pt x="70469" y="0"/>
                  </a:moveTo>
                  <a:lnTo>
                    <a:pt x="1021543" y="0"/>
                  </a:lnTo>
                  <a:cubicBezTo>
                    <a:pt x="1040233" y="0"/>
                    <a:pt x="1058157" y="7424"/>
                    <a:pt x="1071372" y="20640"/>
                  </a:cubicBezTo>
                  <a:cubicBezTo>
                    <a:pt x="1084587" y="33855"/>
                    <a:pt x="1092012" y="51779"/>
                    <a:pt x="1092012" y="70469"/>
                  </a:cubicBezTo>
                  <a:lnTo>
                    <a:pt x="1092012" y="70469"/>
                  </a:lnTo>
                  <a:cubicBezTo>
                    <a:pt x="1092012" y="89158"/>
                    <a:pt x="1084587" y="107082"/>
                    <a:pt x="1071372" y="120297"/>
                  </a:cubicBezTo>
                  <a:cubicBezTo>
                    <a:pt x="1058157" y="133513"/>
                    <a:pt x="1040233" y="140937"/>
                    <a:pt x="1021543" y="140937"/>
                  </a:cubicBezTo>
                  <a:lnTo>
                    <a:pt x="70469" y="140937"/>
                  </a:lnTo>
                  <a:cubicBezTo>
                    <a:pt x="51779" y="140937"/>
                    <a:pt x="33855" y="133513"/>
                    <a:pt x="20640" y="120297"/>
                  </a:cubicBezTo>
                  <a:cubicBezTo>
                    <a:pt x="7424" y="107082"/>
                    <a:pt x="0" y="89158"/>
                    <a:pt x="0" y="70469"/>
                  </a:cubicBezTo>
                  <a:lnTo>
                    <a:pt x="0" y="70469"/>
                  </a:lnTo>
                  <a:cubicBezTo>
                    <a:pt x="0" y="51779"/>
                    <a:pt x="7424" y="33855"/>
                    <a:pt x="20640" y="20640"/>
                  </a:cubicBezTo>
                  <a:cubicBezTo>
                    <a:pt x="33855" y="7424"/>
                    <a:pt x="51779" y="0"/>
                    <a:pt x="70469" y="0"/>
                  </a:cubicBezTo>
                  <a:close/>
                </a:path>
              </a:pathLst>
            </a:custGeom>
            <a:solidFill>
              <a:srgbClr val="1A2F81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00025"/>
              <a:ext cx="1092012" cy="340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409859" y="5593750"/>
            <a:ext cx="414623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7F8F9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p-median／車種比率で加重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61359" y="3390928"/>
            <a:ext cx="41462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86B8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FLEET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61359" y="4760638"/>
            <a:ext cx="4146232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86B89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混在フリートの台数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61359" y="6251603"/>
            <a:ext cx="4146232" cy="26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低位：自転車15＋キックボード10＝25台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高位：自転車24＋キックボード16＝40台</a:t>
            </a:r>
          </a:p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（10回の中央値。駅ポートの朝の初期配置を含む）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061359" y="5622417"/>
            <a:ext cx="4146232" cy="535121"/>
            <a:chOff x="0" y="0"/>
            <a:chExt cx="1092012" cy="1409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2012" cy="140937"/>
            </a:xfrm>
            <a:custGeom>
              <a:avLst/>
              <a:gdLst/>
              <a:ahLst/>
              <a:cxnLst/>
              <a:rect r="r" b="b" t="t" l="l"/>
              <a:pathLst>
                <a:path h="140937" w="1092012">
                  <a:moveTo>
                    <a:pt x="70469" y="0"/>
                  </a:moveTo>
                  <a:lnTo>
                    <a:pt x="1021543" y="0"/>
                  </a:lnTo>
                  <a:cubicBezTo>
                    <a:pt x="1040233" y="0"/>
                    <a:pt x="1058157" y="7424"/>
                    <a:pt x="1071372" y="20640"/>
                  </a:cubicBezTo>
                  <a:cubicBezTo>
                    <a:pt x="1084587" y="33855"/>
                    <a:pt x="1092012" y="51779"/>
                    <a:pt x="1092012" y="70469"/>
                  </a:cubicBezTo>
                  <a:lnTo>
                    <a:pt x="1092012" y="70469"/>
                  </a:lnTo>
                  <a:cubicBezTo>
                    <a:pt x="1092012" y="89158"/>
                    <a:pt x="1084587" y="107082"/>
                    <a:pt x="1071372" y="120297"/>
                  </a:cubicBezTo>
                  <a:cubicBezTo>
                    <a:pt x="1058157" y="133513"/>
                    <a:pt x="1040233" y="140937"/>
                    <a:pt x="1021543" y="140937"/>
                  </a:cubicBezTo>
                  <a:lnTo>
                    <a:pt x="70469" y="140937"/>
                  </a:lnTo>
                  <a:cubicBezTo>
                    <a:pt x="51779" y="140937"/>
                    <a:pt x="33855" y="133513"/>
                    <a:pt x="20640" y="120297"/>
                  </a:cubicBezTo>
                  <a:cubicBezTo>
                    <a:pt x="7424" y="107082"/>
                    <a:pt x="0" y="89158"/>
                    <a:pt x="0" y="70469"/>
                  </a:cubicBezTo>
                  <a:lnTo>
                    <a:pt x="0" y="70469"/>
                  </a:lnTo>
                  <a:cubicBezTo>
                    <a:pt x="0" y="51779"/>
                    <a:pt x="7424" y="33855"/>
                    <a:pt x="20640" y="20640"/>
                  </a:cubicBezTo>
                  <a:cubicBezTo>
                    <a:pt x="33855" y="7424"/>
                    <a:pt x="51779" y="0"/>
                    <a:pt x="70469" y="0"/>
                  </a:cubicBezTo>
                  <a:close/>
                </a:path>
              </a:pathLst>
            </a:custGeom>
            <a:solidFill>
              <a:srgbClr val="086B89"/>
            </a:solidFill>
            <a:ln cap="rnd">
              <a:noFill/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200025"/>
              <a:ext cx="1092012" cy="340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061359" y="5593750"/>
            <a:ext cx="414623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7F8F9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自転車60.3%：キックボード39.7%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80200" y="3048055"/>
            <a:ext cx="4908550" cy="95222"/>
            <a:chOff x="0" y="0"/>
            <a:chExt cx="1292787" cy="2507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92787" cy="25079"/>
            </a:xfrm>
            <a:custGeom>
              <a:avLst/>
              <a:gdLst/>
              <a:ahLst/>
              <a:cxnLst/>
              <a:rect r="r" b="b" t="t" l="l"/>
              <a:pathLst>
                <a:path h="25079" w="1292787">
                  <a:moveTo>
                    <a:pt x="0" y="0"/>
                  </a:moveTo>
                  <a:lnTo>
                    <a:pt x="1292787" y="0"/>
                  </a:lnTo>
                  <a:lnTo>
                    <a:pt x="1292787" y="25079"/>
                  </a:lnTo>
                  <a:lnTo>
                    <a:pt x="0" y="25079"/>
                  </a:lnTo>
                  <a:close/>
                </a:path>
              </a:pathLst>
            </a:custGeom>
            <a:solidFill>
              <a:srgbClr val="086B89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00025"/>
              <a:ext cx="1292787" cy="225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31700" y="3048055"/>
            <a:ext cx="4908550" cy="95222"/>
            <a:chOff x="0" y="0"/>
            <a:chExt cx="1292787" cy="250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92787" cy="25079"/>
            </a:xfrm>
            <a:custGeom>
              <a:avLst/>
              <a:gdLst/>
              <a:ahLst/>
              <a:cxnLst/>
              <a:rect r="r" b="b" t="t" l="l"/>
              <a:pathLst>
                <a:path h="25079" w="1292787">
                  <a:moveTo>
                    <a:pt x="0" y="0"/>
                  </a:moveTo>
                  <a:lnTo>
                    <a:pt x="1292787" y="0"/>
                  </a:lnTo>
                  <a:lnTo>
                    <a:pt x="1292787" y="25079"/>
                  </a:lnTo>
                  <a:lnTo>
                    <a:pt x="0" y="25079"/>
                  </a:lnTo>
                  <a:close/>
                </a:path>
              </a:pathLst>
            </a:custGeom>
            <a:solidFill>
              <a:srgbClr val="5D5491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200025"/>
              <a:ext cx="1292787" cy="225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8700" y="3048055"/>
            <a:ext cx="4908550" cy="95222"/>
            <a:chOff x="0" y="0"/>
            <a:chExt cx="1292787" cy="2507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92787" cy="25079"/>
            </a:xfrm>
            <a:custGeom>
              <a:avLst/>
              <a:gdLst/>
              <a:ahLst/>
              <a:cxnLst/>
              <a:rect r="r" b="b" t="t" l="l"/>
              <a:pathLst>
                <a:path h="25079" w="1292787">
                  <a:moveTo>
                    <a:pt x="0" y="0"/>
                  </a:moveTo>
                  <a:lnTo>
                    <a:pt x="1292787" y="0"/>
                  </a:lnTo>
                  <a:lnTo>
                    <a:pt x="1292787" y="25079"/>
                  </a:lnTo>
                  <a:lnTo>
                    <a:pt x="0" y="25079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00025"/>
              <a:ext cx="1292787" cy="225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住宅側ポート・台数・駅ポート・運用・費用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推奨案の内容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Recommended Plan</a:t>
            </a:r>
          </a:p>
        </p:txBody>
      </p:sp>
      <p:pic>
        <p:nvPicPr>
          <p:cNvPr id="23" name="Picture 22" descr="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2697480"/>
            <a:ext cx="8070317" cy="69494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51560" y="2788920"/>
            <a:ext cx="9418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BB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01752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低位需要（転換率12%・暫定）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657600"/>
            <a:ext cx="8869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住宅側ポート3か所・電動アシスト自転車15台＋電動キックボード10台・駅ポート18台分（最大在庫18台、朝の初期配置5台）・運用はa：夜1回、年間費用は284万円（1トリップ475円・1台11.8万円/年）。1か月の充足率は95.6%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6126479"/>
            <a:ext cx="9418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BB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6355079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高位需要（転換率24%・暫定）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6995159"/>
            <a:ext cx="8869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住宅側ポート3か所・電動アシスト自転車24台＋電動キックボード16台・駅ポート32台分（最大在庫32台、朝の初期配置5台）・運用はa：夜1回、年間費用は421万円（1トリップ358円・1台10.6万円/年）。1か月の充足率は95.8%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9692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■ P1〜P3：住宅側ポート（点の色＝利用するポート）　◆ 駅西口ポート・モビリティステーション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171戸→230戸（既存街区171戸・新規街区59戸）・あり(ii)・運用a・駅25台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新規街区の追加による変化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Effect of the New District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7498079" cy="6583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869680" y="2834640"/>
          <a:ext cx="836676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2011680"/>
                <a:gridCol w="278892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充足率80%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失敗率5%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年間費用（5%）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12台→15台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20台→24台（+17%）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248万円→288万円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20台→26台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32台→78台（+138%）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351万円→713万円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旧10%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10台→13台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18台→22台（+22%）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230万円→270万円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旧30%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24台→33台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51台→未達（—）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502万円→—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869680" y="5852160"/>
            <a:ext cx="8366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戸数は+35%。需要は戸数に比例して増えるが、台数の増え方は需要シナリオと駅ポートの空きで変わる。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新規街区はモビリティステーションから離れているため、住宅側ポートの位置も見直される（推奨案のページの地図）。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新規街区の道路は計画図（区画道路・歩行者専用通路）をデジタイズして地図に統合。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全96条件 × 各10回（乱数を変えて）を計算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検討の概要と条件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Overview &amp; Conditions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834640"/>
          <a:ext cx="16184880" cy="45354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132588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需要シナリオ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低位・高位（暫定）／旧シナリオ転換率10%・30%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代替乗車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(i) 希望車種が無ければ徒歩／(ii) 他の車種があれば乗り、無ければ徒歩（基本は(ii)）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リバランス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 夜1回／b a＋9:30 駅の余剰を戻す／c b＋15:30 住宅側と駅をそろえる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駅ポート容量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18台（区画①のみ）・25台（基本）・32台（区画②も2列）・40台（拡大案（仮））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目標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貸出失敗率 20%（充足率80%）・5%・1% それぞれの最小台数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1回の計算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①平日・晴れの1日×40回で最小台数を探索 → ②その台数で1か月（平日・休日・気象）→ ③年間費用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前提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住宅230戸（既存街区171戸・新規街区59戸）・駅は片道・イオンは往復・キックボードは電池交換で4時間停止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51560" y="7589520"/>
            <a:ext cx="1618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ばらつき＝同じ条件で乱数（利用希望の発生・気象の並び）だけを変えた10回の差。条件の差と区別して示す。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需要（転換率）と気象倍率は暫定値。東京都資料の数値に差し替えて再計算する（scripts/run_study.py）。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代替乗車あり(ii)・運用a・駅ポート25台（10回の中央値、括弧は最小–最大）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目標ごとの最小台数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Minimum Fleet by Target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834640"/>
          <a:ext cx="8778240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2377440"/>
                <a:gridCol w="237744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充足率80%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失敗率5%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失敗率1%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9＋6＝15（13–15）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14＋10＝24（22–26）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19＋14＝34（29–39）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16＋10＝26（24–27）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28＋42＝78（54–84）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未達（1/10回）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旧10%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8＋5＝13（12–14）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13＋9＝22（21–24）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18＋12＝30（28–34）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旧30%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20＋13＝33（32–36）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未達（0/10回）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未達（0/10回）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51560" y="5852160"/>
            <a:ext cx="8778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表記：自転車＋キックボード＝合計（中央値）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失敗率1%は5%の約1.3〜1.4倍の台数が要る。高位・旧30%では1%を半数以上の回で達成できない（探索範囲内）。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代替乗車なし(i)と比べ、失敗率5%の台数は24%〜27%少ない（混在フリートのページ）。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需要が多いほど駅ポート25台が満車になりやすく、台数が急増する（駅ポート容量のページ）。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10241280" y="2743200"/>
          <a:ext cx="7040880" cy="6583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同じ条件で10回計算したときの幅（箱＝25〜75%、薄色＝最小・最大）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結果のばらつき①：最小台数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Variability: Fleet Size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8001000" cy="5760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9235440" y="2743200"/>
          <a:ext cx="8001000" cy="5760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51560" y="8686800"/>
            <a:ext cx="1618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運用a・駅ポート25台。(i) 代替乗車なし／(ii) あり。幅は需要の偶然の揺れによるもので、計画台数は上側（75%点〜最大）を見て決めると安全。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失敗率5%の台数で1か月（平日・休日・気象）を回した結果（全条件・全回）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結果のばらつき②：1か月の運用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Variability: One-Month Simulation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3931920" cy="5852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120640" y="2743200"/>
          <a:ext cx="3931920" cy="5852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9189720" y="2743200"/>
          <a:ext cx="3931920" cy="58521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13258800" y="2743200"/>
          <a:ext cx="3931920" cy="585216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51560" y="8778240"/>
            <a:ext cx="1618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箱ひげは「代替乗車・運用a/b/c・駅ポート容量」の全組み合わせ×10回を需要ごとにまとめたもの。条件ごとの数値は付録の一覧表。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希望車種が無いときに他の車種で代替できるか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混在フリートと代替乗車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Mixed Fleet &amp; Substitution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8686800" cy="6583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10149840" y="2743200"/>
            <a:ext cx="7086600" cy="301752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12700">
            <a:solidFill>
              <a:srgbClr val="F7F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92608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代替乗車率（(ii)・1か月）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566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086B89"/>
                </a:solidFill>
                <a:latin typeface="たづがね角ゴシック Info Bold"/>
                <a:ea typeface="たづがね角ゴシック Info Bold"/>
              </a:rPr>
              <a:t>6.1%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475488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範囲 1.8%〜56.9%（全条件・全回）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126480"/>
            <a:ext cx="7086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車種の比率は調査Q16（自転車60.3%・キックボード39.7%）。利用者ごとに希望車種を割り当て、往復は同じ車種を希望。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代替を認めると、失敗率5%の台数を24%〜27%減らせる（需要が多いほど効果大）。代替乗車率は数%程度。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代替乗車を基本とする（他の車種があれば乗り、無ければ徒歩）。アプリ・利用規約で他車種への乗り換えを案内する仕組みが要る。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満車で返却できない「返却失敗」と必要台数への影響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駅ポートの容量（18・25・32・40台）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Station Port Capacity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7955279" cy="5669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326880" y="2834640"/>
          <a:ext cx="790956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634490"/>
                <a:gridCol w="1634490"/>
                <a:gridCol w="1634490"/>
                <a:gridCol w="163449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容量18台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容量25台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容量32台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容量40台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2.0%／18台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0.0%／22台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0.0%／22台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0.0%／22台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24.5%／25台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0.8%／32台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0.0%／36台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旧10%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0.3%／18台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0.0%／20台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0.0%／20台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0.0%／20台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旧30%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11.9%／32台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0.6%／40台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9326880" y="5760720"/>
            <a:ext cx="79095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表：返却失敗率／駅ポートの最大在庫（1か月、中央値）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満車で返せない車両は区画外に置かれ、夜の回収まで使えない。そのため夕方の帰宅で不足し、台数が増える。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低位：18台→24台/284万円・25台→24台/288万円・32台→24台/294万円・40台→24台/299万円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高位：18台→未達・25台→78台/713万円・32台→40台/421万円・40台→40台/428万円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低位なら18台で足りる。高位では32台（区画②も2列）が最も安い。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指定の基準（期待需要＋1台）では、日中のリバランスで台数は減らない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リバランス運用 a・b・c の比較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Rebalancing Patterns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834640"/>
          <a:ext cx="10058400" cy="3520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1828800"/>
                <a:gridCol w="2103120"/>
                <a:gridCol w="1188720"/>
                <a:gridCol w="1188720"/>
                <a:gridCol w="11887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最小台数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作業回/日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移動台/日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作業分/日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年間費用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a：夜1回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24（22–26）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4.4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288万円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b：a＋9:30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27（25–29）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1.9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7.9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87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362万円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c：b＋15:30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25（23–28）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340万円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a：夜1回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78（54–84）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13.9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88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713万円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b：a＋9:30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78（54–84）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22.9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800万円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c：b＋15:30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78（54–84）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22.9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151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800万円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430000" y="2743200"/>
            <a:ext cx="58064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なぜ減らないか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駅は片道利用で、朝に駅へ集まった車両がそのまま夕方の帰宅に使われる。9:30に「夕方の期待需要＋1台」を超える分を住宅側へ戻すと、夕方の偶然の増加に足りず失敗が増える。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15:30のcは、bの後では動かす車両がほぼ無く、bと同じ結果。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5806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6A95"/>
                </a:solidFill>
                <a:latin typeface="たづがね角ゴシック Info Bold"/>
                <a:ea typeface="たづがね角ゴシック Info Bold"/>
              </a:rPr>
              <a:t>追加検証：駅に残す台数を95%点にした場合（1回・駅25台）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1430000" y="6949440"/>
          <a:ext cx="580644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2960"/>
                <a:gridCol w="640080"/>
                <a:gridCol w="34290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駅に残す基準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期待値＋1台（指定どおり）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ポアソン95%点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ポアソン95%点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期待値＋1台（指定どおり）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ポアソン95%点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ポアソン95%点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51560" y="8138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86B89"/>
                </a:solidFill>
                <a:latin typeface="たづがね角ゴシック Info"/>
                <a:ea typeface="たづがね角ゴシック Info"/>
              </a:rPr>
              <a:t>駅に残す台数を「95%点」にすると日中のリバランスでも台数が減る場合がある（低位：駅に95%点を残す運用cなら 25→21台）。この基準での全条件の計算は今後の課題。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72084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多くの条件で運用aが有利。ただし 旧30%・あり(ii)・駅32台のc、旧30%・あり(ii)・駅40台のc ではb・cが台数か費用でaを下回る。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軽トラック：キックボード8台・自転車4台/往復、作業30分＋3分/台＋10分/追加往復。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満車時の扱いと利用離れ（失敗率5%・代替乗車あり(ii)・運用a、各3回の中央値）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運用ルールの追加検証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Operating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697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満車で返せない車両の扱い（満車が起きる条件のみ）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51560" y="3154680"/>
          <a:ext cx="10058400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1005840"/>
                <a:gridCol w="2743200"/>
                <a:gridCol w="1188720"/>
                <a:gridCol w="1280160"/>
                <a:gridCol w="118872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駅容量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満車時の扱い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合計台数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返却失敗率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作業回/日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年間総費用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区画外→次の作業で回収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288万円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運営者が回収に出る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2.1%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1.2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296万円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区画外→次の作業で回収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運営者が回収に出る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区画外→次の作業で回収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23.8%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726万円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運営者が回収に出る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23.8%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2.4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805万円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区画外→次の作業で回収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439万円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運営者が回収に出る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1.2%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1.2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446万円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430000" y="2697480"/>
            <a:ext cx="5806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利用離れの強さ α（1年）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1430000" y="3154680"/>
          <a:ext cx="580644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2960"/>
                <a:gridCol w="640080"/>
                <a:gridCol w="1371600"/>
                <a:gridCol w="1280160"/>
                <a:gridCol w="16916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需要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α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利用希望/日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充足率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1回あたり費用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17.5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484円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17.1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97.0%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482円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低位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494円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35.0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96.9%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582円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97.0%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591円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高位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34.0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97.4%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594円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1430000" y="5669280"/>
            <a:ext cx="58064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α＝前日に借りられなかった割合に対する翌日の利用希望の減り方（仮定）。0は利用離れなし。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台数は「平日・晴れの1日」で決めるため変わらない。年間の利用回数と1回あたり費用に効く。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実証の利用記録で、失敗の翌日に利用が減るかを確かめて値を決める。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437375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運営者が回収に出ても台数は減らない。回収した車両は住宅側ポートに戻るため、夕方の駅の不足は解消しない。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日中の作業と費用が増えるだけ（最大で年78万円増）。満車対策は駅ポートの容量で行う。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2026年11月：平日・休日（土日祝）・気象（平年の出現日数から抽選）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1か月シミュレーション（推奨案）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One-Month Simulation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8001000" cy="4846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51560" y="7726679"/>
            <a:ext cx="8001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充足率 97.2%／返却失敗 1.8%／電池交換 0.0回/日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休日11日・雨6日。休日・雨の日は利用希望が少なく、平日晴れが台数を決める。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稼働率 0.65回/台/日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9235440" y="2743200"/>
          <a:ext cx="8001000" cy="4846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235440" y="7726679"/>
            <a:ext cx="8001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充足率 92.5%／返却失敗 0.4%／電池交換 0.1回/日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休日11日・雨6日。休日・雨の日は利用希望が少なく、平日晴れが台数を決める。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稼働率 0.78回/台/日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12か月を連続で計算（月ごとの曜日・祝日・平年の気象）。年間費用はこの1年分から算出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季節による変化（1年）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Seasonal Variation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10058400" cy="6400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521440" y="2743200"/>
            <a:ext cx="5715000" cy="6583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年間の結果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低位：年間6,121回・充足率96.5%。最少9月・最多12月（差44%）。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高位：年間11,894回・充足率96.0%。最少9月・最多12月（差39%）。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利用離れ（α=0.5、仮定）による利用希望の減少：年平均1.1%（低位）。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梅雨・夏（雨・猛暑）と冬（寒冷）は利用が減る。台数は平日・晴れの日で決まるため、季節で台数は変えない前提。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推奨案（失敗率5%・代替乗車あり(ii)・運用a、駅ポートは費用が最小の容量）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年間費用と他事例との比較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Annual Cost &amp; Benchmarks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850392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875520" y="2834640"/>
          <a:ext cx="736092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17520"/>
                <a:gridCol w="219456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指標（低位／高位）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本検討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他事例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1台あたり年間費用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11.8／10.6万円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12.8万円（中野区）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運営費に占める再配置費用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42%／34%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3〜4割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稼働率（回/台/日）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0.67／0.81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1.9〜3.1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1トリップあたり費用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475／358円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9875520" y="5760720"/>
            <a:ext cx="7360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ずれの理由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稼働率が他事例の1/3〜1/5：230戸の閉じた街区で、失敗率5%を守るために朝夕のピークに合わせた台数を持つため。日中は多くが待機。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再配置の割合がやや高い：毎晩の初期配置への戻しを全日で行う前提。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1台あたり費用は他事例とほぼ同じ水準。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7589520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単価15万円/台・3年償却、維持1.5万円/台/年、ポート20万円/か所・5年、用地600円/区画/月、人件費1,500円/時、軽トラック500円/回、平日245日・休日120日。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基準（需要18%・駅25台ほか）からの増減（失敗率5%・運用a）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感度分析①：最小台数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Sensitivity: Fleet Size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10241280" cy="6675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704320" y="2743200"/>
            <a:ext cx="5532120" cy="6583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読み方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棒の長さ＝その項目を下限・上限に動かしたときの最小台数の変化。上ほど影響が大きい。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最も効くのは「需要（転換率）」、次が「駅ポート容量」。駅ポートが満車になると返却失敗で台数が急増する。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需要は暫定値のため、東京都資料での確定が最優先。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手続き時間・歩行速度・自転車比率の影響は小さい。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566A95"/>
                </a:solidFill>
                <a:latin typeface="たづがね角ゴシック Info"/>
                <a:ea typeface="たづがね角ゴシック Info"/>
              </a:rPr>
              <a:t>各点10回計算した中央値。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各点で費用が最小の運用を選んだときの年間総費用の増減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感度分析②：年間費用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Sensitivity: Annual Cost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051560" y="2743200"/>
          <a:ext cx="10241280" cy="6675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704320" y="2743200"/>
            <a:ext cx="5532120" cy="6583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A2F81"/>
                </a:solidFill>
                <a:latin typeface="たづがね角ゴシック Info Bold"/>
                <a:ea typeface="たづがね角ゴシック Info Bold"/>
              </a:rPr>
              <a:t>読み方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費用は需要（＝台数）と車両単価で大きく変わる。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ポート・軽トラックの単価を0.5〜2倍に動かしても、推奨する運用は変わらない（次ページ）。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10817"/>
                </a:solidFill>
                <a:latin typeface="たづがね角ゴシック Info"/>
                <a:ea typeface="たづがね角ゴシック Info"/>
              </a:rPr>
              <a:t>車両単価±30%は、そのまま車両償却（費用の約4〜5割）に効く。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各項目を動かしたとき、推奨案（台数・運用）が変わる値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推奨案が変わる境目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Decision Boundaries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834640"/>
          <a:ext cx="16184880" cy="59253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60320"/>
                <a:gridCol w="10881360"/>
                <a:gridCol w="27432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推奨案（変わる値ごと）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需要（転換率）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12%：運用a・14＋10=24台／15%：運用a・18＋11=28台／18%：運用a・20＋13=33台／21%：運用a・23＋16=38台／24%：運用a・28＋42=78台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自転車の比率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50%：運用a・16＋16=32台／55%：運用a・18＋16=33台／65%：運用a・21＋11=32台／70%：運用a・23＋10=33台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駅ポート容量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18台：運用a・14＋62=76台／25台：運用a・20＋13=33台／32台：運用a・20＋13=32台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手続き時間（秒）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30秒：運用a・20＋13=33台（全範囲で同じ）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歩行速度（km/h）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4.0：運用a・20＋13=33台／5.5：運用a・20＋13=32台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車両単価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×0.7：運用a・20＋13=33台（全範囲で同じ）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ポート初期費用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×0.5：運用a・20＋13=33台（全範囲で同じ）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軽トラック費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×0.5：運用a・20＋13=33台（全範囲で同じ）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運用は全範囲でa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1301441" y="1915295"/>
            <a:ext cx="76044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結果を左右する暫定値を確定させる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前提の確度と課題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Assumptions to Confirm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7750" y="3048055"/>
            <a:ext cx="16192500" cy="1762125"/>
            <a:chOff x="0" y="0"/>
            <a:chExt cx="4264691" cy="4640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4691" cy="464099"/>
            </a:xfrm>
            <a:custGeom>
              <a:avLst/>
              <a:gdLst/>
              <a:ahLst/>
              <a:cxnLst/>
              <a:rect r="r" b="b" t="t" l="l"/>
              <a:pathLst>
                <a:path h="464099" w="4264691">
                  <a:moveTo>
                    <a:pt x="0" y="0"/>
                  </a:moveTo>
                  <a:lnTo>
                    <a:pt x="4264691" y="0"/>
                  </a:lnTo>
                  <a:lnTo>
                    <a:pt x="4264691" y="464099"/>
                  </a:lnTo>
                  <a:lnTo>
                    <a:pt x="0" y="464099"/>
                  </a:lnTo>
                  <a:close/>
                </a:path>
              </a:pathLst>
            </a:custGeom>
            <a:ln w="19050" cap="sq">
              <a:solidFill>
                <a:srgbClr val="1A2F8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00025"/>
              <a:ext cx="4264691" cy="66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772341" y="3530973"/>
            <a:ext cx="455758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需要（転換率）が暫定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75022" y="3411593"/>
            <a:ext cx="9684228" cy="8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低位12%・高位24%は仮置き。台数・費用に最も効く項目。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東京都の協議会資料（環境から取得不可）の値に差し替えて再計算する。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7750" y="5164483"/>
            <a:ext cx="16192500" cy="1860233"/>
            <a:chOff x="0" y="0"/>
            <a:chExt cx="4264691" cy="4899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4691" cy="489938"/>
            </a:xfrm>
            <a:custGeom>
              <a:avLst/>
              <a:gdLst/>
              <a:ahLst/>
              <a:cxnLst/>
              <a:rect r="r" b="b" t="t" l="l"/>
              <a:pathLst>
                <a:path h="489938" w="4264691">
                  <a:moveTo>
                    <a:pt x="0" y="0"/>
                  </a:moveTo>
                  <a:lnTo>
                    <a:pt x="4264691" y="0"/>
                  </a:lnTo>
                  <a:lnTo>
                    <a:pt x="4264691" y="489938"/>
                  </a:lnTo>
                  <a:lnTo>
                    <a:pt x="0" y="489938"/>
                  </a:lnTo>
                  <a:close/>
                </a:path>
              </a:pathLst>
            </a:custGeom>
            <a:ln w="19050" cap="sq">
              <a:solidFill>
                <a:srgbClr val="086B8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00025"/>
              <a:ext cx="4264691" cy="6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772341" y="5696454"/>
            <a:ext cx="455758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86B89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気象倍率・出現日数が暫定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75022" y="5577074"/>
            <a:ext cx="9684228" cy="8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国の資料を参考にした仮定値（要確認）。1か月の結果に影響。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気象庁の平年値（久喜・鴻巣など近傍）での確認が必要。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47750" y="7379017"/>
            <a:ext cx="16192500" cy="1860233"/>
            <a:chOff x="0" y="0"/>
            <a:chExt cx="4264691" cy="4899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4691" cy="489938"/>
            </a:xfrm>
            <a:custGeom>
              <a:avLst/>
              <a:gdLst/>
              <a:ahLst/>
              <a:cxnLst/>
              <a:rect r="r" b="b" t="t" l="l"/>
              <a:pathLst>
                <a:path h="489938" w="4264691">
                  <a:moveTo>
                    <a:pt x="0" y="0"/>
                  </a:moveTo>
                  <a:lnTo>
                    <a:pt x="4264691" y="0"/>
                  </a:lnTo>
                  <a:lnTo>
                    <a:pt x="4264691" y="489938"/>
                  </a:lnTo>
                  <a:lnTo>
                    <a:pt x="0" y="489938"/>
                  </a:lnTo>
                  <a:close/>
                </a:path>
              </a:pathLst>
            </a:custGeom>
            <a:ln w="19050" cap="sq">
              <a:solidFill>
                <a:srgbClr val="1A2F8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00025"/>
              <a:ext cx="4264691" cy="6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772341" y="7910989"/>
            <a:ext cx="455758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5D549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利用実績・稼働率の差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75022" y="7791609"/>
            <a:ext cx="9684228" cy="84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稼働率0.67回/台/日は他事例（1.9〜3.1）より低い。実績が無く検証できない。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実証運用で利用記録をとり、時間帯別需要と車種比率を更新する。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47750" y="3048055"/>
            <a:ext cx="95250" cy="1762125"/>
            <a:chOff x="0" y="0"/>
            <a:chExt cx="25086" cy="4640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086" cy="464099"/>
            </a:xfrm>
            <a:custGeom>
              <a:avLst/>
              <a:gdLst/>
              <a:ahLst/>
              <a:cxnLst/>
              <a:rect r="r" b="b" t="t" l="l"/>
              <a:pathLst>
                <a:path h="464099" w="25086">
                  <a:moveTo>
                    <a:pt x="0" y="0"/>
                  </a:moveTo>
                  <a:lnTo>
                    <a:pt x="25086" y="0"/>
                  </a:lnTo>
                  <a:lnTo>
                    <a:pt x="25086" y="464099"/>
                  </a:lnTo>
                  <a:lnTo>
                    <a:pt x="0" y="464099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00025"/>
              <a:ext cx="25086" cy="66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7750" y="5164483"/>
            <a:ext cx="95250" cy="1860233"/>
            <a:chOff x="0" y="0"/>
            <a:chExt cx="25086" cy="4899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086" cy="489938"/>
            </a:xfrm>
            <a:custGeom>
              <a:avLst/>
              <a:gdLst/>
              <a:ahLst/>
              <a:cxnLst/>
              <a:rect r="r" b="b" t="t" l="l"/>
              <a:pathLst>
                <a:path h="489938" w="25086">
                  <a:moveTo>
                    <a:pt x="0" y="0"/>
                  </a:moveTo>
                  <a:lnTo>
                    <a:pt x="25086" y="0"/>
                  </a:lnTo>
                  <a:lnTo>
                    <a:pt x="25086" y="489938"/>
                  </a:lnTo>
                  <a:lnTo>
                    <a:pt x="0" y="489938"/>
                  </a:lnTo>
                  <a:close/>
                </a:path>
              </a:pathLst>
            </a:custGeom>
            <a:solidFill>
              <a:srgbClr val="086B89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00025"/>
              <a:ext cx="25086" cy="6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7750" y="7379017"/>
            <a:ext cx="95250" cy="1860233"/>
            <a:chOff x="0" y="0"/>
            <a:chExt cx="25086" cy="4899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086" cy="489938"/>
            </a:xfrm>
            <a:custGeom>
              <a:avLst/>
              <a:gdLst/>
              <a:ahLst/>
              <a:cxnLst/>
              <a:rect r="r" b="b" t="t" l="l"/>
              <a:pathLst>
                <a:path h="489938" w="25086">
                  <a:moveTo>
                    <a:pt x="0" y="0"/>
                  </a:moveTo>
                  <a:lnTo>
                    <a:pt x="25086" y="0"/>
                  </a:lnTo>
                  <a:lnTo>
                    <a:pt x="25086" y="489938"/>
                  </a:lnTo>
                  <a:lnTo>
                    <a:pt x="0" y="489938"/>
                  </a:lnTo>
                  <a:close/>
                </a:path>
              </a:pathLst>
            </a:custGeom>
            <a:solidFill>
              <a:srgbClr val="5D54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200025"/>
              <a:ext cx="25086" cy="6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68963" y="3578915"/>
            <a:ext cx="97952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ISSUE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68963" y="3854505"/>
            <a:ext cx="97952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68963" y="5744396"/>
            <a:ext cx="97952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86B8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ISSUE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8963" y="6019986"/>
            <a:ext cx="97952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86B8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8963" y="7958931"/>
            <a:ext cx="97952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5D549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ISSUE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68963" y="8234521"/>
            <a:ext cx="97952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D549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暫定値の確定 → 再計算 → 実証での検証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今後の進め方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Next Steps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605337" y="3048055"/>
            <a:ext cx="11634913" cy="952500"/>
            <a:chOff x="0" y="0"/>
            <a:chExt cx="3064339" cy="2508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64339" cy="250864"/>
            </a:xfrm>
            <a:custGeom>
              <a:avLst/>
              <a:gdLst/>
              <a:ahLst/>
              <a:cxnLst/>
              <a:rect r="r" b="b" t="t" l="l"/>
              <a:pathLst>
                <a:path h="250864" w="3064339">
                  <a:moveTo>
                    <a:pt x="66540" y="0"/>
                  </a:moveTo>
                  <a:lnTo>
                    <a:pt x="2997799" y="0"/>
                  </a:lnTo>
                  <a:cubicBezTo>
                    <a:pt x="3015447" y="0"/>
                    <a:pt x="3032371" y="7010"/>
                    <a:pt x="3044850" y="19489"/>
                  </a:cubicBezTo>
                  <a:cubicBezTo>
                    <a:pt x="3057329" y="31968"/>
                    <a:pt x="3064339" y="48893"/>
                    <a:pt x="3064339" y="66540"/>
                  </a:cubicBezTo>
                  <a:lnTo>
                    <a:pt x="3064339" y="184324"/>
                  </a:lnTo>
                  <a:cubicBezTo>
                    <a:pt x="3064339" y="201971"/>
                    <a:pt x="3057329" y="218896"/>
                    <a:pt x="3044850" y="231375"/>
                  </a:cubicBezTo>
                  <a:cubicBezTo>
                    <a:pt x="3032371" y="243854"/>
                    <a:pt x="3015447" y="250864"/>
                    <a:pt x="2997799" y="250864"/>
                  </a:cubicBezTo>
                  <a:lnTo>
                    <a:pt x="66540" y="250864"/>
                  </a:lnTo>
                  <a:cubicBezTo>
                    <a:pt x="48893" y="250864"/>
                    <a:pt x="31968" y="243854"/>
                    <a:pt x="19489" y="231375"/>
                  </a:cubicBezTo>
                  <a:cubicBezTo>
                    <a:pt x="7010" y="218896"/>
                    <a:pt x="0" y="201971"/>
                    <a:pt x="0" y="184324"/>
                  </a:cubicBezTo>
                  <a:lnTo>
                    <a:pt x="0" y="66540"/>
                  </a:lnTo>
                  <a:cubicBezTo>
                    <a:pt x="0" y="48893"/>
                    <a:pt x="7010" y="31968"/>
                    <a:pt x="19489" y="19489"/>
                  </a:cubicBezTo>
                  <a:cubicBezTo>
                    <a:pt x="31968" y="7010"/>
                    <a:pt x="48893" y="0"/>
                    <a:pt x="66540" y="0"/>
                  </a:cubicBezTo>
                  <a:close/>
                </a:path>
              </a:pathLst>
            </a:custGeom>
            <a:ln w="38100" cap="rnd">
              <a:solidFill>
                <a:srgbClr val="086B89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00025"/>
              <a:ext cx="3064339" cy="45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13936" y="3991030"/>
            <a:ext cx="217714" cy="190500"/>
            <a:chOff x="0" y="0"/>
            <a:chExt cx="8128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86B8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-14922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928582" y="3100125"/>
            <a:ext cx="898842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086B89"/>
                </a:solidFill>
                <a:latin typeface="たづがね角ゴシック Info Semi-Bold"/>
                <a:ea typeface="たづがね角ゴシック Info Semi-Bold"/>
                <a:cs typeface="たづがね角ゴシック Info Semi-Bold"/>
                <a:sym typeface="たづがね角ゴシック Info Semi-Bold"/>
              </a:rPr>
              <a:t>東京都資料で転換率を確定し、全条件を再計算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7750" y="3336980"/>
            <a:ext cx="455758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需要の確定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7750" y="3019480"/>
            <a:ext cx="210373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STEP 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05337" y="4122396"/>
            <a:ext cx="11634913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10817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config.yaml の demand_scenarios を差し替え、run_study.py・make_report.py を再実行。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028700" y="5041148"/>
            <a:ext cx="16182975" cy="0"/>
          </a:xfrm>
          <a:prstGeom prst="line">
            <a:avLst/>
          </a:prstGeom>
          <a:ln cap="flat" w="19050">
            <a:solidFill>
              <a:srgbClr val="B1B8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5605337" y="5272115"/>
            <a:ext cx="11634913" cy="952500"/>
            <a:chOff x="0" y="0"/>
            <a:chExt cx="3064339" cy="2508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64339" cy="250864"/>
            </a:xfrm>
            <a:custGeom>
              <a:avLst/>
              <a:gdLst/>
              <a:ahLst/>
              <a:cxnLst/>
              <a:rect r="r" b="b" t="t" l="l"/>
              <a:pathLst>
                <a:path h="250864" w="3064339">
                  <a:moveTo>
                    <a:pt x="66540" y="0"/>
                  </a:moveTo>
                  <a:lnTo>
                    <a:pt x="2997799" y="0"/>
                  </a:lnTo>
                  <a:cubicBezTo>
                    <a:pt x="3015447" y="0"/>
                    <a:pt x="3032371" y="7010"/>
                    <a:pt x="3044850" y="19489"/>
                  </a:cubicBezTo>
                  <a:cubicBezTo>
                    <a:pt x="3057329" y="31968"/>
                    <a:pt x="3064339" y="48893"/>
                    <a:pt x="3064339" y="66540"/>
                  </a:cubicBezTo>
                  <a:lnTo>
                    <a:pt x="3064339" y="184324"/>
                  </a:lnTo>
                  <a:cubicBezTo>
                    <a:pt x="3064339" y="201971"/>
                    <a:pt x="3057329" y="218896"/>
                    <a:pt x="3044850" y="231375"/>
                  </a:cubicBezTo>
                  <a:cubicBezTo>
                    <a:pt x="3032371" y="243854"/>
                    <a:pt x="3015447" y="250864"/>
                    <a:pt x="2997799" y="250864"/>
                  </a:cubicBezTo>
                  <a:lnTo>
                    <a:pt x="66540" y="250864"/>
                  </a:lnTo>
                  <a:cubicBezTo>
                    <a:pt x="48893" y="250864"/>
                    <a:pt x="31968" y="243854"/>
                    <a:pt x="19489" y="231375"/>
                  </a:cubicBezTo>
                  <a:cubicBezTo>
                    <a:pt x="7010" y="218896"/>
                    <a:pt x="0" y="201971"/>
                    <a:pt x="0" y="184324"/>
                  </a:cubicBezTo>
                  <a:lnTo>
                    <a:pt x="0" y="66540"/>
                  </a:lnTo>
                  <a:cubicBezTo>
                    <a:pt x="0" y="48893"/>
                    <a:pt x="7010" y="31968"/>
                    <a:pt x="19489" y="19489"/>
                  </a:cubicBezTo>
                  <a:cubicBezTo>
                    <a:pt x="31968" y="7010"/>
                    <a:pt x="48893" y="0"/>
                    <a:pt x="66540" y="0"/>
                  </a:cubicBezTo>
                  <a:close/>
                </a:path>
              </a:pathLst>
            </a:custGeom>
            <a:ln w="38100" cap="rnd">
              <a:solidFill>
                <a:srgbClr val="086B89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00025"/>
              <a:ext cx="3064339" cy="45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13936" y="6215090"/>
            <a:ext cx="217714" cy="190500"/>
            <a:chOff x="0" y="0"/>
            <a:chExt cx="812800" cy="711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86B8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-14922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928582" y="5324185"/>
            <a:ext cx="898842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086B89"/>
                </a:solidFill>
                <a:latin typeface="たづがね角ゴシック Info Semi-Bold"/>
                <a:ea typeface="たづがね角ゴシック Info Semi-Bold"/>
                <a:cs typeface="たづがね角ゴシック Info Semi-Bold"/>
                <a:sym typeface="たづがね角ゴシック Info Semi-Bold"/>
              </a:rPr>
              <a:t>住宅側3か所・運用a・駅ポート18〜32台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7750" y="5561040"/>
            <a:ext cx="455758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設計の確定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7750" y="5243540"/>
            <a:ext cx="210373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STEP 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05337" y="6346456"/>
            <a:ext cx="11634913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10817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住宅の追加（現在230戸）に合わせてポート数と台数を見直す。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05337" y="7496175"/>
            <a:ext cx="11634913" cy="952500"/>
            <a:chOff x="0" y="0"/>
            <a:chExt cx="3064339" cy="2508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64339" cy="250864"/>
            </a:xfrm>
            <a:custGeom>
              <a:avLst/>
              <a:gdLst/>
              <a:ahLst/>
              <a:cxnLst/>
              <a:rect r="r" b="b" t="t" l="l"/>
              <a:pathLst>
                <a:path h="250864" w="3064339">
                  <a:moveTo>
                    <a:pt x="66540" y="0"/>
                  </a:moveTo>
                  <a:lnTo>
                    <a:pt x="2997799" y="0"/>
                  </a:lnTo>
                  <a:cubicBezTo>
                    <a:pt x="3015447" y="0"/>
                    <a:pt x="3032371" y="7010"/>
                    <a:pt x="3044850" y="19489"/>
                  </a:cubicBezTo>
                  <a:cubicBezTo>
                    <a:pt x="3057329" y="31968"/>
                    <a:pt x="3064339" y="48893"/>
                    <a:pt x="3064339" y="66540"/>
                  </a:cubicBezTo>
                  <a:lnTo>
                    <a:pt x="3064339" y="184324"/>
                  </a:lnTo>
                  <a:cubicBezTo>
                    <a:pt x="3064339" y="201971"/>
                    <a:pt x="3057329" y="218896"/>
                    <a:pt x="3044850" y="231375"/>
                  </a:cubicBezTo>
                  <a:cubicBezTo>
                    <a:pt x="3032371" y="243854"/>
                    <a:pt x="3015447" y="250864"/>
                    <a:pt x="2997799" y="250864"/>
                  </a:cubicBezTo>
                  <a:lnTo>
                    <a:pt x="66540" y="250864"/>
                  </a:lnTo>
                  <a:cubicBezTo>
                    <a:pt x="48893" y="250864"/>
                    <a:pt x="31968" y="243854"/>
                    <a:pt x="19489" y="231375"/>
                  </a:cubicBezTo>
                  <a:cubicBezTo>
                    <a:pt x="7010" y="218896"/>
                    <a:pt x="0" y="201971"/>
                    <a:pt x="0" y="184324"/>
                  </a:cubicBezTo>
                  <a:lnTo>
                    <a:pt x="0" y="66540"/>
                  </a:lnTo>
                  <a:cubicBezTo>
                    <a:pt x="0" y="48893"/>
                    <a:pt x="7010" y="31968"/>
                    <a:pt x="19489" y="19489"/>
                  </a:cubicBezTo>
                  <a:cubicBezTo>
                    <a:pt x="31968" y="7010"/>
                    <a:pt x="48893" y="0"/>
                    <a:pt x="66540" y="0"/>
                  </a:cubicBezTo>
                  <a:close/>
                </a:path>
              </a:pathLst>
            </a:custGeom>
            <a:ln w="38100" cap="rnd">
              <a:solidFill>
                <a:srgbClr val="086B89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200025"/>
              <a:ext cx="3064339" cy="45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13936" y="8439150"/>
            <a:ext cx="217714" cy="190500"/>
            <a:chOff x="0" y="0"/>
            <a:chExt cx="812800" cy="711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86B8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27000" y="-14922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6928582" y="7548245"/>
            <a:ext cx="898842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086B89"/>
                </a:solidFill>
                <a:latin typeface="たづがね角ゴシック Info Semi-Bold"/>
                <a:ea typeface="たづがね角ゴシック Info Semi-Bold"/>
                <a:cs typeface="たづがね角ゴシック Info Semi-Bold"/>
                <a:sym typeface="たづがね角ゴシック Info Semi-Bold"/>
              </a:rPr>
              <a:t>利用記録で需要・稼働率・電池交換を検証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7750" y="7785100"/>
            <a:ext cx="4557587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実証で検証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7750" y="7467600"/>
            <a:ext cx="210373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A2F8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STEP 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605337" y="8570516"/>
            <a:ext cx="11634913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10817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記録をシミュレーションに戻し、台数と運用を更新する。</a:t>
            </a:r>
          </a:p>
        </p:txBody>
      </p:sp>
      <p:sp>
        <p:nvSpPr>
          <p:cNvPr name="AutoShape 52" id="52"/>
          <p:cNvSpPr/>
          <p:nvPr/>
        </p:nvSpPr>
        <p:spPr>
          <a:xfrm>
            <a:off x="1028700" y="7265208"/>
            <a:ext cx="16182975" cy="0"/>
          </a:xfrm>
          <a:prstGeom prst="line">
            <a:avLst/>
          </a:prstGeom>
          <a:ln cap="flat" w="19050">
            <a:solidFill>
              <a:srgbClr val="B1B8C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詳細は docs/前提と出典.md、値はすべて config.yaml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主な前提値と出典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Assumptions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834640"/>
          <a:ext cx="16184880" cy="58338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11430000"/>
                <a:gridCol w="201168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値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状態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住宅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230戸（既存街区171戸・新規街区59戸）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確定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調査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2023年アンケート 23人（目的・時間帯・車種希望Q16）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確定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走行速度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自転車12.6 km/h・キックボード14.0 km/h（走行ログ実測）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確定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ポート座標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駅西口ポート 36.113177,139.712318／モビリティステーション 36.111012,139.709442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確定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駅ポート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1台1m×2m、基本25台（区画①18＋区画②7）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確定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需要（転換率）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低位12%・高位24%、旧10%・30%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暫定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気象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雨・猛暑・強風・寒さの倍率と月別出現日数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要確認</a:t>
                      </a:r>
                    </a:p>
                  </a:txBody>
                  <a:tcPr marL="73152" marR="73152" marT="27432" marB="27432" anchor="ctr">
                    <a:solidFill>
                      <a:srgbClr val="E3E8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新規街区の道路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計画図の区画道路（W6m）・歩行者専用通路（W2m）を地図に統合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確定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電池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キックボード航続30km、20%未満で交換・4時間停止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仮定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10817"/>
                          </a:solidFill>
                          <a:latin typeface="たづがね角ゴシック Info Bold"/>
                        </a:rPr>
                        <a:t>費用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車両15万円・3年、維持1.5万円/年、ポート20万円・5年ほか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仮定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1047750" y="2819455"/>
            <a:ext cx="11704320" cy="269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0"/>
              </a:lnSpc>
            </a:pPr>
            <a:r>
              <a:rPr lang="en-US" sz="2150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住宅側ポート3か所・運用a（夜1回の再配置）を推奨（代替乗車あり(ii)：他の車種があれば乗り、無ければ徒歩）。失敗率5%で、低位需要は自転車15＋キックボード10＝25台・駅ポート18台、高位需要は自転車24＋キックボード16＝40台・駅ポート32台。</a:t>
            </a:r>
          </a:p>
          <a:p>
            <a:pPr algn="just">
              <a:lnSpc>
                <a:spcPts val="3440"/>
              </a:lnSpc>
            </a:pPr>
            <a:r>
              <a:rPr lang="en-US" sz="2150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日中のリバランス（b・c）が有利なのは一部の条件だけ。駅ポートが満車になると返却失敗で台数が急増するため、需要が高位に近ければ駅ポートを32台（区画②も2列）にする。</a:t>
            </a:r>
          </a:p>
          <a:p>
            <a:pPr algn="just">
              <a:lnSpc>
                <a:spcPts val="3440"/>
              </a:lnSpc>
            </a:pPr>
            <a:r>
              <a:rPr lang="en-US" sz="2150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10回のばらつきは、低位需要で数台、駅ポートが満車になる高位需要では10台以上。計画は上側の値で見込むと安全。</a:t>
            </a:r>
          </a:p>
          <a:p>
            <a:pPr algn="just">
              <a:lnSpc>
                <a:spcPts val="3440"/>
              </a:lnSpc>
            </a:pPr>
            <a:r>
              <a:rPr lang="en-US" sz="2150">
                <a:solidFill>
                  <a:srgbClr val="010817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需要（転換率）が結果を最も左右するため、東京都資料での確定と再計算を最優先で進める。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281018" y="4927215"/>
            <a:ext cx="3959232" cy="4312035"/>
          </a:xfrm>
          <a:custGeom>
            <a:avLst/>
            <a:gdLst/>
            <a:ahLst/>
            <a:cxnLst/>
            <a:rect r="r" b="b" t="t" l="l"/>
            <a:pathLst>
              <a:path h="4312035" w="3959232">
                <a:moveTo>
                  <a:pt x="0" y="0"/>
                </a:moveTo>
                <a:lnTo>
                  <a:pt x="3959232" y="0"/>
                </a:lnTo>
                <a:lnTo>
                  <a:pt x="3959232" y="4312035"/>
                </a:lnTo>
                <a:lnTo>
                  <a:pt x="0" y="431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推奨案と次の一歩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まとめ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Summary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750" y="8778240"/>
            <a:ext cx="7715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10817"/>
                </a:solidFill>
                <a:latin typeface="たづがね角ゴシック Info Medium"/>
                <a:ea typeface="たづがね角ゴシック Info Medium"/>
                <a:cs typeface="たづがね角ゴシック Info Medium"/>
                <a:sym typeface="たづがね角ゴシック Info Medium"/>
              </a:rPr>
              <a:t>モビリティポート検討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10回の中央値（最小–最大）。台数＝自転車＋キックボード合計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付録：全条件の結果（低位）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Appendix: All Conditions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697480"/>
          <a:ext cx="16184880" cy="72237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731520"/>
                <a:gridCol w="914400"/>
                <a:gridCol w="2011680"/>
                <a:gridCol w="2011680"/>
                <a:gridCol w="2377440"/>
                <a:gridCol w="2194560"/>
                <a:gridCol w="2194560"/>
                <a:gridCol w="2560320"/>
              </a:tblGrid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代替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駅容量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充足80%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失敗5%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失敗1%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月充足率(5%)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返却失敗(5%)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年間費用万円(5%)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18（17–20）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42（39–44）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81（79–87）［7/10回達成］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95.6（94.0–99.1）%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18.7（12.0–21.0）%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419（395–433）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18（17–19）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33（30–33）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49（46–52）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95.5（93.8–96.6）%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0.2（0.0–0.5）%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352（329–355）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18（17–19）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32（30–33）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46（42–50）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95.4（93.8–96.6）%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354（334–360）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18（17–19）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32（30–33）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46（42–50）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95.4（93.8–96.6）%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360（340–366）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20（20–23）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51（46–60）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95.4（93.0–98.9）%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32.1（28.6–40.7）%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565（529–639）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20（20–23）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69（65–82）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95.6（93.0–98.9）%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9.3（4.5–17.3）%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574（515–644）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20（20–23）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52（44–60）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69（65–82）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95.6（93.0–98.9）%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0.3（0.0–2.7）%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579（520–649）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20（20–23）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69（65–82）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95.6（93.0–98.9）%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585（526–655）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51（46–60）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95.4（93.0–98.9）%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32.1（28.6–40.7）%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565（529–639）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69（65–82）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95.6（93.0–98.9）%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9.3（4.5–17.3）%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574（515–644）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52（44–60）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69（65–82）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95.6（93.0–98.9）%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0.3（0.0–2.7）%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579（520–649）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69（65–82）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95.6（93.0–98.9）%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585（526–655）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24（22–26）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44（30–46）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95.6（93.0–97.2）%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2.0（0.2–3.9）%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284（268–298）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24（22–26）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34（29–39）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96.1（93.1–98.1）%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288（270–303）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24（22–26）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34（29–39）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96.1（93.1–98.1）%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294（275–308）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24（22–26）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34（29–39）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96.1（93.1–98.1）%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299（280–314）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27（25–29）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54（44–72）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96.0（93.5–98.0）%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2.8（0.8–7.4）%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357（328–374）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27（25–29）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96.0（93.5–98.0）%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362（334–379）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27（25–29）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96.0（93.5–98.0）%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367（339–384）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15（13–15）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27（25–29）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96.0（93.5–98.0）%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373（344–390）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14（13–14）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25（23–28）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54（44–72）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95.1（92.7–98.0）%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2.3（0.4–5.5）%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335（311–367）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14（13–14）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25（23–28）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95.1（92.7–98.0）%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340（316–372）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14（13–14）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25（23–28）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54（44–60）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95.1（92.7–98.0）%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345（321–377）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14（13–14）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25（23–28）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54（44–60）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95.1（92.7–98.0）%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350（327–383）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10回の中央値（最小–最大）。台数＝自転車＋キックボード合計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付録：全条件の結果（高位）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Appendix: All Conditions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697480"/>
          <a:ext cx="16184880" cy="72237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731520"/>
                <a:gridCol w="914400"/>
                <a:gridCol w="2011680"/>
                <a:gridCol w="2011680"/>
                <a:gridCol w="2377440"/>
                <a:gridCol w="2194560"/>
                <a:gridCol w="2194560"/>
                <a:gridCol w="2560320"/>
              </a:tblGrid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代替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駅容量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充足80%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失敗5%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失敗1%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月充足率(5%)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返却失敗(5%)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年間費用万円(5%)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48（45–50）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32（31–35）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138（131–144）［2/10回達成］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94.8（94.2–95.3）%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48.2（47.8–48.6）%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1,171（1,124–1,218）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29（28–29）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69（64–75）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146（131–160）［6/10回達成］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96.7（95.8–98.3）%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14.0（11.4–20.0）%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644（608–695）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29（28–29）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49（46–51）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82（78–98）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96.0（95.0–97.6）%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0.0（0.0–0.7）%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497（474–512）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48（45–50）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32（31–35）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138（131–144）［2/10回達成］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95.4（95.0–95.8）%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48.4（48.0–48.7）%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1,273（1,224–1,321）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30（29–32）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88（83–130）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141（140–142）［2/10回達成］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96.9（93.6–97.6）%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30.6（25.3–45.0）%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909（871–1,236）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30（29–32）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88（78–99）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145（139–155）［4/10回達成］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96.9（93.7–97.6）%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18.1（8.5–24.6）%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921（834–1,017）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48（45–50）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31（29–35）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138（131–144）［2/10回達成］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95.4（95.0–95.8）%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48.4（48.0–48.7）%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1,273（1,224–1,321）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29（28–31）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88（83–130）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141（140–142）［2/10回達成］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96.9（93.6–97.6）%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30.6（25.3–45.0）%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909（871–1,236）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29（28–31）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88（78–99）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145（139–155）［4/10回達成］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96.9（93.7–97.6）%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18.1（8.5–24.6）%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921（834–1,017）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32（29–35）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26（24–27）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78（54–84）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132［1/10回達成］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96.6（94.6–98.2）%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24.5（13.4–37.9）%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713（536–758）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26（24–27）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40（37–43）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67（57–78）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95.8（93.5–97.2）%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0.8（0.3–2.0）%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421（401–449）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26（24–27）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40（37–43）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52（50–57）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95.5（93.5–97.3）%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428（406–454）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32（29–35）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26（24–27）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78（54–84）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132［1/10回達成］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96.7（94.2–97.1）%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24.6（14.0–36.4）%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800（613–847）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26（24–27）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42（40–48）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118（81–150）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95.7（94.3–98.2）%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1.8（0.3–6.2）%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502（461–556）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26（24–27）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42（40–48）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106（81–128）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95.7（94.3–98.2）%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0.0（0.0–0.5）%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508（467–562）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32（29–35）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25（24–26）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78（54–84）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132［1/10回達成］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96.7（94.2–97.1）%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24.6（14.0–36.4）%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800（613–847）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25（24–26）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41（34–44）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118（81–150）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95.9（92.8–97.8）%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0.7（0.0–2.4）%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486（422–510）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25（24–26）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41（34–44）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106（81–128）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95.9（92.8–97.8）%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492（428–516）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10回の中央値（最小–最大）。台数＝自転車＋キックボード合計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付録：全条件の結果（旧10%）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Appendix: All Conditions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697480"/>
          <a:ext cx="16184880" cy="72237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731520"/>
                <a:gridCol w="914400"/>
                <a:gridCol w="2011680"/>
                <a:gridCol w="2011680"/>
                <a:gridCol w="2377440"/>
                <a:gridCol w="2194560"/>
                <a:gridCol w="2194560"/>
                <a:gridCol w="2560320"/>
              </a:tblGrid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代替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駅容量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充足80%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失敗5%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失敗1%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月充足率(5%)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返却失敗(5%)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年間費用万円(5%)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16（15–17）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31（30–37）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63（52–70）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96.1（94.5–97.5）%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4.6（0.9–9.4）%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331（324–375）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16（15–17）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29（27–31）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42（38–47）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95.7（94.7–97.1）%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322（305–334）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16（15–17）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29（27–31）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42（38–47）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95.7（94.7–97.1）%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327（310–339）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16（15–17）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29（27–31）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42（38–47）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95.7（94.7–97.1）%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333（316–345）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70（63–76）［8/10回達成］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25.2（20.6–28.3）%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509（502–541）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62（57–66）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3.4（1.7–6.1）%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514（507–546）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62（57–66）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519（512–551）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20（19–20）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62（57–66）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525（517–557）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19（18–20）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70（63–76）［8/10回達成］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25.2（20.6–28.3）%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509（502–541）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19（18–20）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62（57–66）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3.4（1.7–6.1）%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514（507–546）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19（18–20）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62（57–66）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519（512–551）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19（18–20）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44（44–49）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62（57–66）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96.0（93.4–98.7）%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525（517–557）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22（21–24）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30（28–42）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96.2（94.5–97.9）%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0.3（0.0–0.7）%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265（257–279）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22（21–24）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30（28–34）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96.2（94.5–97.9）%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270（263–284）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22（21–24）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30（28–34）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96.2（94.5–97.9）%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275（268–289）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22（21–24）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30（28–34）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96.2（94.5–97.9）%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280（273–294）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28（24–39）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49（38–61）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94.8（93.3–97.8）%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2.8（0.5–13.4）%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360（325–463）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28（24–39）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94.8（93.3–97.8）%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0.0（0.0–0.7）%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365（330–468）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28（24–39）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49（38–55）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94.8（93.3–97.8）%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370（335–473）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13（12–14）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28（24–39）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94.8（93.3–97.8）%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376（340–479）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12（11–12）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28（22–39）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49（38–61）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95.1（93.3–96.7）%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2.8（0.2–13.4）%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361（310–463）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12（11–12）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28（22–39）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95.1（93.3–96.7）%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0.0（0.0–0.7）%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366（315–468）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12（11–12）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28（22–39）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49（38–55）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95.1（93.3–96.7）%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371（320–473）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12（11–12）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28（22–39）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49（38–55）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95.1（93.3–96.7）%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377（326–479）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47750" y="2144053"/>
            <a:ext cx="95250" cy="481013"/>
            <a:chOff x="0" y="0"/>
            <a:chExt cx="19464" cy="9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4" cy="98292"/>
            </a:xfrm>
            <a:custGeom>
              <a:avLst/>
              <a:gdLst/>
              <a:ahLst/>
              <a:cxnLst/>
              <a:rect r="r" b="b" t="t" l="l"/>
              <a:pathLst>
                <a:path h="98292" w="19464">
                  <a:moveTo>
                    <a:pt x="0" y="0"/>
                  </a:moveTo>
                  <a:lnTo>
                    <a:pt x="19464" y="0"/>
                  </a:lnTo>
                  <a:lnTo>
                    <a:pt x="19464" y="98292"/>
                  </a:lnTo>
                  <a:lnTo>
                    <a:pt x="0" y="98292"/>
                  </a:lnTo>
                  <a:close/>
                </a:path>
              </a:pathLst>
            </a:custGeom>
            <a:solidFill>
              <a:srgbClr val="1A2F8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464" cy="212592"/>
            </a:xfrm>
            <a:prstGeom prst="rect">
              <a:avLst/>
            </a:prstGeom>
          </p:spPr>
          <p:txBody>
            <a:bodyPr anchor="ctr" rtlCol="false" tIns="40273" lIns="40273" bIns="40273" rIns="40273"/>
            <a:lstStyle/>
            <a:p>
              <a:pPr algn="ctr" marL="0" indent="0" lvl="0">
                <a:lnSpc>
                  <a:spcPts val="17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63860" y="1132115"/>
            <a:ext cx="1177622" cy="189410"/>
            <a:chOff x="0" y="0"/>
            <a:chExt cx="1570163" cy="25254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2547" cy="252547"/>
              <a:chOff x="0" y="0"/>
              <a:chExt cx="81040" cy="8104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ABB5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39205" y="0"/>
              <a:ext cx="252547" cy="252547"/>
              <a:chOff x="0" y="0"/>
              <a:chExt cx="81040" cy="81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808FB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78410" y="0"/>
              <a:ext cx="252547" cy="252547"/>
              <a:chOff x="0" y="0"/>
              <a:chExt cx="81040" cy="8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566A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17615" y="0"/>
              <a:ext cx="252547" cy="252547"/>
              <a:chOff x="0" y="0"/>
              <a:chExt cx="81040" cy="810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040" cy="81040"/>
              </a:xfrm>
              <a:custGeom>
                <a:avLst/>
                <a:gdLst/>
                <a:ahLst/>
                <a:cxnLst/>
                <a:rect r="r" b="b" t="t" l="l"/>
                <a:pathLst>
                  <a:path h="81040" w="81040">
                    <a:moveTo>
                      <a:pt x="0" y="0"/>
                    </a:moveTo>
                    <a:lnTo>
                      <a:pt x="81040" y="0"/>
                    </a:lnTo>
                    <a:lnTo>
                      <a:pt x="81040" y="81040"/>
                    </a:lnTo>
                    <a:lnTo>
                      <a:pt x="0" y="81040"/>
                    </a:lnTo>
                    <a:close/>
                  </a:path>
                </a:pathLst>
              </a:custGeom>
              <a:solidFill>
                <a:srgbClr val="1A2F8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81040" cy="157240"/>
              </a:xfrm>
              <a:prstGeom prst="rect">
                <a:avLst/>
              </a:prstGeom>
            </p:spPr>
            <p:txBody>
              <a:bodyPr anchor="ctr" rtlCol="false" tIns="77068" lIns="77068" bIns="77068" rIns="77068"/>
              <a:lstStyle/>
              <a:p>
                <a:pPr algn="ctr" marL="0" indent="0" lvl="0">
                  <a:lnSpc>
                    <a:spcPts val="122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01441" y="1915295"/>
            <a:ext cx="15910234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F81"/>
                </a:solidFill>
                <a:latin typeface="たづがね角ゴシック Info Bold"/>
                <a:ea typeface="たづがね角ゴシック Info Bold"/>
                <a:cs typeface="たづがね角ゴシック Info Bold"/>
                <a:sym typeface="たづがね角ゴシック Info Bold"/>
              </a:rPr>
              <a:t>10回の中央値（最小–最大）。台数＝自転車＋キックボード合計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828675"/>
            <a:ext cx="809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2F81"/>
                </a:solidFill>
                <a:latin typeface="たづがね角ゴシック Info"/>
                <a:ea typeface="たづがね角ゴシック Info"/>
                <a:cs typeface="たづがね角ゴシック Info"/>
                <a:sym typeface="たづがね角ゴシック Info"/>
              </a:rPr>
              <a:t>付録：全条件の結果（旧30%）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72575" y="1054418"/>
            <a:ext cx="66882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A2F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Appendix: All Conditions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51560" y="2697480"/>
          <a:ext cx="16184880" cy="72237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731520"/>
                <a:gridCol w="914400"/>
                <a:gridCol w="2011680"/>
                <a:gridCol w="2011680"/>
                <a:gridCol w="2377440"/>
                <a:gridCol w="2194560"/>
                <a:gridCol w="2194560"/>
                <a:gridCol w="2560320"/>
              </a:tblGrid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代替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運用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駅容量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充足80%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失敗5%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台数 失敗1%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月充足率(5%)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返却失敗(5%)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たづがね角ゴシック Info Bold"/>
                        </a:rPr>
                        <a:t>年間費用万円(5%)</a:t>
                      </a:r>
                    </a:p>
                  </a:txBody>
                  <a:tcPr marL="73152" marR="73152" marT="27432" marB="27432" anchor="ctr">
                    <a:solidFill>
                      <a:srgbClr val="1A2F81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161（143–192）［9/10回達成］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48（46–51）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36（34–45）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164（156–193）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96.6（95.3–97.6）%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46.3（45.5–47.8）%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1,387（1,330–1,595）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34（34–36）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70（64–90）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182（161–196）［7/10回達成］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96.2（95.1–97.3）%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7.8（4.9–19.9）%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661（613–818）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161（143–192）［9/10回達成］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48（46–51）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36（34–45）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164（156–193）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96.2（94.2–98.4）%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46.9（45.2–47.8）%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1,512（1,455–1,718）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36（34–43）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106（100–168）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190［1/10回達成］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96.5（95.2–97.5）%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27.3（20.3–39.4）%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1,088（1,033–1,555）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161（143–192）［9/10回達成］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48（46–51）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34（32–45）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164（156–193）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96.2（94.2–98.4）%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46.9（45.2–47.8）%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1,512（1,455–1,718）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なし(i)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34（32–43）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106（100–168）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190［1/10回達成］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96.5（95.2–97.5）%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27.3（20.3–39.4）%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1,088（1,033–1,555）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123（101–188）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33（32–36）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31（30–32）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58（52–88）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164［1/10回達成］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96.8（93.6–97.7）%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11.9（7.4–29.9）%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576（522–816）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31（30–32）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47（44–50）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70（63–87）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96.1（93.7–97.5）%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0.6（0.0–1.0）%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487（463–511）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123（101–188）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33（32–36）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31（30–32）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58（52–88）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164［1/10回達成］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96.8（94.0–97.2）%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10.8（6.9–28.5）%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654（578–924）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31（30–32）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52（45–55）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152（107–188）［7/10回達成］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95.2（91.8–97.4）%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1.5（0.0–3.1）%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589（503–625）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123（101–188）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33（32–34）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未達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30（30–31）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57（52–88）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164［1/10回達成］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96.6（94.0–97.2）%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11.2（6.2–28.5）%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638（584–924）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あり(ii)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30（30–31）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46（43–55）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152（107–188）［7/10回達成］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95.4（94.5–97.5）%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0.3（0.0–2.1）%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10817"/>
                          </a:solidFill>
                          <a:latin typeface="たづがね角ゴシック Info"/>
                        </a:rPr>
                        <a:t>533（500–630）</a:t>
                      </a:r>
                    </a:p>
                  </a:txBody>
                  <a:tcPr marL="73152" marR="73152" marT="27432" marB="27432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DAHTd0SZdEA</dc:identifier>
  <dcterms:modified xsi:type="dcterms:W3CDTF">2011-08-01T06:04:30Z</dcterms:modified>
  <cp:revision>1</cp:revision>
  <dc:title>青と白 ビジネス 上半期成果報告書 プレゼンテーション</dc:title>
</cp:coreProperties>
</file>