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dia/image11.svg" ContentType="image/svg+xml"/>
  <Override PartName="/ppt/media/image13.svg" ContentType="image/svg+xml"/>
  <Override PartName="/ppt/media/image19.svg" ContentType="image/svg+xml"/>
  <Override PartName="/ppt/media/image2.svg" ContentType="image/svg+xml"/>
  <Override PartName="/ppt/media/image4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</p:sldIdLst>
  <p:sldSz cx="18288000" cy="10287000"/>
  <p:notesSz cx="6858000" cy="9144000"/>
  <p:embeddedFontLst>
    <p:embeddedFont>
      <p:font typeface="Montserrat Semi-Bold" charset="1" panose="00000700000000000000"/>
      <p:regular r:id="rId17"/>
    </p:embeddedFont>
    <p:embeddedFont>
      <p:font typeface="たづがね角ゴシック Info Bold" charset="1" panose="020B0803020203020204"/>
      <p:regular r:id="rId18"/>
    </p:embeddedFont>
    <p:embeddedFont>
      <p:font typeface="たづがね角ゴシック Info Semi-Bold" charset="1" panose="020B0703020203020204"/>
      <p:regular r:id="rId19"/>
    </p:embeddedFont>
    <p:embeddedFont>
      <p:font typeface="たづがね角ゴシック Info Medium" charset="1" panose="020B0603020203020204"/>
      <p:regular r:id="rId20"/>
    </p:embeddedFont>
    <p:embeddedFont>
      <p:font typeface="Montserrat Medium" charset="1" panose="00000600000000000000"/>
      <p:regular r:id="rId21"/>
    </p:embeddedFont>
    <p:embeddedFont>
      <p:font typeface="たづがね角ゴシック Info" charset="1" panose="020B0503020203020204"/>
      <p:regular r:id="rId22"/>
    </p:embeddedFont>
    <p:embeddedFont>
      <p:font typeface="Montserrat Bold" charset="1" panose="00000800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最小台数の内訳（中央値、0＝未達）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電動アシスト自転車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Sheet1!$A$2:$A$9</c:f>
              <c:strCache>
                <c:ptCount val="8"/>
                <c:pt idx="0">
                  <c:v>低位
80%</c:v>
                </c:pt>
                <c:pt idx="1">
                  <c:v>低位
5%</c:v>
                </c:pt>
                <c:pt idx="2">
                  <c:v>高位
80%</c:v>
                </c:pt>
                <c:pt idx="3">
                  <c:v>高位
5%</c:v>
                </c:pt>
                <c:pt idx="4">
                  <c:v>旧10%
80%</c:v>
                </c:pt>
                <c:pt idx="5">
                  <c:v>旧10%
5%</c:v>
                </c:pt>
                <c:pt idx="6">
                  <c:v>旧30%
80%</c:v>
                </c:pt>
                <c:pt idx="7">
                  <c:v>旧30%
5%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10.0</c:v>
                </c:pt>
                <c:pt idx="1">
                  <c:v>16.0</c:v>
                </c:pt>
                <c:pt idx="2">
                  <c:v>14.0</c:v>
                </c:pt>
                <c:pt idx="3">
                  <c:v>41.5</c:v>
                </c:pt>
                <c:pt idx="4">
                  <c:v>8.0</c:v>
                </c:pt>
                <c:pt idx="5">
                  <c:v>14.5</c:v>
                </c:pt>
                <c:pt idx="6">
                  <c:v>22.0</c:v>
                </c:pt>
                <c:pt idx="7">
                  <c:v>53.0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電動キックボード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Sheet1!$A$2:$A$9</c:f>
              <c:strCache>
                <c:ptCount val="8"/>
                <c:pt idx="0">
                  <c:v>低位
80%</c:v>
                </c:pt>
                <c:pt idx="1">
                  <c:v>低位
5%</c:v>
                </c:pt>
                <c:pt idx="2">
                  <c:v>高位
80%</c:v>
                </c:pt>
                <c:pt idx="3">
                  <c:v>高位
5%</c:v>
                </c:pt>
                <c:pt idx="4">
                  <c:v>旧10%
80%</c:v>
                </c:pt>
                <c:pt idx="5">
                  <c:v>旧10%
5%</c:v>
                </c:pt>
                <c:pt idx="6">
                  <c:v>旧30%
80%</c:v>
                </c:pt>
                <c:pt idx="7">
                  <c:v>旧30%
5%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6.0</c:v>
                </c:pt>
                <c:pt idx="1">
                  <c:v>11.0</c:v>
                </c:pt>
                <c:pt idx="2">
                  <c:v>9.0</c:v>
                </c:pt>
                <c:pt idx="3">
                  <c:v>18.0</c:v>
                </c:pt>
                <c:pt idx="4">
                  <c:v>6.0</c:v>
                </c:pt>
                <c:pt idx="5">
                  <c:v>10.0</c:v>
                </c:pt>
                <c:pt idx="6">
                  <c:v>8.0</c:v>
                </c:pt>
                <c:pt idx="7">
                  <c:v>74.0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失敗率5%の最小台数（合計）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26.0</c:v>
                </c:pt>
                <c:pt idx="1">
                  <c:v>19.0</c:v>
                </c:pt>
                <c:pt idx="2">
                  <c:v>55.0</c:v>
                </c:pt>
                <c:pt idx="3">
                  <c:v>30.0</c:v>
                </c:pt>
                <c:pt idx="4">
                  <c:v>23.0</c:v>
                </c:pt>
                <c:pt idx="5">
                  <c:v>16.0</c:v>
                </c:pt>
                <c:pt idx="6">
                  <c:v>122.0</c:v>
                </c:pt>
                <c:pt idx="7">
                  <c:v>42.0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Sheet1!$C$2:$C$9</c:f>
              <c:numCache>
                <c:formatCode>0</c:formatCode>
                <c:ptCount val="8"/>
                <c:pt idx="0">
                  <c:v>1.0</c:v>
                </c:pt>
                <c:pt idx="1">
                  <c:v>0.25</c:v>
                </c:pt>
                <c:pt idx="2">
                  <c:v>4.0</c:v>
                </c:pt>
                <c:pt idx="3">
                  <c:v>1.25</c:v>
                </c:pt>
                <c:pt idx="4">
                  <c:v>1.0</c:v>
                </c:pt>
                <c:pt idx="5">
                  <c:v>2.0</c:v>
                </c:pt>
                <c:pt idx="6">
                  <c:v>0.0</c:v>
                </c:pt>
                <c:pt idx="7">
                  <c:v>4.25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Sheet1!$D$2:$D$9</c:f>
              <c:numCache>
                <c:formatCode>0</c:formatCode>
                <c:ptCount val="8"/>
                <c:pt idx="0">
                  <c:v>0.0</c:v>
                </c:pt>
                <c:pt idx="1">
                  <c:v>1.25</c:v>
                </c:pt>
                <c:pt idx="2">
                  <c:v>0.0</c:v>
                </c:pt>
                <c:pt idx="3">
                  <c:v>1.25</c:v>
                </c:pt>
                <c:pt idx="4">
                  <c:v>1.0</c:v>
                </c:pt>
                <c:pt idx="5">
                  <c:v>0.0</c:v>
                </c:pt>
                <c:pt idx="6">
                  <c:v>1.0</c:v>
                </c:pt>
                <c:pt idx="7">
                  <c:v>4.75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Sheet1!$E$2:$E$9</c:f>
              <c:numCache>
                <c:formatCode>0</c:formatCode>
                <c:ptCount val="8"/>
                <c:pt idx="0">
                  <c:v>1.0</c:v>
                </c:pt>
                <c:pt idx="1">
                  <c:v>1.25</c:v>
                </c:pt>
                <c:pt idx="2">
                  <c:v>1.0</c:v>
                </c:pt>
                <c:pt idx="3">
                  <c:v>1.25</c:v>
                </c:pt>
                <c:pt idx="4">
                  <c:v>0.0</c:v>
                </c:pt>
                <c:pt idx="5">
                  <c:v>0.75</c:v>
                </c:pt>
                <c:pt idx="6">
                  <c:v>2.5</c:v>
                </c:pt>
                <c:pt idx="7">
                  <c:v>7.25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Sheet1!$F$2:$F$9</c:f>
              <c:numCache>
                <c:formatCode>0</c:formatCode>
                <c:ptCount val="8"/>
                <c:pt idx="0">
                  <c:v>1.0</c:v>
                </c:pt>
                <c:pt idx="1">
                  <c:v>0.25</c:v>
                </c:pt>
                <c:pt idx="2">
                  <c:v>1.0</c:v>
                </c:pt>
                <c:pt idx="3">
                  <c:v>1.25</c:v>
                </c:pt>
                <c:pt idx="4">
                  <c:v>1.0</c:v>
                </c:pt>
                <c:pt idx="5">
                  <c:v>1.25</c:v>
                </c:pt>
                <c:pt idx="6">
                  <c:v>5.5</c:v>
                </c:pt>
                <c:pt idx="7">
                  <c:v>13.75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充足率80%の最小台数（合計）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15.0</c:v>
                </c:pt>
                <c:pt idx="1">
                  <c:v>11.0</c:v>
                </c:pt>
                <c:pt idx="2">
                  <c:v>23.0</c:v>
                </c:pt>
                <c:pt idx="3">
                  <c:v>19.0</c:v>
                </c:pt>
                <c:pt idx="4">
                  <c:v>12.0</c:v>
                </c:pt>
                <c:pt idx="5">
                  <c:v>10.0</c:v>
                </c:pt>
                <c:pt idx="6">
                  <c:v>28.0</c:v>
                </c:pt>
                <c:pt idx="7">
                  <c:v>23.0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Sheet1!$C$2:$C$9</c:f>
              <c:numCache>
                <c:formatCode>0</c:formatCode>
                <c:ptCount val="8"/>
                <c:pt idx="0">
                  <c:v>0.0</c:v>
                </c:pt>
                <c:pt idx="1">
                  <c:v>0.25</c:v>
                </c:pt>
                <c:pt idx="2">
                  <c:v>0.0</c:v>
                </c:pt>
                <c:pt idx="3">
                  <c:v>0.25</c:v>
                </c:pt>
                <c:pt idx="4">
                  <c:v>1.0</c:v>
                </c:pt>
                <c:pt idx="5">
                  <c:v>0.0</c:v>
                </c:pt>
                <c:pt idx="6">
                  <c:v>1.0</c:v>
                </c:pt>
                <c:pt idx="7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Sheet1!$D$2:$D$9</c:f>
              <c:numCache>
                <c:formatCode>0</c:formatCode>
                <c:ptCount val="8"/>
                <c:pt idx="0">
                  <c:v>0.5</c:v>
                </c:pt>
                <c:pt idx="1">
                  <c:v>0.75</c:v>
                </c:pt>
                <c:pt idx="2">
                  <c:v>1.0</c:v>
                </c:pt>
                <c:pt idx="3">
                  <c:v>0.75</c:v>
                </c:pt>
                <c:pt idx="4">
                  <c:v>1.0</c:v>
                </c:pt>
                <c:pt idx="5">
                  <c:v>0.5</c:v>
                </c:pt>
                <c:pt idx="6">
                  <c:v>1.0</c:v>
                </c:pt>
                <c:pt idx="7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Sheet1!$E$2:$E$9</c:f>
              <c:numCache>
                <c:formatCode>0</c:formatCode>
                <c:ptCount val="8"/>
                <c:pt idx="0">
                  <c:v>0.5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0.5</c:v>
                </c:pt>
                <c:pt idx="6">
                  <c:v>1.0</c:v>
                </c:pt>
                <c:pt idx="7">
                  <c:v>0.75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Sheet1!$A$2:$A$9</c:f>
              <c:strCache>
                <c:ptCount val="8"/>
                <c:pt idx="0">
                  <c:v>低位(i)</c:v>
                </c:pt>
                <c:pt idx="1">
                  <c:v>低位(ii)</c:v>
                </c:pt>
                <c:pt idx="2">
                  <c:v>高位(i)</c:v>
                </c:pt>
                <c:pt idx="3">
                  <c:v>高位(ii)</c:v>
                </c:pt>
                <c:pt idx="4">
                  <c:v>旧10%(i)</c:v>
                </c:pt>
                <c:pt idx="5">
                  <c:v>旧10%(ii)</c:v>
                </c:pt>
                <c:pt idx="6">
                  <c:v>旧30%(i)</c:v>
                </c:pt>
                <c:pt idx="7">
                  <c:v>旧30%(ii)</c:v>
                </c:pt>
              </c:strCache>
            </c:strRef>
          </c:cat>
          <c:val>
            <c:numRef>
              <c:f>Sheet1!$F$2:$F$9</c:f>
              <c:numCache>
                <c:formatCode>0</c:formatCode>
                <c:ptCount val="8"/>
                <c:pt idx="0">
                  <c:v>1.0</c:v>
                </c:pt>
                <c:pt idx="1">
                  <c:v>1.0</c:v>
                </c:pt>
                <c:pt idx="2">
                  <c:v>2.0</c:v>
                </c:pt>
                <c:pt idx="3">
                  <c:v>1.0</c:v>
                </c:pt>
                <c:pt idx="4">
                  <c:v>0.0</c:v>
                </c:pt>
                <c:pt idx="5">
                  <c:v>2.0</c:v>
                </c:pt>
                <c:pt idx="6">
                  <c:v>1.0</c:v>
                </c:pt>
                <c:pt idx="7">
                  <c:v>0.25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1か月の充足率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0.9225</c:v>
                </c:pt>
                <c:pt idx="1">
                  <c:v>0.9318463444857495</c:v>
                </c:pt>
                <c:pt idx="2">
                  <c:v>0.9136125654450262</c:v>
                </c:pt>
                <c:pt idx="3">
                  <c:v>0.9253731343283582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0.03294554455445542</c:v>
                </c:pt>
                <c:pt idx="1">
                  <c:v>0.024470066376115818</c:v>
                </c:pt>
                <c:pt idx="2">
                  <c:v>0.03784198813438211</c:v>
                </c:pt>
                <c:pt idx="3">
                  <c:v>0.0335168965041186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0.00874882884707917</c:v>
                </c:pt>
                <c:pt idx="1">
                  <c:v>0.009248327430145808</c:v>
                </c:pt>
                <c:pt idx="2">
                  <c:v>0.01666138844957732</c:v>
                </c:pt>
                <c:pt idx="3">
                  <c:v>0.005690799949868985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0%</c:formatCode>
                <c:ptCount val="4"/>
                <c:pt idx="0">
                  <c:v>0.006749936525826228</c:v>
                </c:pt>
                <c:pt idx="1">
                  <c:v>0.008939510999773637</c:v>
                </c:pt>
                <c:pt idx="2">
                  <c:v>0.010304010181289236</c:v>
                </c:pt>
                <c:pt idx="3">
                  <c:v>0.006738374190480068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0%</c:formatCode>
                <c:ptCount val="4"/>
                <c:pt idx="0">
                  <c:v>0.02025803611369481</c:v>
                </c:pt>
                <c:pt idx="1">
                  <c:v>0.01019672428262397</c:v>
                </c:pt>
                <c:pt idx="2">
                  <c:v>0.014411589008363146</c:v>
                </c:pt>
                <c:pt idx="3">
                  <c:v>0.01507535285030337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返却失敗率（満車）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0.0%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0.0%</c:formatCode>
                <c:ptCount val="4"/>
                <c:pt idx="0">
                  <c:v>0.0</c:v>
                </c:pt>
                <c:pt idx="1">
                  <c:v>0.0068306010928961</c:v>
                </c:pt>
                <c:pt idx="2">
                  <c:v>0.0</c:v>
                </c:pt>
                <c:pt idx="3">
                  <c:v>0.05820693998880283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0.0%</c:formatCode>
                <c:ptCount val="4"/>
                <c:pt idx="0">
                  <c:v>0.0</c:v>
                </c:pt>
                <c:pt idx="1">
                  <c:v>0.1472391663489643</c:v>
                </c:pt>
                <c:pt idx="2">
                  <c:v>0.0</c:v>
                </c:pt>
                <c:pt idx="3">
                  <c:v>0.13043185958247258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0.0%</c:formatCode>
                <c:ptCount val="4"/>
                <c:pt idx="0">
                  <c:v>0.0215827338129496</c:v>
                </c:pt>
                <c:pt idx="1">
                  <c:v>0.1758720930232558</c:v>
                </c:pt>
                <c:pt idx="2">
                  <c:v>0.0</c:v>
                </c:pt>
                <c:pt idx="3">
                  <c:v>0.18794105823358717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0.0%</c:formatCode>
                <c:ptCount val="4"/>
                <c:pt idx="0">
                  <c:v>0.2290768967939105</c:v>
                </c:pt>
                <c:pt idx="1">
                  <c:v>0.14470053225269908</c:v>
                </c:pt>
                <c:pt idx="2">
                  <c:v>0.2082018927444795</c:v>
                </c:pt>
                <c:pt idx="3">
                  <c:v>0.11233046042078831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.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代替乗車率（(ii)のみ）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0.0258397932816537</c:v>
                </c:pt>
                <c:pt idx="1">
                  <c:v>0.0204603580562659</c:v>
                </c:pt>
                <c:pt idx="2">
                  <c:v>0.0298013245033112</c:v>
                </c:pt>
                <c:pt idx="3">
                  <c:v>0.0235798499464094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0.0345997671579067</c:v>
                </c:pt>
                <c:pt idx="1">
                  <c:v>0.029071101113747402</c:v>
                </c:pt>
                <c:pt idx="2">
                  <c:v>0.021096879089503102</c:v>
                </c:pt>
                <c:pt idx="3">
                  <c:v>0.008071979925005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0.006419929095015202</c:v>
                </c:pt>
                <c:pt idx="1">
                  <c:v>0.01368378144751315</c:v>
                </c:pt>
                <c:pt idx="2">
                  <c:v>0.016148128633161105</c:v>
                </c:pt>
                <c:pt idx="3">
                  <c:v>0.018136305721805905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0%</c:formatCode>
                <c:ptCount val="4"/>
                <c:pt idx="0">
                  <c:v>0.09354151297169</c:v>
                </c:pt>
                <c:pt idx="1">
                  <c:v>0.16721882082985534</c:v>
                </c:pt>
                <c:pt idx="2">
                  <c:v>0.017128751949108692</c:v>
                </c:pt>
                <c:pt idx="3">
                  <c:v>0.012863563435905903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0%</c:formatCode>
                <c:ptCount val="4"/>
                <c:pt idx="0">
                  <c:v>0.425091225473009</c:v>
                </c:pt>
                <c:pt idx="1">
                  <c:v>0.3773141225719887</c:v>
                </c:pt>
                <c:pt idx="2">
                  <c:v>0.164909164909165</c:v>
                </c:pt>
                <c:pt idx="3">
                  <c:v>0.44613950976208255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年間総費用（万円）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最小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232.49295454545455</c:v>
                </c:pt>
                <c:pt idx="1">
                  <c:v>328.2307775119617</c:v>
                </c:pt>
                <c:pt idx="2">
                  <c:v>210.44776315789474</c:v>
                </c:pt>
                <c:pt idx="3">
                  <c:v>386.43894736842094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最小〜25%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71.32738337320575</c:v>
                </c:pt>
                <c:pt idx="1">
                  <c:v>94.6355023923445</c:v>
                </c:pt>
                <c:pt idx="2">
                  <c:v>58.872505980861234</c:v>
                </c:pt>
                <c:pt idx="3">
                  <c:v>98.58781698564604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25%〜中央値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#,##0</c:formatCode>
                <c:ptCount val="4"/>
                <c:pt idx="0">
                  <c:v>56.61453050239237</c:v>
                </c:pt>
                <c:pt idx="1">
                  <c:v>155.20362440191388</c:v>
                </c:pt>
                <c:pt idx="2">
                  <c:v>26.589007177033523</c:v>
                </c:pt>
                <c:pt idx="3">
                  <c:v>115.98269736842104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中央値〜75%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#,##0</c:formatCode>
                <c:ptCount val="4"/>
                <c:pt idx="0">
                  <c:v>129.18113636363626</c:v>
                </c:pt>
                <c:pt idx="1">
                  <c:v>197.24807416267936</c:v>
                </c:pt>
                <c:pt idx="2">
                  <c:v>133.17859449760766</c:v>
                </c:pt>
                <c:pt idx="3">
                  <c:v>407.7716028708131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75%〜最大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#,##0</c:formatCode>
                <c:ptCount val="4"/>
                <c:pt idx="0">
                  <c:v>37.211303827751294</c:v>
                </c:pt>
                <c:pt idx="1">
                  <c:v>222.3276315789476</c:v>
                </c:pt>
                <c:pt idx="2">
                  <c:v>29.24395933014347</c:v>
                </c:pt>
                <c:pt idx="3">
                  <c:v>209.05397129186645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失敗率5%の最小台数（中央値、0＝未達）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代替乗車なし(i)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27.0</c:v>
                </c:pt>
                <c:pt idx="1">
                  <c:v>59.0</c:v>
                </c:pt>
                <c:pt idx="2">
                  <c:v>25.0</c:v>
                </c:pt>
                <c:pt idx="3">
                  <c:v>123.0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代替乗車あり(ii)</c:v>
                </c:pt>
              </c:strCache>
            </c:strRef>
          </c:tx>
          <c:spPr>
            <a:solidFill>
              <a:srgbClr val="808FB0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20.5</c:v>
                </c:pt>
                <c:pt idx="1">
                  <c:v>32.5</c:v>
                </c:pt>
                <c:pt idx="2">
                  <c:v>18.0</c:v>
                </c:pt>
                <c:pt idx="3">
                  <c:v>51.0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失敗率5%の最小台数（(i)・運用a、0＝未達）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18台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29.5</c:v>
                </c:pt>
                <c:pt idx="1">
                  <c:v>0</c:v>
                </c:pt>
                <c:pt idx="2">
                  <c:v>25.0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25台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27.0</c:v>
                </c:pt>
                <c:pt idx="1">
                  <c:v>59.0</c:v>
                </c:pt>
                <c:pt idx="2">
                  <c:v>25.0</c:v>
                </c:pt>
                <c:pt idx="3">
                  <c:v>123.0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32台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27.0</c:v>
                </c:pt>
                <c:pt idx="1">
                  <c:v>42.0</c:v>
                </c:pt>
                <c:pt idx="2">
                  <c:v>25.0</c:v>
                </c:pt>
                <c:pt idx="3">
                  <c:v>59.5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低位：自転車16＋キックボード11台（運用a）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利用希望（回/日）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Sheet1!$A$2:$A$31</c:f>
              <c:strCach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3.0</c:v>
                </c:pt>
                <c:pt idx="1">
                  <c:v>16.0</c:v>
                </c:pt>
                <c:pt idx="2">
                  <c:v>6.0</c:v>
                </c:pt>
                <c:pt idx="3">
                  <c:v>14.0</c:v>
                </c:pt>
                <c:pt idx="4">
                  <c:v>7.0</c:v>
                </c:pt>
                <c:pt idx="5">
                  <c:v>5.0</c:v>
                </c:pt>
                <c:pt idx="6">
                  <c:v>5.0</c:v>
                </c:pt>
                <c:pt idx="7">
                  <c:v>4.0</c:v>
                </c:pt>
                <c:pt idx="8">
                  <c:v>26.0</c:v>
                </c:pt>
                <c:pt idx="9">
                  <c:v>20.0</c:v>
                </c:pt>
                <c:pt idx="10">
                  <c:v>29.0</c:v>
                </c:pt>
                <c:pt idx="11">
                  <c:v>21.0</c:v>
                </c:pt>
                <c:pt idx="12">
                  <c:v>22.0</c:v>
                </c:pt>
                <c:pt idx="13">
                  <c:v>5.0</c:v>
                </c:pt>
                <c:pt idx="14">
                  <c:v>7.0</c:v>
                </c:pt>
                <c:pt idx="15">
                  <c:v>22.0</c:v>
                </c:pt>
                <c:pt idx="16">
                  <c:v>18.0</c:v>
                </c:pt>
                <c:pt idx="17">
                  <c:v>12.0</c:v>
                </c:pt>
                <c:pt idx="18">
                  <c:v>16.0</c:v>
                </c:pt>
                <c:pt idx="19">
                  <c:v>22.0</c:v>
                </c:pt>
                <c:pt idx="20">
                  <c:v>3.0</c:v>
                </c:pt>
                <c:pt idx="21">
                  <c:v>3.0</c:v>
                </c:pt>
                <c:pt idx="22">
                  <c:v>2.0</c:v>
                </c:pt>
                <c:pt idx="23">
                  <c:v>23.0</c:v>
                </c:pt>
                <c:pt idx="24">
                  <c:v>23.0</c:v>
                </c:pt>
                <c:pt idx="25">
                  <c:v>18.0</c:v>
                </c:pt>
                <c:pt idx="26">
                  <c:v>15.0</c:v>
                </c:pt>
                <c:pt idx="27">
                  <c:v>5.0</c:v>
                </c:pt>
                <c:pt idx="28">
                  <c:v>2.0</c:v>
                </c:pt>
                <c:pt idx="29">
                  <c:v>22.0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利用（回/日）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Sheet1!$A$2:$A$31</c:f>
              <c:strCach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3.0</c:v>
                </c:pt>
                <c:pt idx="1">
                  <c:v>16.0</c:v>
                </c:pt>
                <c:pt idx="2">
                  <c:v>6.0</c:v>
                </c:pt>
                <c:pt idx="3">
                  <c:v>14.0</c:v>
                </c:pt>
                <c:pt idx="4">
                  <c:v>7.0</c:v>
                </c:pt>
                <c:pt idx="5">
                  <c:v>5.0</c:v>
                </c:pt>
                <c:pt idx="6">
                  <c:v>5.0</c:v>
                </c:pt>
                <c:pt idx="7">
                  <c:v>4.0</c:v>
                </c:pt>
                <c:pt idx="8">
                  <c:v>23.0</c:v>
                </c:pt>
                <c:pt idx="9">
                  <c:v>17.0</c:v>
                </c:pt>
                <c:pt idx="10">
                  <c:v>19.0</c:v>
                </c:pt>
                <c:pt idx="11">
                  <c:v>19.0</c:v>
                </c:pt>
                <c:pt idx="12">
                  <c:v>20.0</c:v>
                </c:pt>
                <c:pt idx="13">
                  <c:v>5.0</c:v>
                </c:pt>
                <c:pt idx="14">
                  <c:v>7.0</c:v>
                </c:pt>
                <c:pt idx="15">
                  <c:v>22.0</c:v>
                </c:pt>
                <c:pt idx="16">
                  <c:v>18.0</c:v>
                </c:pt>
                <c:pt idx="17">
                  <c:v>12.0</c:v>
                </c:pt>
                <c:pt idx="18">
                  <c:v>15.0</c:v>
                </c:pt>
                <c:pt idx="19">
                  <c:v>22.0</c:v>
                </c:pt>
                <c:pt idx="20">
                  <c:v>3.0</c:v>
                </c:pt>
                <c:pt idx="21">
                  <c:v>3.0</c:v>
                </c:pt>
                <c:pt idx="22">
                  <c:v>2.0</c:v>
                </c:pt>
                <c:pt idx="23">
                  <c:v>23.0</c:v>
                </c:pt>
                <c:pt idx="24">
                  <c:v>23.0</c:v>
                </c:pt>
                <c:pt idx="25">
                  <c:v>18.0</c:v>
                </c:pt>
                <c:pt idx="26">
                  <c:v>15.0</c:v>
                </c:pt>
                <c:pt idx="27">
                  <c:v>5.0</c:v>
                </c:pt>
                <c:pt idx="28">
                  <c:v>2.0</c:v>
                </c:pt>
                <c:pt idx="29">
                  <c:v>14.0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高位：自転車26＋キックボード16台（運用a）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利用希望（回/日）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Sheet1!$A$2:$A$31</c:f>
              <c:strCach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6.0</c:v>
                </c:pt>
                <c:pt idx="1">
                  <c:v>43.0</c:v>
                </c:pt>
                <c:pt idx="2">
                  <c:v>5.0</c:v>
                </c:pt>
                <c:pt idx="3">
                  <c:v>41.0</c:v>
                </c:pt>
                <c:pt idx="4">
                  <c:v>10.0</c:v>
                </c:pt>
                <c:pt idx="5">
                  <c:v>10.0</c:v>
                </c:pt>
                <c:pt idx="6">
                  <c:v>11.0</c:v>
                </c:pt>
                <c:pt idx="7">
                  <c:v>9.0</c:v>
                </c:pt>
                <c:pt idx="8">
                  <c:v>53.0</c:v>
                </c:pt>
                <c:pt idx="9">
                  <c:v>40.0</c:v>
                </c:pt>
                <c:pt idx="10">
                  <c:v>57.0</c:v>
                </c:pt>
                <c:pt idx="11">
                  <c:v>45.0</c:v>
                </c:pt>
                <c:pt idx="12">
                  <c:v>38.0</c:v>
                </c:pt>
                <c:pt idx="13">
                  <c:v>11.0</c:v>
                </c:pt>
                <c:pt idx="14">
                  <c:v>5.0</c:v>
                </c:pt>
                <c:pt idx="15">
                  <c:v>39.0</c:v>
                </c:pt>
                <c:pt idx="16">
                  <c:v>32.0</c:v>
                </c:pt>
                <c:pt idx="17">
                  <c:v>43.0</c:v>
                </c:pt>
                <c:pt idx="18">
                  <c:v>38.0</c:v>
                </c:pt>
                <c:pt idx="19">
                  <c:v>56.0</c:v>
                </c:pt>
                <c:pt idx="20">
                  <c:v>1.0</c:v>
                </c:pt>
                <c:pt idx="21">
                  <c:v>7.0</c:v>
                </c:pt>
                <c:pt idx="22">
                  <c:v>1.0</c:v>
                </c:pt>
                <c:pt idx="23">
                  <c:v>46.0</c:v>
                </c:pt>
                <c:pt idx="24">
                  <c:v>45.0</c:v>
                </c:pt>
                <c:pt idx="25">
                  <c:v>43.0</c:v>
                </c:pt>
                <c:pt idx="26">
                  <c:v>54.0</c:v>
                </c:pt>
                <c:pt idx="27">
                  <c:v>15.0</c:v>
                </c:pt>
                <c:pt idx="28">
                  <c:v>6.0</c:v>
                </c:pt>
                <c:pt idx="29">
                  <c:v>29.0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利用（回/日）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Sheet1!$A$2:$A$31</c:f>
              <c:strCach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6.0</c:v>
                </c:pt>
                <c:pt idx="1">
                  <c:v>42.0</c:v>
                </c:pt>
                <c:pt idx="2">
                  <c:v>5.0</c:v>
                </c:pt>
                <c:pt idx="3">
                  <c:v>41.0</c:v>
                </c:pt>
                <c:pt idx="4">
                  <c:v>10.0</c:v>
                </c:pt>
                <c:pt idx="5">
                  <c:v>10.0</c:v>
                </c:pt>
                <c:pt idx="6">
                  <c:v>11.0</c:v>
                </c:pt>
                <c:pt idx="7">
                  <c:v>9.0</c:v>
                </c:pt>
                <c:pt idx="8">
                  <c:v>50.0</c:v>
                </c:pt>
                <c:pt idx="9">
                  <c:v>34.0</c:v>
                </c:pt>
                <c:pt idx="10">
                  <c:v>56.0</c:v>
                </c:pt>
                <c:pt idx="11">
                  <c:v>43.0</c:v>
                </c:pt>
                <c:pt idx="12">
                  <c:v>36.0</c:v>
                </c:pt>
                <c:pt idx="13">
                  <c:v>11.0</c:v>
                </c:pt>
                <c:pt idx="14">
                  <c:v>5.0</c:v>
                </c:pt>
                <c:pt idx="15">
                  <c:v>38.0</c:v>
                </c:pt>
                <c:pt idx="16">
                  <c:v>32.0</c:v>
                </c:pt>
                <c:pt idx="17">
                  <c:v>43.0</c:v>
                </c:pt>
                <c:pt idx="18">
                  <c:v>38.0</c:v>
                </c:pt>
                <c:pt idx="19">
                  <c:v>50.0</c:v>
                </c:pt>
                <c:pt idx="20">
                  <c:v>1.0</c:v>
                </c:pt>
                <c:pt idx="21">
                  <c:v>7.0</c:v>
                </c:pt>
                <c:pt idx="22">
                  <c:v>1.0</c:v>
                </c:pt>
                <c:pt idx="23">
                  <c:v>43.0</c:v>
                </c:pt>
                <c:pt idx="24">
                  <c:v>41.0</c:v>
                </c:pt>
                <c:pt idx="25">
                  <c:v>42.0</c:v>
                </c:pt>
                <c:pt idx="26">
                  <c:v>51.0</c:v>
                </c:pt>
                <c:pt idx="27">
                  <c:v>15.0</c:v>
                </c:pt>
                <c:pt idx="28">
                  <c:v>6.0</c:v>
                </c:pt>
                <c:pt idx="29">
                  <c:v>29.0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年間費用の内訳（万円、中央値）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車両（償却）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135.0</c:v>
                </c:pt>
                <c:pt idx="1">
                  <c:v>210.0</c:v>
                </c:pt>
                <c:pt idx="2">
                  <c:v>125.0</c:v>
                </c:pt>
                <c:pt idx="3">
                  <c:v>297.5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車両維持</c:v>
                </c:pt>
              </c:strCache>
            </c:strRef>
          </c:tx>
          <c:spPr>
            <a:solidFill>
              <a:srgbClr val="808FB0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40.5</c:v>
                </c:pt>
                <c:pt idx="1">
                  <c:v>63.0</c:v>
                </c:pt>
                <c:pt idx="2">
                  <c:v>37.5</c:v>
                </c:pt>
                <c:pt idx="3">
                  <c:v>89.25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ポート（償却）</c:v>
                </c:pt>
              </c:strCache>
            </c:strRef>
          </c:tx>
          <c:spPr>
            <a:solidFill>
              <a:srgbClr val="086B89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Sheet1!$D$2:$D$5</c:f>
              <c:numCache>
                <c:formatCode>#,##0</c:formatCode>
                <c:ptCount val="4"/>
                <c:pt idx="0">
                  <c:v>20.0</c:v>
                </c:pt>
                <c:pt idx="1">
                  <c:v>20.0</c:v>
                </c:pt>
                <c:pt idx="2">
                  <c:v>20.0</c:v>
                </c:pt>
                <c:pt idx="3">
                  <c:v>20.0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用地</c:v>
                </c:pt>
              </c:strCache>
            </c:strRef>
          </c:tx>
          <c:spPr>
            <a:solidFill>
              <a:srgbClr val="ABB5CA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Sheet1!$E$2:$E$5</c:f>
              <c:numCache>
                <c:formatCode>#,##0</c:formatCode>
                <c:ptCount val="4"/>
                <c:pt idx="0">
                  <c:v>43.56</c:v>
                </c:pt>
                <c:pt idx="1">
                  <c:v>61.56</c:v>
                </c:pt>
                <c:pt idx="2">
                  <c:v>36.0</c:v>
                </c:pt>
                <c:pt idx="3">
                  <c:v>73.08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人件費（リバランス）</c:v>
                </c:pt>
              </c:strCache>
            </c:strRef>
          </c:tx>
          <c:spPr>
            <a:solidFill>
              <a:srgbClr val="5D5491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Sheet1!$F$2:$F$5</c:f>
              <c:numCache>
                <c:formatCode>#,##0</c:formatCode>
                <c:ptCount val="4"/>
                <c:pt idx="0">
                  <c:v>42.415669856459324</c:v>
                </c:pt>
                <c:pt idx="1">
                  <c:v>50.130921052631585</c:v>
                </c:pt>
                <c:pt idx="2">
                  <c:v>39.75508373205742</c:v>
                </c:pt>
                <c:pt idx="3">
                  <c:v>64.10302033492823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軽トラック</c:v>
                </c:pt>
              </c:strCache>
            </c:strRef>
          </c:tx>
          <c:spPr>
            <a:solidFill>
              <a:srgbClr val="C9CFDC"/>
            </a:solidFill>
          </c:spPr>
          <c:cat>
            <c:strRef>
              <c:f>Sheet1!$A$2:$A$5</c:f>
              <c:strCache>
                <c:ptCount val="4"/>
                <c:pt idx="0">
                  <c:v>低位</c:v>
                </c:pt>
                <c:pt idx="1">
                  <c:v>高位</c:v>
                </c:pt>
                <c:pt idx="2">
                  <c:v>旧10%</c:v>
                </c:pt>
                <c:pt idx="3">
                  <c:v>旧30%</c:v>
                </c:pt>
              </c:strCache>
            </c:strRef>
          </c:cat>
          <c:val>
            <c:numRef>
              <c:f>Sheet1!$G$2:$G$5</c:f>
              <c:numCache>
                <c:formatCode>#,##0</c:formatCode>
                <c:ptCount val="4"/>
                <c:pt idx="0">
                  <c:v>17.97727272727273</c:v>
                </c:pt>
                <c:pt idx="1">
                  <c:v>18.25</c:v>
                </c:pt>
                <c:pt idx="2">
                  <c:v>17.704545454545457</c:v>
                </c:pt>
                <c:pt idx="3">
                  <c:v>18.25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最小台数の増減（台）　基準 34台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下限の値のとき</c:v>
                </c:pt>
              </c:strCache>
            </c:strRef>
          </c:tx>
          <c:spPr>
            <a:solidFill>
              <a:srgbClr val="808FB0"/>
            </a:solidFill>
          </c:spPr>
          <c:cat>
            <c:strRef>
              <c:f>Sheet1!$A$2:$A$6</c:f>
              <c:strCache>
                <c:ptCount val="5"/>
                <c:pt idx="0">
                  <c:v>手続き時間（秒）
30秒〜120秒</c:v>
                </c:pt>
                <c:pt idx="1">
                  <c:v>歩行速度（km/h）
4.0〜5.5</c:v>
                </c:pt>
                <c:pt idx="2">
                  <c:v>自転車の比率
50%〜70%</c:v>
                </c:pt>
                <c:pt idx="3">
                  <c:v>需要（転換率）
12%〜24%</c:v>
                </c:pt>
                <c:pt idx="4">
                  <c:v>駅ポート容量
18台〜32台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0.0</c:v>
                </c:pt>
                <c:pt idx="1">
                  <c:v>2.0</c:v>
                </c:pt>
                <c:pt idx="2">
                  <c:v>0.0</c:v>
                </c:pt>
                <c:pt idx="3">
                  <c:v>-5.0</c:v>
                </c:pt>
                <c:pt idx="4">
                  <c:v>47.0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上限の値のとき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Sheet1!$A$2:$A$6</c:f>
              <c:strCache>
                <c:ptCount val="5"/>
                <c:pt idx="0">
                  <c:v>手続き時間（秒）
30秒〜120秒</c:v>
                </c:pt>
                <c:pt idx="1">
                  <c:v>歩行速度（km/h）
4.0〜5.5</c:v>
                </c:pt>
                <c:pt idx="2">
                  <c:v>自転車の比率
50%〜70%</c:v>
                </c:pt>
                <c:pt idx="3">
                  <c:v>需要（転換率）
12%〜24%</c:v>
                </c:pt>
                <c:pt idx="4">
                  <c:v>駅ポート容量
18台〜32台</c:v>
                </c:pt>
              </c:strCache>
            </c:strRef>
          </c:cat>
          <c:val>
            <c:numRef>
              <c:f>Sheet1!$C$2:$C$6</c:f>
              <c:numCache>
                <c:formatCode>0</c:formatCode>
                <c:ptCount val="5"/>
                <c:pt idx="0">
                  <c:v>0.0</c:v>
                </c:pt>
                <c:pt idx="1">
                  <c:v>1.0</c:v>
                </c:pt>
                <c:pt idx="2">
                  <c:v>4.0</c:v>
                </c:pt>
                <c:pt idx="3">
                  <c:v>27.0</c:v>
                </c:pt>
                <c:pt idx="4">
                  <c:v>-1.0</c:v>
                </c:pt>
              </c:numCache>
            </c:numRef>
          </c:val>
        </c:ser>
        <c:dLbls>
          <c:numFmt formatCode="+0;-0;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A2F81"/>
                </a:solidFill>
                <a:latin typeface="たづがね角ゴシック Info Bold"/>
              </a:rPr>
              <a:t>年間総費用の増減（万円）　基準 356万円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下限の値のとき</c:v>
                </c:pt>
              </c:strCache>
            </c:strRef>
          </c:tx>
          <c:spPr>
            <a:solidFill>
              <a:srgbClr val="808FB0"/>
            </a:solidFill>
          </c:spPr>
          <c:cat>
            <c:strRef>
              <c:f>Sheet1!$A$2:$A$9</c:f>
              <c:strCache>
                <c:ptCount val="8"/>
                <c:pt idx="0">
                  <c:v>手続き時間（秒）
30秒〜120秒</c:v>
                </c:pt>
                <c:pt idx="1">
                  <c:v>歩行速度（km/h）
4.0〜5.5</c:v>
                </c:pt>
                <c:pt idx="2">
                  <c:v>軽トラック費
×0.5〜×2</c:v>
                </c:pt>
                <c:pt idx="3">
                  <c:v>ポート初期費用
×0.5〜×2</c:v>
                </c:pt>
                <c:pt idx="4">
                  <c:v>自転車の比率
50%〜70%</c:v>
                </c:pt>
                <c:pt idx="5">
                  <c:v>車両単価
×0.7〜×1.3</c:v>
                </c:pt>
                <c:pt idx="6">
                  <c:v>需要（転換率）
12%〜24%</c:v>
                </c:pt>
                <c:pt idx="7">
                  <c:v>駅ポート容量
18台〜32台</c:v>
                </c:pt>
              </c:strCache>
            </c:strRef>
          </c:cat>
          <c:val>
            <c:numRef>
              <c:f>Sheet1!$B$2:$B$9</c:f>
              <c:numCache>
                <c:formatCode>0</c:formatCode>
                <c:ptCount val="8"/>
                <c:pt idx="0">
                  <c:v>0.0</c:v>
                </c:pt>
                <c:pt idx="1">
                  <c:v>7.411303827751196</c:v>
                </c:pt>
                <c:pt idx="2">
                  <c:v>-9.125</c:v>
                </c:pt>
                <c:pt idx="3">
                  <c:v>-10.0</c:v>
                </c:pt>
                <c:pt idx="4">
                  <c:v>-4.413026315789437</c:v>
                </c:pt>
                <c:pt idx="5">
                  <c:v>-51.0</c:v>
                </c:pt>
                <c:pt idx="6">
                  <c:v>-47.4089593301435</c:v>
                </c:pt>
                <c:pt idx="7">
                  <c:v>364.86047846889954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上限の値のとき</c:v>
                </c:pt>
              </c:strCache>
            </c:strRef>
          </c:tx>
          <c:spPr>
            <a:solidFill>
              <a:srgbClr val="1A2F81"/>
            </a:solidFill>
          </c:spPr>
          <c:cat>
            <c:strRef>
              <c:f>Sheet1!$A$2:$A$9</c:f>
              <c:strCache>
                <c:ptCount val="8"/>
                <c:pt idx="0">
                  <c:v>手続き時間（秒）
30秒〜120秒</c:v>
                </c:pt>
                <c:pt idx="1">
                  <c:v>歩行速度（km/h）
4.0〜5.5</c:v>
                </c:pt>
                <c:pt idx="2">
                  <c:v>軽トラック費
×0.5〜×2</c:v>
                </c:pt>
                <c:pt idx="3">
                  <c:v>ポート初期費用
×0.5〜×2</c:v>
                </c:pt>
                <c:pt idx="4">
                  <c:v>自転車の比率
50%〜70%</c:v>
                </c:pt>
                <c:pt idx="5">
                  <c:v>車両単価
×0.7〜×1.3</c:v>
                </c:pt>
                <c:pt idx="6">
                  <c:v>需要（転換率）
12%〜24%</c:v>
                </c:pt>
                <c:pt idx="7">
                  <c:v>駅ポート容量
18台〜32台</c:v>
                </c:pt>
              </c:strCache>
            </c:strRef>
          </c:cat>
          <c:val>
            <c:numRef>
              <c:f>Sheet1!$C$2:$C$9</c:f>
              <c:numCache>
                <c:formatCode>0</c:formatCode>
                <c:ptCount val="8"/>
                <c:pt idx="0">
                  <c:v>0.0</c:v>
                </c:pt>
                <c:pt idx="1">
                  <c:v>8.381267942583747</c:v>
                </c:pt>
                <c:pt idx="2">
                  <c:v>18.25</c:v>
                </c:pt>
                <c:pt idx="3">
                  <c:v>20.0</c:v>
                </c:pt>
                <c:pt idx="4">
                  <c:v>27.44655502392347</c:v>
                </c:pt>
                <c:pt idx="5">
                  <c:v>51.0</c:v>
                </c:pt>
                <c:pt idx="6">
                  <c:v>212.1494497607656</c:v>
                </c:pt>
                <c:pt idx="7">
                  <c:v>-3.6628229665071705</c:v>
                </c:pt>
              </c:numCache>
            </c:numRef>
          </c:val>
        </c:ser>
        <c:dLbls>
          <c:numFmt formatCode="+0;-0;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ABB5CA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3E6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66A95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010817"/>
          </a:solidFill>
          <a:latin typeface="たづがね角ゴシック Inf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svg"/><Relationship Id="rId4" Type="http://schemas.openxmlformats.org/officeDocument/2006/relationships/image" Target="../media/image10.png"/><Relationship Id="rId5" Type="http://schemas.openxmlformats.org/officeDocument/2006/relationships/image" Target="../media/image11.svg"/><Relationship Id="rId6" Type="http://schemas.openxmlformats.org/officeDocument/2006/relationships/image" Target="../media/image12.png"/><Relationship Id="rId7" Type="http://schemas.openxmlformats.org/officeDocument/2006/relationships/image" Target="../media/image13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2.xml"/><Relationship Id="rId5" Type="http://schemas.openxmlformats.org/officeDocument/2006/relationships/chart" Target="../charts/char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chart" Target="../charts/chart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sp>
        <p:nvSpPr>
          <p:cNvPr name="AutoShape 2" id="2"/>
          <p:cNvSpPr/>
          <p:nvPr/>
        </p:nvSpPr>
        <p:spPr>
          <a:xfrm>
            <a:off x="1047750" y="8789779"/>
            <a:ext cx="16192500" cy="0"/>
          </a:xfrm>
          <a:prstGeom prst="line">
            <a:avLst/>
          </a:prstGeom>
          <a:ln cap="rnd" w="19050">
            <a:solidFill>
              <a:srgbClr val="01081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1047750" y="5701081"/>
            <a:ext cx="6194522" cy="651527"/>
            <a:chOff x="0" y="0"/>
            <a:chExt cx="1631479" cy="17159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31479" cy="171596"/>
            </a:xfrm>
            <a:custGeom>
              <a:avLst/>
              <a:gdLst/>
              <a:ahLst/>
              <a:cxnLst/>
              <a:rect r="r" b="b" t="t" l="l"/>
              <a:pathLst>
                <a:path h="171596" w="1631479">
                  <a:moveTo>
                    <a:pt x="0" y="0"/>
                  </a:moveTo>
                  <a:lnTo>
                    <a:pt x="1631479" y="0"/>
                  </a:lnTo>
                  <a:lnTo>
                    <a:pt x="1631479" y="171596"/>
                  </a:lnTo>
                  <a:lnTo>
                    <a:pt x="0" y="171596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114300"/>
              <a:ext cx="1631479" cy="2858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028700" y="1047750"/>
            <a:ext cx="770312" cy="521011"/>
          </a:xfrm>
          <a:custGeom>
            <a:avLst/>
            <a:gdLst/>
            <a:ahLst/>
            <a:cxnLst/>
            <a:rect r="r" b="b" t="t" l="l"/>
            <a:pathLst>
              <a:path h="521011" w="770312">
                <a:moveTo>
                  <a:pt x="0" y="0"/>
                </a:moveTo>
                <a:lnTo>
                  <a:pt x="770312" y="0"/>
                </a:lnTo>
                <a:lnTo>
                  <a:pt x="770312" y="521011"/>
                </a:lnTo>
                <a:lnTo>
                  <a:pt x="0" y="5210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6063860" y="1112112"/>
            <a:ext cx="189410" cy="189410"/>
            <a:chOff x="0" y="0"/>
            <a:chExt cx="81040" cy="810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040" cy="81040"/>
            </a:xfrm>
            <a:custGeom>
              <a:avLst/>
              <a:gdLst/>
              <a:ahLst/>
              <a:cxnLst/>
              <a:rect r="r" b="b" t="t" l="l"/>
              <a:pathLst>
                <a:path h="81040" w="81040">
                  <a:moveTo>
                    <a:pt x="0" y="0"/>
                  </a:moveTo>
                  <a:lnTo>
                    <a:pt x="81040" y="0"/>
                  </a:lnTo>
                  <a:lnTo>
                    <a:pt x="81040" y="81040"/>
                  </a:lnTo>
                  <a:lnTo>
                    <a:pt x="0" y="81040"/>
                  </a:lnTo>
                  <a:close/>
                </a:path>
              </a:pathLst>
            </a:custGeom>
            <a:solidFill>
              <a:srgbClr val="ABB5CA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76200"/>
              <a:ext cx="81040" cy="157240"/>
            </a:xfrm>
            <a:prstGeom prst="rect">
              <a:avLst/>
            </a:prstGeom>
          </p:spPr>
          <p:txBody>
            <a:bodyPr anchor="ctr" rtlCol="false" tIns="77068" lIns="77068" bIns="77068" rIns="77068"/>
            <a:lstStyle/>
            <a:p>
              <a:pPr algn="ctr" marL="0" indent="0" lvl="0">
                <a:lnSpc>
                  <a:spcPts val="12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393263" y="1112112"/>
            <a:ext cx="189410" cy="189410"/>
            <a:chOff x="0" y="0"/>
            <a:chExt cx="81040" cy="81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040" cy="81040"/>
            </a:xfrm>
            <a:custGeom>
              <a:avLst/>
              <a:gdLst/>
              <a:ahLst/>
              <a:cxnLst/>
              <a:rect r="r" b="b" t="t" l="l"/>
              <a:pathLst>
                <a:path h="81040" w="81040">
                  <a:moveTo>
                    <a:pt x="0" y="0"/>
                  </a:moveTo>
                  <a:lnTo>
                    <a:pt x="81040" y="0"/>
                  </a:lnTo>
                  <a:lnTo>
                    <a:pt x="81040" y="81040"/>
                  </a:lnTo>
                  <a:lnTo>
                    <a:pt x="0" y="81040"/>
                  </a:lnTo>
                  <a:close/>
                </a:path>
              </a:pathLst>
            </a:custGeom>
            <a:solidFill>
              <a:srgbClr val="808FB0"/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81040" cy="157240"/>
            </a:xfrm>
            <a:prstGeom prst="rect">
              <a:avLst/>
            </a:prstGeom>
          </p:spPr>
          <p:txBody>
            <a:bodyPr anchor="ctr" rtlCol="false" tIns="77068" lIns="77068" bIns="77068" rIns="77068"/>
            <a:lstStyle/>
            <a:p>
              <a:pPr algn="ctr" marL="0" indent="0" lvl="0">
                <a:lnSpc>
                  <a:spcPts val="12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6722667" y="1112112"/>
            <a:ext cx="189410" cy="189410"/>
            <a:chOff x="0" y="0"/>
            <a:chExt cx="81040" cy="810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040" cy="81040"/>
            </a:xfrm>
            <a:custGeom>
              <a:avLst/>
              <a:gdLst/>
              <a:ahLst/>
              <a:cxnLst/>
              <a:rect r="r" b="b" t="t" l="l"/>
              <a:pathLst>
                <a:path h="81040" w="81040">
                  <a:moveTo>
                    <a:pt x="0" y="0"/>
                  </a:moveTo>
                  <a:lnTo>
                    <a:pt x="81040" y="0"/>
                  </a:lnTo>
                  <a:lnTo>
                    <a:pt x="81040" y="81040"/>
                  </a:lnTo>
                  <a:lnTo>
                    <a:pt x="0" y="81040"/>
                  </a:lnTo>
                  <a:close/>
                </a:path>
              </a:pathLst>
            </a:custGeom>
            <a:solidFill>
              <a:srgbClr val="566A95"/>
            </a:solidFill>
            <a:ln cap="sq">
              <a:noFill/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81040" cy="157240"/>
            </a:xfrm>
            <a:prstGeom prst="rect">
              <a:avLst/>
            </a:prstGeom>
          </p:spPr>
          <p:txBody>
            <a:bodyPr anchor="ctr" rtlCol="false" tIns="77068" lIns="77068" bIns="77068" rIns="77068"/>
            <a:lstStyle/>
            <a:p>
              <a:pPr algn="ctr" marL="0" indent="0" lvl="0">
                <a:lnSpc>
                  <a:spcPts val="12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7052071" y="1112112"/>
            <a:ext cx="189410" cy="189410"/>
            <a:chOff x="0" y="0"/>
            <a:chExt cx="81040" cy="810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040" cy="81040"/>
            </a:xfrm>
            <a:custGeom>
              <a:avLst/>
              <a:gdLst/>
              <a:ahLst/>
              <a:cxnLst/>
              <a:rect r="r" b="b" t="t" l="l"/>
              <a:pathLst>
                <a:path h="81040" w="81040">
                  <a:moveTo>
                    <a:pt x="0" y="0"/>
                  </a:moveTo>
                  <a:lnTo>
                    <a:pt x="81040" y="0"/>
                  </a:lnTo>
                  <a:lnTo>
                    <a:pt x="81040" y="81040"/>
                  </a:lnTo>
                  <a:lnTo>
                    <a:pt x="0" y="81040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76200"/>
              <a:ext cx="81040" cy="157240"/>
            </a:xfrm>
            <a:prstGeom prst="rect">
              <a:avLst/>
            </a:prstGeom>
          </p:spPr>
          <p:txBody>
            <a:bodyPr anchor="ctr" rtlCol="false" tIns="77068" lIns="77068" bIns="77068" rIns="77068"/>
            <a:lstStyle/>
            <a:p>
              <a:pPr algn="ctr" marL="0" indent="0" lvl="0">
                <a:lnSpc>
                  <a:spcPts val="12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13045004" y="4212349"/>
            <a:ext cx="4195246" cy="4411827"/>
          </a:xfrm>
          <a:custGeom>
            <a:avLst/>
            <a:gdLst/>
            <a:ahLst/>
            <a:cxnLst/>
            <a:rect r="r" b="b" t="t" l="l"/>
            <a:pathLst>
              <a:path h="4411827" w="4195246">
                <a:moveTo>
                  <a:pt x="0" y="0"/>
                </a:moveTo>
                <a:lnTo>
                  <a:pt x="4195246" y="0"/>
                </a:lnTo>
                <a:lnTo>
                  <a:pt x="4195246" y="4411827"/>
                </a:lnTo>
                <a:lnTo>
                  <a:pt x="0" y="44118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20" id="20"/>
          <p:cNvSpPr txBox="true"/>
          <p:nvPr/>
        </p:nvSpPr>
        <p:spPr>
          <a:xfrm rot="0">
            <a:off x="1990456" y="1091085"/>
            <a:ext cx="6677294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南栗橋BLP街区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3159336"/>
            <a:ext cx="9265586" cy="2351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584"/>
              </a:lnSpc>
              <a:spcBef>
                <a:spcPct val="0"/>
              </a:spcBef>
            </a:pPr>
            <a:r>
              <a:rPr lang="en-US" b="true" sz="9703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検討報告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47750" y="2476832"/>
            <a:ext cx="9265586" cy="14042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150"/>
              </a:lnSpc>
              <a:spcBef>
                <a:spcPct val="0"/>
              </a:spcBef>
            </a:pPr>
            <a:r>
              <a:rPr lang="en-US" b="true" sz="5822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モビリティシェア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10859" y="5549325"/>
            <a:ext cx="6106403" cy="697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b="true" sz="2900">
                <a:solidFill>
                  <a:srgbClr val="F7F8F9"/>
                </a:solidFill>
                <a:latin typeface="たづがね角ゴシック Info Semi-Bold"/>
                <a:ea typeface="たづがね角ゴシック Info Semi-Bold"/>
                <a:cs typeface="たづがね角ゴシック Info Semi-Bold"/>
                <a:sym typeface="たづがね角ゴシック Info Semi-Bold"/>
              </a:rPr>
              <a:t>配置・運用・費用の検討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765903" y="8834755"/>
            <a:ext cx="3474720" cy="404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sz="1700" strike="noStrike" u="none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作成日：2026年10月14日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47750" y="8834755"/>
            <a:ext cx="2246964" cy="404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80"/>
              </a:lnSpc>
              <a:spcBef>
                <a:spcPct val="0"/>
              </a:spcBef>
            </a:pPr>
            <a:r>
              <a:rPr lang="en-US" sz="17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作成：検討チーム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47750" y="6529792"/>
            <a:ext cx="7620000" cy="818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全72条件×10回のシミュレーション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grpSp>
        <p:nvGrpSpPr>
          <p:cNvPr name="Group 18" id="18"/>
          <p:cNvGrpSpPr/>
          <p:nvPr/>
        </p:nvGrpSpPr>
        <p:grpSpPr>
          <a:xfrm rot="0">
            <a:off x="6680200" y="3048055"/>
            <a:ext cx="4908550" cy="6191195"/>
            <a:chOff x="0" y="0"/>
            <a:chExt cx="1292787" cy="163060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92787" cy="1630603"/>
            </a:xfrm>
            <a:custGeom>
              <a:avLst/>
              <a:gdLst/>
              <a:ahLst/>
              <a:cxnLst/>
              <a:rect r="r" b="b" t="t" l="l"/>
              <a:pathLst>
                <a:path h="1630603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1630603"/>
                  </a:lnTo>
                  <a:lnTo>
                    <a:pt x="0" y="1630603"/>
                  </a:lnTo>
                  <a:close/>
                </a:path>
              </a:pathLst>
            </a:custGeom>
            <a:ln w="19050" cap="sq">
              <a:solidFill>
                <a:srgbClr val="086B89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200025"/>
              <a:ext cx="1292787" cy="18306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331700" y="3048055"/>
            <a:ext cx="4908550" cy="6191195"/>
            <a:chOff x="0" y="0"/>
            <a:chExt cx="1292787" cy="163060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92787" cy="1630603"/>
            </a:xfrm>
            <a:custGeom>
              <a:avLst/>
              <a:gdLst/>
              <a:ahLst/>
              <a:cxnLst/>
              <a:rect r="r" b="b" t="t" l="l"/>
              <a:pathLst>
                <a:path h="1630603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1630603"/>
                  </a:lnTo>
                  <a:lnTo>
                    <a:pt x="0" y="1630603"/>
                  </a:lnTo>
                  <a:close/>
                </a:path>
              </a:pathLst>
            </a:custGeom>
            <a:ln w="19050" cap="sq">
              <a:solidFill>
                <a:srgbClr val="5D5491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00025"/>
              <a:ext cx="1292787" cy="18306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2712859" y="3390928"/>
            <a:ext cx="4146232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0"/>
              </a:lnSpc>
              <a:spcBef>
                <a:spcPct val="0"/>
              </a:spcBef>
            </a:pPr>
            <a:r>
              <a:rPr lang="en-US" b="true" sz="1900">
                <a:solidFill>
                  <a:srgbClr val="5D549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OPERATION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712859" y="4760638"/>
            <a:ext cx="4146232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5D549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駅ポート・運用・費用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712859" y="6251603"/>
            <a:ext cx="4146232" cy="2606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低位：駅25台・年間297万円</a:t>
            </a:r>
          </a:p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高位：駅32台・年間424万円</a:t>
            </a:r>
          </a:p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日中の再配置（b・c）は台数・費用とも増える。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2712859" y="5622417"/>
            <a:ext cx="4146232" cy="535121"/>
            <a:chOff x="0" y="0"/>
            <a:chExt cx="1092012" cy="140937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92012" cy="140937"/>
            </a:xfrm>
            <a:custGeom>
              <a:avLst/>
              <a:gdLst/>
              <a:ahLst/>
              <a:cxnLst/>
              <a:rect r="r" b="b" t="t" l="l"/>
              <a:pathLst>
                <a:path h="140937" w="1092012">
                  <a:moveTo>
                    <a:pt x="70469" y="0"/>
                  </a:moveTo>
                  <a:lnTo>
                    <a:pt x="1021543" y="0"/>
                  </a:lnTo>
                  <a:cubicBezTo>
                    <a:pt x="1040233" y="0"/>
                    <a:pt x="1058157" y="7424"/>
                    <a:pt x="1071372" y="20640"/>
                  </a:cubicBezTo>
                  <a:cubicBezTo>
                    <a:pt x="1084587" y="33855"/>
                    <a:pt x="1092012" y="51779"/>
                    <a:pt x="1092012" y="70469"/>
                  </a:cubicBezTo>
                  <a:lnTo>
                    <a:pt x="1092012" y="70469"/>
                  </a:lnTo>
                  <a:cubicBezTo>
                    <a:pt x="1092012" y="89158"/>
                    <a:pt x="1084587" y="107082"/>
                    <a:pt x="1071372" y="120297"/>
                  </a:cubicBezTo>
                  <a:cubicBezTo>
                    <a:pt x="1058157" y="133513"/>
                    <a:pt x="1040233" y="140937"/>
                    <a:pt x="1021543" y="140937"/>
                  </a:cubicBezTo>
                  <a:lnTo>
                    <a:pt x="70469" y="140937"/>
                  </a:lnTo>
                  <a:cubicBezTo>
                    <a:pt x="51779" y="140937"/>
                    <a:pt x="33855" y="133513"/>
                    <a:pt x="20640" y="120297"/>
                  </a:cubicBezTo>
                  <a:cubicBezTo>
                    <a:pt x="7424" y="107082"/>
                    <a:pt x="0" y="89158"/>
                    <a:pt x="0" y="70469"/>
                  </a:cubicBezTo>
                  <a:lnTo>
                    <a:pt x="0" y="70469"/>
                  </a:lnTo>
                  <a:cubicBezTo>
                    <a:pt x="0" y="51779"/>
                    <a:pt x="7424" y="33855"/>
                    <a:pt x="20640" y="20640"/>
                  </a:cubicBezTo>
                  <a:cubicBezTo>
                    <a:pt x="33855" y="7424"/>
                    <a:pt x="51779" y="0"/>
                    <a:pt x="70469" y="0"/>
                  </a:cubicBezTo>
                  <a:close/>
                </a:path>
              </a:pathLst>
            </a:custGeom>
            <a:solidFill>
              <a:srgbClr val="5D5491"/>
            </a:solidFill>
            <a:ln cap="rnd">
              <a:noFill/>
              <a:prstDash val="solid"/>
              <a:round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200025"/>
              <a:ext cx="1092012" cy="3409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12712859" y="5593750"/>
            <a:ext cx="4146232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7F8F9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運用a（夜1回の再配置）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01441" y="1915295"/>
            <a:ext cx="76044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失敗率5%以下を最も安く満たす構成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結論：推奨案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Recommendation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028700" y="3048055"/>
            <a:ext cx="4908550" cy="6191195"/>
            <a:chOff x="0" y="0"/>
            <a:chExt cx="1292787" cy="1630603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292787" cy="1630603"/>
            </a:xfrm>
            <a:custGeom>
              <a:avLst/>
              <a:gdLst/>
              <a:ahLst/>
              <a:cxnLst/>
              <a:rect r="r" b="b" t="t" l="l"/>
              <a:pathLst>
                <a:path h="1630603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1630603"/>
                  </a:lnTo>
                  <a:lnTo>
                    <a:pt x="0" y="1630603"/>
                  </a:lnTo>
                  <a:close/>
                </a:path>
              </a:pathLst>
            </a:custGeom>
            <a:ln w="19050" cap="sq">
              <a:solidFill>
                <a:srgbClr val="1A2F81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200025"/>
              <a:ext cx="1292787" cy="18306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Freeform 37" id="37"/>
          <p:cNvSpPr/>
          <p:nvPr/>
        </p:nvSpPr>
        <p:spPr>
          <a:xfrm flipH="false" flipV="false" rot="0">
            <a:off x="14404975" y="3965928"/>
            <a:ext cx="762000" cy="762000"/>
          </a:xfrm>
          <a:custGeom>
            <a:avLst/>
            <a:gdLst/>
            <a:ahLst/>
            <a:cxnLst/>
            <a:rect r="r" b="b" t="t" l="l"/>
            <a:pathLst>
              <a:path h="762000" w="762000">
                <a:moveTo>
                  <a:pt x="0" y="0"/>
                </a:moveTo>
                <a:lnTo>
                  <a:pt x="762000" y="0"/>
                </a:lnTo>
                <a:lnTo>
                  <a:pt x="7620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8" id="38"/>
          <p:cNvSpPr/>
          <p:nvPr/>
        </p:nvSpPr>
        <p:spPr>
          <a:xfrm flipH="false" flipV="false" rot="0">
            <a:off x="8753475" y="3965928"/>
            <a:ext cx="762000" cy="762000"/>
          </a:xfrm>
          <a:custGeom>
            <a:avLst/>
            <a:gdLst/>
            <a:ahLst/>
            <a:cxnLst/>
            <a:rect r="r" b="b" t="t" l="l"/>
            <a:pathLst>
              <a:path h="762000" w="762000">
                <a:moveTo>
                  <a:pt x="0" y="0"/>
                </a:moveTo>
                <a:lnTo>
                  <a:pt x="762000" y="0"/>
                </a:lnTo>
                <a:lnTo>
                  <a:pt x="7620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9" id="39"/>
          <p:cNvSpPr/>
          <p:nvPr/>
        </p:nvSpPr>
        <p:spPr>
          <a:xfrm flipH="false" flipV="false" rot="0">
            <a:off x="3206577" y="3965928"/>
            <a:ext cx="552796" cy="762000"/>
          </a:xfrm>
          <a:custGeom>
            <a:avLst/>
            <a:gdLst/>
            <a:ahLst/>
            <a:cxnLst/>
            <a:rect r="r" b="b" t="t" l="l"/>
            <a:pathLst>
              <a:path h="762000" w="552796">
                <a:moveTo>
                  <a:pt x="0" y="0"/>
                </a:moveTo>
                <a:lnTo>
                  <a:pt x="552796" y="0"/>
                </a:lnTo>
                <a:lnTo>
                  <a:pt x="552796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1409859" y="3390928"/>
            <a:ext cx="4146232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0"/>
              </a:lnSpc>
              <a:spcBef>
                <a:spcPct val="0"/>
              </a:spcBef>
            </a:pPr>
            <a:r>
              <a:rPr lang="en-US" b="true" sz="1900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PORT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409859" y="4760638"/>
            <a:ext cx="4146232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住宅側ポート3か所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409859" y="6251603"/>
            <a:ext cx="4146232" cy="2606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徒歩＋走行＋施設側徒歩の合計が最小になる3地点（P1〜P3）。各ポートの担当戸数は 52・45・74 戸。</a:t>
            </a:r>
          </a:p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駅西口ポート・モビリティステーションは固定。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409859" y="5622417"/>
            <a:ext cx="4146232" cy="535121"/>
            <a:chOff x="0" y="0"/>
            <a:chExt cx="1092012" cy="140937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92012" cy="140937"/>
            </a:xfrm>
            <a:custGeom>
              <a:avLst/>
              <a:gdLst/>
              <a:ahLst/>
              <a:cxnLst/>
              <a:rect r="r" b="b" t="t" l="l"/>
              <a:pathLst>
                <a:path h="140937" w="1092012">
                  <a:moveTo>
                    <a:pt x="70469" y="0"/>
                  </a:moveTo>
                  <a:lnTo>
                    <a:pt x="1021543" y="0"/>
                  </a:lnTo>
                  <a:cubicBezTo>
                    <a:pt x="1040233" y="0"/>
                    <a:pt x="1058157" y="7424"/>
                    <a:pt x="1071372" y="20640"/>
                  </a:cubicBezTo>
                  <a:cubicBezTo>
                    <a:pt x="1084587" y="33855"/>
                    <a:pt x="1092012" y="51779"/>
                    <a:pt x="1092012" y="70469"/>
                  </a:cubicBezTo>
                  <a:lnTo>
                    <a:pt x="1092012" y="70469"/>
                  </a:lnTo>
                  <a:cubicBezTo>
                    <a:pt x="1092012" y="89158"/>
                    <a:pt x="1084587" y="107082"/>
                    <a:pt x="1071372" y="120297"/>
                  </a:cubicBezTo>
                  <a:cubicBezTo>
                    <a:pt x="1058157" y="133513"/>
                    <a:pt x="1040233" y="140937"/>
                    <a:pt x="1021543" y="140937"/>
                  </a:cubicBezTo>
                  <a:lnTo>
                    <a:pt x="70469" y="140937"/>
                  </a:lnTo>
                  <a:cubicBezTo>
                    <a:pt x="51779" y="140937"/>
                    <a:pt x="33855" y="133513"/>
                    <a:pt x="20640" y="120297"/>
                  </a:cubicBezTo>
                  <a:cubicBezTo>
                    <a:pt x="7424" y="107082"/>
                    <a:pt x="0" y="89158"/>
                    <a:pt x="0" y="70469"/>
                  </a:cubicBezTo>
                  <a:lnTo>
                    <a:pt x="0" y="70469"/>
                  </a:lnTo>
                  <a:cubicBezTo>
                    <a:pt x="0" y="51779"/>
                    <a:pt x="7424" y="33855"/>
                    <a:pt x="20640" y="20640"/>
                  </a:cubicBezTo>
                  <a:cubicBezTo>
                    <a:pt x="33855" y="7424"/>
                    <a:pt x="51779" y="0"/>
                    <a:pt x="70469" y="0"/>
                  </a:cubicBezTo>
                  <a:close/>
                </a:path>
              </a:pathLst>
            </a:custGeom>
            <a:solidFill>
              <a:srgbClr val="1A2F81"/>
            </a:solidFill>
            <a:ln cap="rnd">
              <a:noFill/>
              <a:prstDash val="solid"/>
              <a:round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200025"/>
              <a:ext cx="1092012" cy="3409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409859" y="5593750"/>
            <a:ext cx="4146232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7F8F9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p-median／車種比率で加重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7061359" y="3390928"/>
            <a:ext cx="4146232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0"/>
              </a:lnSpc>
              <a:spcBef>
                <a:spcPct val="0"/>
              </a:spcBef>
            </a:pPr>
            <a:r>
              <a:rPr lang="en-US" b="true" sz="1900">
                <a:solidFill>
                  <a:srgbClr val="086B8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FLEET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7061359" y="4760638"/>
            <a:ext cx="4146232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86B89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混在フリートの台数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7061359" y="6251603"/>
            <a:ext cx="4146232" cy="2606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低位：自転車16＋キックボード11＝27台</a:t>
            </a:r>
          </a:p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高位：自転車26＋キックボード16＝42台</a:t>
            </a:r>
          </a:p>
          <a:p>
            <a:pPr algn="just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trike="noStrike" u="none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（10回の中央値。駅ポートの朝の初期配置を含む）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7061359" y="5622417"/>
            <a:ext cx="4146232" cy="535121"/>
            <a:chOff x="0" y="0"/>
            <a:chExt cx="1092012" cy="140937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2012" cy="140937"/>
            </a:xfrm>
            <a:custGeom>
              <a:avLst/>
              <a:gdLst/>
              <a:ahLst/>
              <a:cxnLst/>
              <a:rect r="r" b="b" t="t" l="l"/>
              <a:pathLst>
                <a:path h="140937" w="1092012">
                  <a:moveTo>
                    <a:pt x="70469" y="0"/>
                  </a:moveTo>
                  <a:lnTo>
                    <a:pt x="1021543" y="0"/>
                  </a:lnTo>
                  <a:cubicBezTo>
                    <a:pt x="1040233" y="0"/>
                    <a:pt x="1058157" y="7424"/>
                    <a:pt x="1071372" y="20640"/>
                  </a:cubicBezTo>
                  <a:cubicBezTo>
                    <a:pt x="1084587" y="33855"/>
                    <a:pt x="1092012" y="51779"/>
                    <a:pt x="1092012" y="70469"/>
                  </a:cubicBezTo>
                  <a:lnTo>
                    <a:pt x="1092012" y="70469"/>
                  </a:lnTo>
                  <a:cubicBezTo>
                    <a:pt x="1092012" y="89158"/>
                    <a:pt x="1084587" y="107082"/>
                    <a:pt x="1071372" y="120297"/>
                  </a:cubicBezTo>
                  <a:cubicBezTo>
                    <a:pt x="1058157" y="133513"/>
                    <a:pt x="1040233" y="140937"/>
                    <a:pt x="1021543" y="140937"/>
                  </a:cubicBezTo>
                  <a:lnTo>
                    <a:pt x="70469" y="140937"/>
                  </a:lnTo>
                  <a:cubicBezTo>
                    <a:pt x="51779" y="140937"/>
                    <a:pt x="33855" y="133513"/>
                    <a:pt x="20640" y="120297"/>
                  </a:cubicBezTo>
                  <a:cubicBezTo>
                    <a:pt x="7424" y="107082"/>
                    <a:pt x="0" y="89158"/>
                    <a:pt x="0" y="70469"/>
                  </a:cubicBezTo>
                  <a:lnTo>
                    <a:pt x="0" y="70469"/>
                  </a:lnTo>
                  <a:cubicBezTo>
                    <a:pt x="0" y="51779"/>
                    <a:pt x="7424" y="33855"/>
                    <a:pt x="20640" y="20640"/>
                  </a:cubicBezTo>
                  <a:cubicBezTo>
                    <a:pt x="33855" y="7424"/>
                    <a:pt x="51779" y="0"/>
                    <a:pt x="70469" y="0"/>
                  </a:cubicBezTo>
                  <a:close/>
                </a:path>
              </a:pathLst>
            </a:custGeom>
            <a:solidFill>
              <a:srgbClr val="086B89"/>
            </a:solidFill>
            <a:ln cap="rnd">
              <a:noFill/>
              <a:prstDash val="solid"/>
              <a:round/>
            </a:ln>
          </p:spPr>
        </p:sp>
        <p:sp>
          <p:nvSpPr>
            <p:cNvPr name="TextBox 52" id="52"/>
            <p:cNvSpPr txBox="true"/>
            <p:nvPr/>
          </p:nvSpPr>
          <p:spPr>
            <a:xfrm>
              <a:off x="0" y="-200025"/>
              <a:ext cx="1092012" cy="3409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7061359" y="5593750"/>
            <a:ext cx="4146232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7F8F9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自転車60.3%：キックボード39.7%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6680200" y="3048055"/>
            <a:ext cx="4908550" cy="95222"/>
            <a:chOff x="0" y="0"/>
            <a:chExt cx="1292787" cy="25079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292787" cy="25079"/>
            </a:xfrm>
            <a:custGeom>
              <a:avLst/>
              <a:gdLst/>
              <a:ahLst/>
              <a:cxnLst/>
              <a:rect r="r" b="b" t="t" l="l"/>
              <a:pathLst>
                <a:path h="25079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25079"/>
                  </a:lnTo>
                  <a:lnTo>
                    <a:pt x="0" y="25079"/>
                  </a:lnTo>
                  <a:close/>
                </a:path>
              </a:pathLst>
            </a:custGeom>
            <a:solidFill>
              <a:srgbClr val="086B89"/>
            </a:solidFill>
            <a:ln cap="sq">
              <a:noFill/>
              <a:prstDash val="solid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200025"/>
              <a:ext cx="1292787" cy="2251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2331700" y="3048055"/>
            <a:ext cx="4908550" cy="95222"/>
            <a:chOff x="0" y="0"/>
            <a:chExt cx="1292787" cy="25079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92787" cy="25079"/>
            </a:xfrm>
            <a:custGeom>
              <a:avLst/>
              <a:gdLst/>
              <a:ahLst/>
              <a:cxnLst/>
              <a:rect r="r" b="b" t="t" l="l"/>
              <a:pathLst>
                <a:path h="25079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25079"/>
                  </a:lnTo>
                  <a:lnTo>
                    <a:pt x="0" y="25079"/>
                  </a:lnTo>
                  <a:close/>
                </a:path>
              </a:pathLst>
            </a:custGeom>
            <a:solidFill>
              <a:srgbClr val="5D5491"/>
            </a:solidFill>
            <a:ln cap="sq">
              <a:noFill/>
              <a:prstDash val="solid"/>
              <a:miter/>
            </a:ln>
          </p:spPr>
        </p:sp>
        <p:sp>
          <p:nvSpPr>
            <p:cNvPr name="TextBox 59" id="59"/>
            <p:cNvSpPr txBox="true"/>
            <p:nvPr/>
          </p:nvSpPr>
          <p:spPr>
            <a:xfrm>
              <a:off x="0" y="-200025"/>
              <a:ext cx="1292787" cy="2251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028700" y="3048055"/>
            <a:ext cx="4908550" cy="95222"/>
            <a:chOff x="0" y="0"/>
            <a:chExt cx="1292787" cy="25079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292787" cy="25079"/>
            </a:xfrm>
            <a:custGeom>
              <a:avLst/>
              <a:gdLst/>
              <a:ahLst/>
              <a:cxnLst/>
              <a:rect r="r" b="b" t="t" l="l"/>
              <a:pathLst>
                <a:path h="25079" w="1292787">
                  <a:moveTo>
                    <a:pt x="0" y="0"/>
                  </a:moveTo>
                  <a:lnTo>
                    <a:pt x="1292787" y="0"/>
                  </a:lnTo>
                  <a:lnTo>
                    <a:pt x="1292787" y="25079"/>
                  </a:lnTo>
                  <a:lnTo>
                    <a:pt x="0" y="25079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62" id="62"/>
            <p:cNvSpPr txBox="true"/>
            <p:nvPr/>
          </p:nvSpPr>
          <p:spPr>
            <a:xfrm>
              <a:off x="0" y="-200025"/>
              <a:ext cx="1292787" cy="2251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住宅側ポート・台数・駅ポート・運用・費用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推奨案の内容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Recommended Plan</a:t>
            </a:r>
          </a:p>
        </p:txBody>
      </p:sp>
      <p:pic>
        <p:nvPicPr>
          <p:cNvPr id="23" name="Picture 22" descr="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2697480"/>
            <a:ext cx="8070317" cy="694944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1051560" y="2788920"/>
            <a:ext cx="941832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BB5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301752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低位需要（転換率12%・暫定）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657600"/>
            <a:ext cx="8869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住宅側ポート3か所・電動アシスト自転車16台＋電動キックボード11台・駅ポート25台分（最大在庫23台、朝の初期配置7台）・運用はa：夜1回、年間費用は297万円（1トリップ631円・1台10.9万円/年）。1か月の充足率は95.6%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1560" y="6126479"/>
            <a:ext cx="941832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BB5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5880" y="6355079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高位需要（転換率24%・暫定）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6995159"/>
            <a:ext cx="8869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住宅側ポート3か所・電動アシスト自転車26台＋電動キックボード16台・駅ポート32台分（最大在庫32台、朝の初期配置10台）・運用はa：夜1回、年間費用は424万円（1トリップ440円・1台10.1万円/年）。1か月の充足率は95.9%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96926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■ P1〜P3：住宅側ポート（点の色＝利用するポート）　◆ 駅西口ポート・モビリティステーション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全72条件 × 各10回（乱数を変えて）を計算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検討の概要と条件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Overview &amp;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16184880" cy="45354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1325880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内容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需要シナリオ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低位・高位（暫定）／旧シナリオ転換率10%・30%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代替乗車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(i) 希望車種が無ければ使わない／(ii) 他車種で代替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リバランス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 夜1回／b a＋9:30 駅の余剰を戻す／c b＋15:30 住宅側と駅をそろえる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駅ポート容量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18台（区画①のみ）・25台（基本）・32台（区画②も2列）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目標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貸出失敗率 20%（充足率80%）・5%・1% それぞれの最小台数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1回の計算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①平日・晴れの1日×40回で最小台数を探索 → ②その台数で1か月（平日・休日・気象）→ ③年間費用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前提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住宅171戸（今後追加予定）・駅は片道・イオンは往復・キックボードは電池交換で4時間停止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51560" y="7589520"/>
            <a:ext cx="1618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ばらつき＝同じ条件で乱数（利用希望の発生・気象の並び）だけを変えた10回の差。条件の差と区別して示す。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需要（転換率）と気象倍率は暫定値。東京都資料の数値に差し替えて再計算する（scripts/run_study.py）。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代替乗車なし(i)・運用a・駅ポート25台（10回の中央値、括弧は最小–最大）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目標ごとの最小台数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Minimum Fleet by Target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8778240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45920"/>
                <a:gridCol w="2377440"/>
                <a:gridCol w="2377440"/>
                <a:gridCol w="237744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需要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充足率80%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失敗率5%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失敗率1%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10＋6＝16（15–17）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16＋11＝27（26–29）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24＋16＝41（37–53）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14＋9＝24（23–26）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42＋18＝59（55–61）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54＋62＝116（110–124）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旧10%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8＋6＝14（12–14）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14＋10＝25（23–26）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23＋15＝38（36–41）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旧30%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22＋8＝30（28–32）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53＋74＝123（122–131）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未達（0/10回）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51560" y="5852160"/>
            <a:ext cx="8778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表記：自転車＋キックボード＝合計（中央値）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失敗率1%は5%の約1.5〜2.0倍の台数が要る。旧30%では1%を半数以上の回で達成できない（探索範囲内）。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代替乗車あり(ii)にすると、失敗率5%の台数は24%〜59%少なくなる（混在フリートのページ）。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需要が多いほど駅ポート25台が満車になりやすく、台数が急増する（駅ポート容量のページ）。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10241280" y="2743200"/>
          <a:ext cx="7040880" cy="6583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同じ条件で10回計算したときの幅（箱＝25〜75%、薄色＝最小・最大）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結果のばらつき①：最小台数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Variability: Fleet Size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8001000" cy="57607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9235440" y="2743200"/>
          <a:ext cx="8001000" cy="57607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051560" y="8686800"/>
            <a:ext cx="1618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運用a・駅ポート25台。(i) 代替乗車なし／(ii) あり。幅は需要の偶然の揺れによるもので、計画台数は上側（75%点〜最大）を見て決めると安全。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失敗率5%の台数で1か月（平日・休日・気象）を回した結果（全条件・全回）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結果のばらつき②：1か月の運用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Variability: One-Month Simulation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3931920" cy="5852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5120640" y="2743200"/>
          <a:ext cx="3931920" cy="58521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9189720" y="2743200"/>
          <a:ext cx="3931920" cy="58521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13258800" y="2743200"/>
          <a:ext cx="3931920" cy="585216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051560" y="8778240"/>
            <a:ext cx="1618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箱ひげは「代替乗車・運用a/b/c・駅ポート容量」の全組み合わせ×10回を需要ごとにまとめたもの。条件ごとの数値は付録の一覧表。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希望車種が無いときに他の車種で代替できるか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混在フリートと代替乗車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Mixed Fleet &amp; Substitution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8686800" cy="6583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10149840" y="2743200"/>
            <a:ext cx="7086600" cy="3017520"/>
          </a:xfrm>
          <a:prstGeom prst="roundRect">
            <a:avLst>
              <a:gd name="adj" fmla="val 6000"/>
            </a:avLst>
          </a:prstGeom>
          <a:solidFill>
            <a:srgbClr val="F7F8F9"/>
          </a:solidFill>
          <a:ln w="12700">
            <a:solidFill>
              <a:srgbClr val="F7F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0" y="292608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代替乗車率（(ii)・1か月）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566160"/>
            <a:ext cx="6583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086B89"/>
                </a:solidFill>
                <a:latin typeface="たづがね角ゴシック Info Bold"/>
                <a:ea typeface="たづがね角ゴシック Info Bold"/>
              </a:rPr>
              <a:t>6.4%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4754880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範囲 2.0%〜60.8%（全条件・全回）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6126480"/>
            <a:ext cx="70866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車種の比率は調査Q16（自転車60.3%・キックボード39.7%）。利用者ごとに希望車種を割り当て、往復は同じ車種を希望。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代替を認めると、失敗率5%の台数を24%〜59%減らせる（需要が多いほど効果大）。代替乗車率は数%程度。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代替を前提にする場合は、利用規約・料金で他車種への乗り換えを案内する仕組みが要る。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満車で返却できない「返却失敗」と必要台数への影響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駅ポートの容量（18・25・32台）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Station Port Capacity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7955279" cy="5669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326880" y="2834640"/>
          <a:ext cx="790956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54480"/>
                <a:gridCol w="2103120"/>
                <a:gridCol w="2103120"/>
                <a:gridCol w="21488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需要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容量18台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容量25台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容量32台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3.2%／18台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0.0%／22台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0.0%／22台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47.1%／18台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20.2%／25台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0.1%／32台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旧10%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0.8%／18台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0.0%／20台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0.0%／20台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旧30%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47.5%／25台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9.1%／32台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9326880" y="5760720"/>
            <a:ext cx="79095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表：返却失敗率／駅ポートの最大在庫（1か月、中央値）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満車で返せない車両は区画外に置かれ、夜の回収まで使えない。そのため夕方の帰宅で不足し、台数が増える。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低位：18台→30台/313万円・25台→27台/297万円・32台→27台/302万円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高位：18台→未達・25台→59台/555万円・32台→42台/424万円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低位なら25台で足りる。高位では32台（区画②も2列）にすると台数・費用とも下がる。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日中に駅の余剰を戻しても台数は減らない（駅ポート25台）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リバランス運用 a・b・c の比較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Rebalancing Patterns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10058400" cy="35204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97280"/>
                <a:gridCol w="1828800"/>
                <a:gridCol w="2103120"/>
                <a:gridCol w="1188720"/>
                <a:gridCol w="118872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需要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最小台数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作業回/日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移動台/日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作業分/日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a：夜1回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27（26–29）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1.0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4.3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46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297万円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b：a＋9:30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43（41–47）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1.9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13.1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113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495万円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c：b＋15:30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43（41–47）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13.1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495万円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a：夜1回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59（55–61）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1.0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9.8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555万円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b：a＋9:30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78（70–104）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813万円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c：b＋15:30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78（70–104）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2.0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25.8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177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813万円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1430000" y="2743200"/>
            <a:ext cx="58064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なぜ減らないか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駅は片道利用で、朝に駅へ集まった車両がそのまま夕方の帰宅に使われる。9:30に「夕方の期待需要＋1台」を超える分を住宅側へ戻すと、夕方の偶然の増加に足りず失敗が増える。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15:30のcは、bの後では動かす車両がほぼ無く、bと同じ結果。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537960"/>
            <a:ext cx="5806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66A95"/>
                </a:solidFill>
                <a:latin typeface="たづがね角ゴシック Info Bold"/>
                <a:ea typeface="たづがね角ゴシック Info Bold"/>
              </a:rPr>
              <a:t>追加検証：駅に残す台数を95%点にした場合（1回）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1430000" y="6949440"/>
          <a:ext cx="5806440" cy="26334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22960"/>
                <a:gridCol w="640080"/>
                <a:gridCol w="34290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需要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駅に残す基準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期待値＋1台（指定どおり）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ポアソン95%点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低位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ポアソン95%点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期待値＋1台（指定どおり）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80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ポアソン95%点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高位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ポアソン95%点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61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1051560" y="6720840"/>
            <a:ext cx="10058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運用aを推奨。今回の全条件（需要4種×容量3種×代替2種）で、b・cがaより台数・費用を減らした条件は無い。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軽トラック：キックボード8台・自転車4台/往復、作業30分＋3分/台＋10分/追加往復。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2026年11月：平日・休日（土日祝）・気象（平年の出現日数から抽選）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1か月シミュレーション（推奨案）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One-Month Simulation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8001000" cy="48463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51560" y="7726679"/>
            <a:ext cx="8001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充足率 92.7%／返却失敗 0.0%／電池交換 0.0回/日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休日11日・雨5日。休日・雨の日は利用希望が少なく、平日晴れが台数を決める。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稼働率 0.45回/台/日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9235440" y="2743200"/>
          <a:ext cx="8001000" cy="48463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9235440" y="7726679"/>
            <a:ext cx="8001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充足率 96.1%／返却失敗 1.4%／電池交換 0.1回/日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休日11日・雨5日。休日・雨の日は利用希望が少なく、平日晴れが台数を決める。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稼働率 0.64回/台/日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推奨案（失敗率5%・代替乗車なし・運用a、駅ポートは費用が最小の容量）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年間費用と他事例との比較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Annual Cost &amp; Benchmarks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8503920" cy="4572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875520" y="2834640"/>
          <a:ext cx="736092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17520"/>
                <a:gridCol w="2194560"/>
                <a:gridCol w="21488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指標（低位／高位）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本検討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他事例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1台あたり年間費用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10.9／10.1万円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12.8万円（中野区）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運営費に占める再配置費用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41%／36%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3〜4割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稼働率（回/台/日）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0.48／0.63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1.9〜3.1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1トリップあたり費用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631／440円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9875520" y="5760720"/>
            <a:ext cx="73609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ずれの理由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稼働率が他事例の1/4〜1/6：171戸の閉じた街区で、失敗率5%を守るために朝夕のピークに合わせた台数を持つため。日中は多くが待機。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再配置の割合がやや高い：毎晩の初期配置への戻しを全日で行う前提。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1台あたり費用は他事例とほぼ同じ水準。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7589520"/>
            <a:ext cx="8503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単価15万円/台・3年償却、維持1.5万円/台/年、ポート20万円/か所・5年、用地600円/区画/月、人件費1,500円/時、軽トラック500円/回、平日245日・休日120日。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基準（需要18%・駅25台ほか）からの増減（失敗率5%・運用a）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感度分析①：最小台数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Sensitivity: Fleet Size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10241280" cy="6675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1704320" y="2743200"/>
            <a:ext cx="5532120" cy="6583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読み方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棒の長さ＝その項目を下限・上限に動かしたときの最小台数の変化。上ほど影響が大きい。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最も効くのは「駅ポート容量」、次が「需要（転換率）」。駅ポートが満車になると返却失敗で台数が急増する。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需要は暫定値のため、東京都資料での確定が最優先。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手続き時間・歩行速度・自転車比率の影響は小さい。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566A95"/>
                </a:solidFill>
                <a:latin typeface="たづがね角ゴシック Info"/>
                <a:ea typeface="たづがね角ゴシック Info"/>
              </a:rPr>
              <a:t>各点1回の計算のため、±2台程度は乱数の揺れを含む。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各点で費用が最小の運用を選んだときの年間総費用の増減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感度分析②：年間費用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Sensitivity: Annual Cost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1051560" y="2743200"/>
          <a:ext cx="10241280" cy="6675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1704320" y="2743200"/>
            <a:ext cx="5532120" cy="6583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A2F81"/>
                </a:solidFill>
                <a:latin typeface="たづがね角ゴシック Info Bold"/>
                <a:ea typeface="たづがね角ゴシック Info Bold"/>
              </a:rPr>
              <a:t>読み方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費用は需要（＝台数）と車両単価で大きく変わる。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ポート・軽トラックの単価を0.5〜2倍に動かしても、推奨する運用は変わらない（次ページ）。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10817"/>
                </a:solidFill>
                <a:latin typeface="たづがね角ゴシック Info"/>
                <a:ea typeface="たづがね角ゴシック Info"/>
              </a:rPr>
              <a:t>車両単価±30%は、そのまま車両償却（費用の約4〜5割）に効く。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各項目を動かしたとき、推奨案（台数・運用）が変わる値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推奨案が変わる境目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Decision Boundaries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16184880" cy="59253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60320"/>
                <a:gridCol w="10881360"/>
                <a:gridCol w="274320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推奨案（変わる値ごと）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需要（転換率）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12%：運用a・17＋12=29台／15%：運用a・19＋13=32台／18%：運用a・21＋13=34台／21%：運用a・29＋15=44台／24%：運用a・44＋17=61台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自転車の比率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50%：運用a・18＋16=34台／55%：運用a・21＋14=35台／60%：運用a・21＋13=34台／65%：運用a・25＋10=35台／70%：運用a・29＋9=38台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駅ポート容量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18台：運用a・49＋32=81台／25台：運用a・21＋13=34台／32台：運用a・21＋12=33台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手続き時間（秒）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30秒：運用a・21＋13=34台（全範囲で同じ）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歩行速度（km/h）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4.0：運用a・22＋14=36台／4.8：運用a・21＋13=34台／5.5：運用a・21＋14=35台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車両単価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×0.7：運用a・21＋13=34台（全範囲で同じ）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ポート初期費用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×0.5：運用a・21＋13=34台（全範囲で同じ）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軽トラック費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×0.5：運用a・21＋13=34台（全範囲で同じ）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運用は全範囲でa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8" id="18"/>
          <p:cNvSpPr txBox="true"/>
          <p:nvPr/>
        </p:nvSpPr>
        <p:spPr>
          <a:xfrm rot="0">
            <a:off x="1301441" y="1915295"/>
            <a:ext cx="76044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結果を左右する暫定値を確定させる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前提の確度と課題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Assumptions to Confirm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47750" y="3048055"/>
            <a:ext cx="16192500" cy="1762125"/>
            <a:chOff x="0" y="0"/>
            <a:chExt cx="4264691" cy="46409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264691" cy="464099"/>
            </a:xfrm>
            <a:custGeom>
              <a:avLst/>
              <a:gdLst/>
              <a:ahLst/>
              <a:cxnLst/>
              <a:rect r="r" b="b" t="t" l="l"/>
              <a:pathLst>
                <a:path h="464099" w="4264691">
                  <a:moveTo>
                    <a:pt x="0" y="0"/>
                  </a:moveTo>
                  <a:lnTo>
                    <a:pt x="4264691" y="0"/>
                  </a:lnTo>
                  <a:lnTo>
                    <a:pt x="4264691" y="464099"/>
                  </a:lnTo>
                  <a:lnTo>
                    <a:pt x="0" y="464099"/>
                  </a:lnTo>
                  <a:close/>
                </a:path>
              </a:pathLst>
            </a:custGeom>
            <a:ln w="19050" cap="sq">
              <a:solidFill>
                <a:srgbClr val="1A2F81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00025"/>
              <a:ext cx="4264691" cy="664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2772341" y="3530973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需要（転換率）が暫定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175022" y="3411593"/>
            <a:ext cx="9684228" cy="84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低位12%・高位24%は仮置き。台数・費用に最も効く項目。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東京都の協議会資料（環境から取得不可）の値に差し替えて再計算する。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047750" y="5164483"/>
            <a:ext cx="16192500" cy="1860233"/>
            <a:chOff x="0" y="0"/>
            <a:chExt cx="4264691" cy="48993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264691" cy="489938"/>
            </a:xfrm>
            <a:custGeom>
              <a:avLst/>
              <a:gdLst/>
              <a:ahLst/>
              <a:cxnLst/>
              <a:rect r="r" b="b" t="t" l="l"/>
              <a:pathLst>
                <a:path h="489938" w="4264691">
                  <a:moveTo>
                    <a:pt x="0" y="0"/>
                  </a:moveTo>
                  <a:lnTo>
                    <a:pt x="4264691" y="0"/>
                  </a:lnTo>
                  <a:lnTo>
                    <a:pt x="4264691" y="489938"/>
                  </a:lnTo>
                  <a:lnTo>
                    <a:pt x="0" y="489938"/>
                  </a:lnTo>
                  <a:close/>
                </a:path>
              </a:pathLst>
            </a:custGeom>
            <a:ln w="19050" cap="sq">
              <a:solidFill>
                <a:srgbClr val="086B89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200025"/>
              <a:ext cx="4264691" cy="6899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2772341" y="5696454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86B89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気象倍率・出現日数が暫定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175022" y="5577074"/>
            <a:ext cx="9684228" cy="84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国の資料を参考にした仮定値（要確認）。1か月の結果に影響。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気象庁の平年値（久喜・鴻巣など近傍）での確認が必要。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047750" y="7379017"/>
            <a:ext cx="16192500" cy="1860233"/>
            <a:chOff x="0" y="0"/>
            <a:chExt cx="4264691" cy="48993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264691" cy="489938"/>
            </a:xfrm>
            <a:custGeom>
              <a:avLst/>
              <a:gdLst/>
              <a:ahLst/>
              <a:cxnLst/>
              <a:rect r="r" b="b" t="t" l="l"/>
              <a:pathLst>
                <a:path h="489938" w="4264691">
                  <a:moveTo>
                    <a:pt x="0" y="0"/>
                  </a:moveTo>
                  <a:lnTo>
                    <a:pt x="4264691" y="0"/>
                  </a:lnTo>
                  <a:lnTo>
                    <a:pt x="4264691" y="489938"/>
                  </a:lnTo>
                  <a:lnTo>
                    <a:pt x="0" y="489938"/>
                  </a:lnTo>
                  <a:close/>
                </a:path>
              </a:pathLst>
            </a:custGeom>
            <a:ln w="19050" cap="sq">
              <a:solidFill>
                <a:srgbClr val="1A2F81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200025"/>
              <a:ext cx="4264691" cy="6899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2772341" y="7910989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5D549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利用実績・稼働率の差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175022" y="7791609"/>
            <a:ext cx="9684228" cy="844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稼働率0.48回/台/日は他事例（1.9〜3.1）より低い。実績が無く検証できない。</a:t>
            </a:r>
          </a:p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実証運用で利用記録をとり、時間帯別需要と車種比率を更新する。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047750" y="3048055"/>
            <a:ext cx="95250" cy="1762125"/>
            <a:chOff x="0" y="0"/>
            <a:chExt cx="25086" cy="464099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5086" cy="464099"/>
            </a:xfrm>
            <a:custGeom>
              <a:avLst/>
              <a:gdLst/>
              <a:ahLst/>
              <a:cxnLst/>
              <a:rect r="r" b="b" t="t" l="l"/>
              <a:pathLst>
                <a:path h="464099" w="25086">
                  <a:moveTo>
                    <a:pt x="0" y="0"/>
                  </a:moveTo>
                  <a:lnTo>
                    <a:pt x="25086" y="0"/>
                  </a:lnTo>
                  <a:lnTo>
                    <a:pt x="25086" y="464099"/>
                  </a:lnTo>
                  <a:lnTo>
                    <a:pt x="0" y="464099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200025"/>
              <a:ext cx="25086" cy="664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047750" y="5164483"/>
            <a:ext cx="95250" cy="1860233"/>
            <a:chOff x="0" y="0"/>
            <a:chExt cx="25086" cy="48993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5086" cy="489938"/>
            </a:xfrm>
            <a:custGeom>
              <a:avLst/>
              <a:gdLst/>
              <a:ahLst/>
              <a:cxnLst/>
              <a:rect r="r" b="b" t="t" l="l"/>
              <a:pathLst>
                <a:path h="489938" w="25086">
                  <a:moveTo>
                    <a:pt x="0" y="0"/>
                  </a:moveTo>
                  <a:lnTo>
                    <a:pt x="25086" y="0"/>
                  </a:lnTo>
                  <a:lnTo>
                    <a:pt x="25086" y="489938"/>
                  </a:lnTo>
                  <a:lnTo>
                    <a:pt x="0" y="489938"/>
                  </a:lnTo>
                  <a:close/>
                </a:path>
              </a:pathLst>
            </a:custGeom>
            <a:solidFill>
              <a:srgbClr val="086B89"/>
            </a:solidFill>
            <a:ln cap="sq">
              <a:noFill/>
              <a:prstDash val="solid"/>
              <a:miter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-200025"/>
              <a:ext cx="25086" cy="6899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047750" y="7379017"/>
            <a:ext cx="95250" cy="1860233"/>
            <a:chOff x="0" y="0"/>
            <a:chExt cx="25086" cy="48993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5086" cy="489938"/>
            </a:xfrm>
            <a:custGeom>
              <a:avLst/>
              <a:gdLst/>
              <a:ahLst/>
              <a:cxnLst/>
              <a:rect r="r" b="b" t="t" l="l"/>
              <a:pathLst>
                <a:path h="489938" w="25086">
                  <a:moveTo>
                    <a:pt x="0" y="0"/>
                  </a:moveTo>
                  <a:lnTo>
                    <a:pt x="25086" y="0"/>
                  </a:lnTo>
                  <a:lnTo>
                    <a:pt x="25086" y="489938"/>
                  </a:lnTo>
                  <a:lnTo>
                    <a:pt x="0" y="489938"/>
                  </a:lnTo>
                  <a:close/>
                </a:path>
              </a:pathLst>
            </a:custGeom>
            <a:solidFill>
              <a:srgbClr val="5D5491"/>
            </a:solidFill>
            <a:ln cap="sq">
              <a:noFill/>
              <a:prstDash val="solid"/>
              <a:miter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-200025"/>
              <a:ext cx="25086" cy="68996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468963" y="3578915"/>
            <a:ext cx="979529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b="true" sz="1599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ISSUE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468963" y="3854505"/>
            <a:ext cx="97952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01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468963" y="5744396"/>
            <a:ext cx="979529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b="true" sz="1599">
                <a:solidFill>
                  <a:srgbClr val="086B8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ISSUE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468963" y="6019986"/>
            <a:ext cx="97952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086B8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02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468963" y="7958931"/>
            <a:ext cx="979529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b="true" sz="1599">
                <a:solidFill>
                  <a:srgbClr val="5D549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ISSUE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468963" y="8234521"/>
            <a:ext cx="979529" cy="3962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400">
                <a:solidFill>
                  <a:srgbClr val="5D549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03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8" id="18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暫定値の確定 → 再計算 → 実証での検証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今後の進め方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Next Steps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5605337" y="3048055"/>
            <a:ext cx="11634913" cy="952500"/>
            <a:chOff x="0" y="0"/>
            <a:chExt cx="3064339" cy="25086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064339" cy="250864"/>
            </a:xfrm>
            <a:custGeom>
              <a:avLst/>
              <a:gdLst/>
              <a:ahLst/>
              <a:cxnLst/>
              <a:rect r="r" b="b" t="t" l="l"/>
              <a:pathLst>
                <a:path h="250864" w="3064339">
                  <a:moveTo>
                    <a:pt x="66540" y="0"/>
                  </a:moveTo>
                  <a:lnTo>
                    <a:pt x="2997799" y="0"/>
                  </a:lnTo>
                  <a:cubicBezTo>
                    <a:pt x="3015447" y="0"/>
                    <a:pt x="3032371" y="7010"/>
                    <a:pt x="3044850" y="19489"/>
                  </a:cubicBezTo>
                  <a:cubicBezTo>
                    <a:pt x="3057329" y="31968"/>
                    <a:pt x="3064339" y="48893"/>
                    <a:pt x="3064339" y="66540"/>
                  </a:cubicBezTo>
                  <a:lnTo>
                    <a:pt x="3064339" y="184324"/>
                  </a:lnTo>
                  <a:cubicBezTo>
                    <a:pt x="3064339" y="201971"/>
                    <a:pt x="3057329" y="218896"/>
                    <a:pt x="3044850" y="231375"/>
                  </a:cubicBezTo>
                  <a:cubicBezTo>
                    <a:pt x="3032371" y="243854"/>
                    <a:pt x="3015447" y="250864"/>
                    <a:pt x="2997799" y="250864"/>
                  </a:cubicBezTo>
                  <a:lnTo>
                    <a:pt x="66540" y="250864"/>
                  </a:lnTo>
                  <a:cubicBezTo>
                    <a:pt x="48893" y="250864"/>
                    <a:pt x="31968" y="243854"/>
                    <a:pt x="19489" y="231375"/>
                  </a:cubicBezTo>
                  <a:cubicBezTo>
                    <a:pt x="7010" y="218896"/>
                    <a:pt x="0" y="201971"/>
                    <a:pt x="0" y="184324"/>
                  </a:cubicBezTo>
                  <a:lnTo>
                    <a:pt x="0" y="66540"/>
                  </a:lnTo>
                  <a:cubicBezTo>
                    <a:pt x="0" y="48893"/>
                    <a:pt x="7010" y="31968"/>
                    <a:pt x="19489" y="19489"/>
                  </a:cubicBezTo>
                  <a:cubicBezTo>
                    <a:pt x="31968" y="7010"/>
                    <a:pt x="48893" y="0"/>
                    <a:pt x="66540" y="0"/>
                  </a:cubicBezTo>
                  <a:close/>
                </a:path>
              </a:pathLst>
            </a:custGeom>
            <a:ln w="38100" cap="rnd">
              <a:solidFill>
                <a:srgbClr val="086B89"/>
              </a:solidFill>
              <a:prstDash val="solid"/>
              <a:round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00025"/>
              <a:ext cx="3064339" cy="450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313936" y="3991030"/>
            <a:ext cx="217714" cy="190500"/>
            <a:chOff x="0" y="0"/>
            <a:chExt cx="812800" cy="7112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086B89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127000" y="-149225"/>
              <a:ext cx="558800" cy="530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6928582" y="3100125"/>
            <a:ext cx="8988423" cy="61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b="true" sz="2599">
                <a:solidFill>
                  <a:srgbClr val="086B89"/>
                </a:solidFill>
                <a:latin typeface="たづがね角ゴシック Info Semi-Bold"/>
                <a:ea typeface="たづがね角ゴシック Info Semi-Bold"/>
                <a:cs typeface="たづがね角ゴシック Info Semi-Bold"/>
                <a:sym typeface="たづがね角ゴシック Info Semi-Bold"/>
              </a:rPr>
              <a:t>東京都資料で転換率を確定し、全条件を再計算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47750" y="3336980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需要の確定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47750" y="3019480"/>
            <a:ext cx="2103739" cy="33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STEP 01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5605337" y="4122396"/>
            <a:ext cx="11634913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10817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config.yaml の demand_scenarios を差し替え、run_study.py・make_report.py を再実行。</a:t>
            </a:r>
          </a:p>
        </p:txBody>
      </p:sp>
      <p:sp>
        <p:nvSpPr>
          <p:cNvPr name="AutoShape 31" id="31"/>
          <p:cNvSpPr/>
          <p:nvPr/>
        </p:nvSpPr>
        <p:spPr>
          <a:xfrm>
            <a:off x="1028700" y="5041148"/>
            <a:ext cx="16182975" cy="0"/>
          </a:xfrm>
          <a:prstGeom prst="line">
            <a:avLst/>
          </a:prstGeom>
          <a:ln cap="flat" w="19050">
            <a:solidFill>
              <a:srgbClr val="B1B8C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2" id="32"/>
          <p:cNvGrpSpPr/>
          <p:nvPr/>
        </p:nvGrpSpPr>
        <p:grpSpPr>
          <a:xfrm rot="0">
            <a:off x="5605337" y="5272115"/>
            <a:ext cx="11634913" cy="952500"/>
            <a:chOff x="0" y="0"/>
            <a:chExt cx="3064339" cy="25086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064339" cy="250864"/>
            </a:xfrm>
            <a:custGeom>
              <a:avLst/>
              <a:gdLst/>
              <a:ahLst/>
              <a:cxnLst/>
              <a:rect r="r" b="b" t="t" l="l"/>
              <a:pathLst>
                <a:path h="250864" w="3064339">
                  <a:moveTo>
                    <a:pt x="66540" y="0"/>
                  </a:moveTo>
                  <a:lnTo>
                    <a:pt x="2997799" y="0"/>
                  </a:lnTo>
                  <a:cubicBezTo>
                    <a:pt x="3015447" y="0"/>
                    <a:pt x="3032371" y="7010"/>
                    <a:pt x="3044850" y="19489"/>
                  </a:cubicBezTo>
                  <a:cubicBezTo>
                    <a:pt x="3057329" y="31968"/>
                    <a:pt x="3064339" y="48893"/>
                    <a:pt x="3064339" y="66540"/>
                  </a:cubicBezTo>
                  <a:lnTo>
                    <a:pt x="3064339" y="184324"/>
                  </a:lnTo>
                  <a:cubicBezTo>
                    <a:pt x="3064339" y="201971"/>
                    <a:pt x="3057329" y="218896"/>
                    <a:pt x="3044850" y="231375"/>
                  </a:cubicBezTo>
                  <a:cubicBezTo>
                    <a:pt x="3032371" y="243854"/>
                    <a:pt x="3015447" y="250864"/>
                    <a:pt x="2997799" y="250864"/>
                  </a:cubicBezTo>
                  <a:lnTo>
                    <a:pt x="66540" y="250864"/>
                  </a:lnTo>
                  <a:cubicBezTo>
                    <a:pt x="48893" y="250864"/>
                    <a:pt x="31968" y="243854"/>
                    <a:pt x="19489" y="231375"/>
                  </a:cubicBezTo>
                  <a:cubicBezTo>
                    <a:pt x="7010" y="218896"/>
                    <a:pt x="0" y="201971"/>
                    <a:pt x="0" y="184324"/>
                  </a:cubicBezTo>
                  <a:lnTo>
                    <a:pt x="0" y="66540"/>
                  </a:lnTo>
                  <a:cubicBezTo>
                    <a:pt x="0" y="48893"/>
                    <a:pt x="7010" y="31968"/>
                    <a:pt x="19489" y="19489"/>
                  </a:cubicBezTo>
                  <a:cubicBezTo>
                    <a:pt x="31968" y="7010"/>
                    <a:pt x="48893" y="0"/>
                    <a:pt x="66540" y="0"/>
                  </a:cubicBezTo>
                  <a:close/>
                </a:path>
              </a:pathLst>
            </a:custGeom>
            <a:ln w="38100" cap="rnd">
              <a:solidFill>
                <a:srgbClr val="086B89"/>
              </a:solidFill>
              <a:prstDash val="solid"/>
              <a:round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200025"/>
              <a:ext cx="3064339" cy="450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1313936" y="6215090"/>
            <a:ext cx="217714" cy="190500"/>
            <a:chOff x="0" y="0"/>
            <a:chExt cx="812800" cy="7112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086B89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127000" y="-149225"/>
              <a:ext cx="558800" cy="530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928582" y="5324185"/>
            <a:ext cx="8988423" cy="61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b="true" sz="2599">
                <a:solidFill>
                  <a:srgbClr val="086B89"/>
                </a:solidFill>
                <a:latin typeface="たづがね角ゴシック Info Semi-Bold"/>
                <a:ea typeface="たづがね角ゴシック Info Semi-Bold"/>
                <a:cs typeface="たづがね角ゴシック Info Semi-Bold"/>
                <a:sym typeface="たづがね角ゴシック Info Semi-Bold"/>
              </a:rPr>
              <a:t>住宅側3か所・運用a、駅ポートは需要で25か32台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47750" y="5561040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設計の確定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5243540"/>
            <a:ext cx="2103739" cy="33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STEP 02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605337" y="6346456"/>
            <a:ext cx="11634913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10817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住宅の追加（171戸から増加）に合わせてポート数と台数を見直す。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5605337" y="7496175"/>
            <a:ext cx="11634913" cy="952500"/>
            <a:chOff x="0" y="0"/>
            <a:chExt cx="3064339" cy="250864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064339" cy="250864"/>
            </a:xfrm>
            <a:custGeom>
              <a:avLst/>
              <a:gdLst/>
              <a:ahLst/>
              <a:cxnLst/>
              <a:rect r="r" b="b" t="t" l="l"/>
              <a:pathLst>
                <a:path h="250864" w="3064339">
                  <a:moveTo>
                    <a:pt x="66540" y="0"/>
                  </a:moveTo>
                  <a:lnTo>
                    <a:pt x="2997799" y="0"/>
                  </a:lnTo>
                  <a:cubicBezTo>
                    <a:pt x="3015447" y="0"/>
                    <a:pt x="3032371" y="7010"/>
                    <a:pt x="3044850" y="19489"/>
                  </a:cubicBezTo>
                  <a:cubicBezTo>
                    <a:pt x="3057329" y="31968"/>
                    <a:pt x="3064339" y="48893"/>
                    <a:pt x="3064339" y="66540"/>
                  </a:cubicBezTo>
                  <a:lnTo>
                    <a:pt x="3064339" y="184324"/>
                  </a:lnTo>
                  <a:cubicBezTo>
                    <a:pt x="3064339" y="201971"/>
                    <a:pt x="3057329" y="218896"/>
                    <a:pt x="3044850" y="231375"/>
                  </a:cubicBezTo>
                  <a:cubicBezTo>
                    <a:pt x="3032371" y="243854"/>
                    <a:pt x="3015447" y="250864"/>
                    <a:pt x="2997799" y="250864"/>
                  </a:cubicBezTo>
                  <a:lnTo>
                    <a:pt x="66540" y="250864"/>
                  </a:lnTo>
                  <a:cubicBezTo>
                    <a:pt x="48893" y="250864"/>
                    <a:pt x="31968" y="243854"/>
                    <a:pt x="19489" y="231375"/>
                  </a:cubicBezTo>
                  <a:cubicBezTo>
                    <a:pt x="7010" y="218896"/>
                    <a:pt x="0" y="201971"/>
                    <a:pt x="0" y="184324"/>
                  </a:cubicBezTo>
                  <a:lnTo>
                    <a:pt x="0" y="66540"/>
                  </a:lnTo>
                  <a:cubicBezTo>
                    <a:pt x="0" y="48893"/>
                    <a:pt x="7010" y="31968"/>
                    <a:pt x="19489" y="19489"/>
                  </a:cubicBezTo>
                  <a:cubicBezTo>
                    <a:pt x="31968" y="7010"/>
                    <a:pt x="48893" y="0"/>
                    <a:pt x="66540" y="0"/>
                  </a:cubicBezTo>
                  <a:close/>
                </a:path>
              </a:pathLst>
            </a:custGeom>
            <a:ln w="38100" cap="rnd">
              <a:solidFill>
                <a:srgbClr val="086B89"/>
              </a:solidFill>
              <a:prstDash val="solid"/>
              <a:round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-200025"/>
              <a:ext cx="3064339" cy="450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0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1313936" y="8439150"/>
            <a:ext cx="217714" cy="190500"/>
            <a:chOff x="0" y="0"/>
            <a:chExt cx="812800" cy="7112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086B89"/>
            </a:solidFill>
          </p:spPr>
        </p:sp>
        <p:sp>
          <p:nvSpPr>
            <p:cNvPr name="TextBox 47" id="47"/>
            <p:cNvSpPr txBox="true"/>
            <p:nvPr/>
          </p:nvSpPr>
          <p:spPr>
            <a:xfrm>
              <a:off x="127000" y="-149225"/>
              <a:ext cx="558800" cy="530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6928582" y="7548245"/>
            <a:ext cx="8988423" cy="61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b="true" sz="2599">
                <a:solidFill>
                  <a:srgbClr val="086B89"/>
                </a:solidFill>
                <a:latin typeface="たづがね角ゴシック Info Semi-Bold"/>
                <a:ea typeface="たづがね角ゴシック Info Semi-Bold"/>
                <a:cs typeface="たづがね角ゴシック Info Semi-Bold"/>
                <a:sym typeface="たづがね角ゴシック Info Semi-Bold"/>
              </a:rPr>
              <a:t>利用記録で需要・稼働率・電池交換を検証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047750" y="7785100"/>
            <a:ext cx="4557587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実証で検証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047750" y="7467600"/>
            <a:ext cx="2103739" cy="33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b="true" sz="1999">
                <a:solidFill>
                  <a:srgbClr val="1A2F81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STEP 03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5605337" y="8570516"/>
            <a:ext cx="11634913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b="true" sz="2399">
                <a:solidFill>
                  <a:srgbClr val="010817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記録をシミュレーションに戻し、台数と運用を更新する。</a:t>
            </a:r>
          </a:p>
        </p:txBody>
      </p:sp>
      <p:sp>
        <p:nvSpPr>
          <p:cNvPr name="AutoShape 52" id="52"/>
          <p:cNvSpPr/>
          <p:nvPr/>
        </p:nvSpPr>
        <p:spPr>
          <a:xfrm>
            <a:off x="1028700" y="7265208"/>
            <a:ext cx="16182975" cy="0"/>
          </a:xfrm>
          <a:prstGeom prst="line">
            <a:avLst/>
          </a:prstGeom>
          <a:ln cap="flat" w="19050">
            <a:solidFill>
              <a:srgbClr val="B1B8C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詳細は docs/前提と出典.md、値はすべて config.yaml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主な前提値と出典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Assumptions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834640"/>
          <a:ext cx="16184880" cy="5669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11430000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値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状態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住宅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171戸（今後追加予定）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調査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2023年アンケート 23人（目的・時間帯・車種希望Q16）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走行速度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自転車12.6 km/h・キックボード14.0 km/h（走行ログ実測）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ポート座標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駅西口ポート 36.113177,139.712318／モビリティステーション 36.111012,139.709442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駅ポート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1台1m×2m、基本25台（区画①18＋区画②7）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確定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需要（転換率）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低位12%・高位24%、旧10%・30%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暫定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気象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雨・猛暑・強風・寒さの倍率と月別出現日数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要確認</a:t>
                      </a:r>
                    </a:p>
                  </a:txBody>
                  <a:tcPr marL="73152" marR="73152" marT="27432" marB="27432" anchor="ctr">
                    <a:solidFill>
                      <a:srgbClr val="E3E8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電池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キックボード航続30km、20%未満で交換・4時間停止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仮定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10817"/>
                          </a:solidFill>
                          <a:latin typeface="たづがね角ゴシック Info Bold"/>
                        </a:rPr>
                        <a:t>費用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車両15万円・3年、維持1.5万円/年、ポート20万円・5年ほか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仮定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18" id="18"/>
          <p:cNvSpPr txBox="true"/>
          <p:nvPr/>
        </p:nvSpPr>
        <p:spPr>
          <a:xfrm rot="0">
            <a:off x="1047750" y="2819455"/>
            <a:ext cx="11704320" cy="2691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0"/>
              </a:lnSpc>
            </a:pPr>
            <a:r>
              <a:rPr lang="en-US" sz="215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住宅側ポート3か所・運用a（夜1回の再配置）を推奨。失敗率5%で、低位需要は自転車16＋キックボード11＝27台・駅ポート25台、高位需要は自転車26＋キックボード16＝42台・駅ポート32台。</a:t>
            </a:r>
          </a:p>
          <a:p>
            <a:pPr algn="just">
              <a:lnSpc>
                <a:spcPts val="3440"/>
              </a:lnSpc>
            </a:pPr>
            <a:r>
              <a:rPr lang="en-US" sz="215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日中のリバランス（b・c）は台数・費用を増やすだけで効果が無い。駅ポートが満車になると返却失敗で台数が急増するため、需要が高位に近ければ区画②を2列（32台）にする。</a:t>
            </a:r>
          </a:p>
          <a:p>
            <a:pPr algn="just">
              <a:lnSpc>
                <a:spcPts val="3440"/>
              </a:lnSpc>
            </a:pPr>
            <a:r>
              <a:rPr lang="en-US" sz="215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10回のばらつきは最小台数で数台程度。計画は上側の値で見込むと安全。</a:t>
            </a:r>
          </a:p>
          <a:p>
            <a:pPr algn="just">
              <a:lnSpc>
                <a:spcPts val="3440"/>
              </a:lnSpc>
            </a:pPr>
            <a:r>
              <a:rPr lang="en-US" sz="2150">
                <a:solidFill>
                  <a:srgbClr val="010817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需要（転換率）が結果を最も左右するため、東京都資料での確定と再計算を最優先で進める。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3281018" y="4927215"/>
            <a:ext cx="3959232" cy="4312035"/>
          </a:xfrm>
          <a:custGeom>
            <a:avLst/>
            <a:gdLst/>
            <a:ahLst/>
            <a:cxnLst/>
            <a:rect r="r" b="b" t="t" l="l"/>
            <a:pathLst>
              <a:path h="4312035" w="3959232">
                <a:moveTo>
                  <a:pt x="0" y="0"/>
                </a:moveTo>
                <a:lnTo>
                  <a:pt x="3959232" y="0"/>
                </a:lnTo>
                <a:lnTo>
                  <a:pt x="3959232" y="4312035"/>
                </a:lnTo>
                <a:lnTo>
                  <a:pt x="0" y="43120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推奨案と次の一歩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まとめ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Summary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47750" y="5996360"/>
            <a:ext cx="7715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10817"/>
                </a:solidFill>
                <a:latin typeface="たづがね角ゴシック Info Medium"/>
                <a:ea typeface="たづがね角ゴシック Info Medium"/>
                <a:cs typeface="たづがね角ゴシック Info Medium"/>
                <a:sym typeface="たづがね角ゴシック Info Medium"/>
              </a:rPr>
              <a:t>モビリティポート検討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10回の中央値（最小–最大）。台数＝自転車＋キックボード合計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付録：全条件の結果（低位）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Appendix: All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697480"/>
          <a:ext cx="16184880" cy="68625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731520"/>
                <a:gridCol w="914400"/>
                <a:gridCol w="2011680"/>
                <a:gridCol w="2011680"/>
                <a:gridCol w="2377440"/>
                <a:gridCol w="2194560"/>
                <a:gridCol w="2194560"/>
                <a:gridCol w="256032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代替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駅容量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充足80%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月充足率(5%)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返却失敗(5%)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年間費用万円(5%)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16（15–17）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30（26–32）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54（44–64）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96.1（93.8–97.3）%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3.2（1.7–5.1）%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313（288–327）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16（15–17）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27（26–29）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41（37–53）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95.6（92.7–97.3）%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297（292–315）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16（15–17）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27（26–29）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41（37–53）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95.6（92.7–97.3）%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302（297–320）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18（16–20）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43（41–47）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63（54–66）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96.4（95.4–98.6）%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19.1（12.2–25.1）%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490（459–517）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18（16–20）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43（41–47）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59（53–64）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96.4（95.4–98.6）%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1.8（0.2–4.0）%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495（464–522）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18（16–20）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43（41–47）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59（53–64）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96.4（95.4–98.6）%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0.0（0.0–0.5）%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500（469–527）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18（16–20）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43（41–47）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63（54–66）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96.4（95.4–98.6）%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19.1（12.2–25.1）%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490（459–517）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18（16–20）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43（41–47）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59（53–64）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96.4（95.4–98.6）%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1.8（0.2–4.0）%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495（464–522）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18（16–20）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43（41–47）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59（53–64）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96.4（95.4–98.6）%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0.0（0.0–0.5）%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500（469–527）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12（11–13）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29（27–36）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96.8（92.2–98.5）%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0.0（0.0–1.0）%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243（232–261）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12（11–13）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28（27–35）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96.8（92.2–98.5）%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248（238–265）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12（11–13）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28（27–35）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96.8（92.2–98.5）%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254（243–270）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12（11–13）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28（24–37）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49（44–53）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96.8（94.2–99.1）%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1.6（0.0–5.9）%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355（322–431）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12（11–13）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28（24–37）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49（44–53）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96.8（94.2–99.1）%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360（327–437）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12（11–13）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28（24–37）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49（44–53）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96.8（94.2–99.1）%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365（332–442）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11（10–12）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28（22–37）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49（44–53）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96.4（94.2–98.1）%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2.1（0.0–5.9）%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355（300–431）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11（10–12）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28（22–37）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49（44–53）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96.4（94.2–98.1）%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360（305–437）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11（10–12）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28（22–37）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49（44–53）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96.4（94.2–98.1）%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365（310–442）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10回の中央値（最小–最大）。台数＝自転車＋キックボード合計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付録：全条件の結果（高位）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Appendix: All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697480"/>
          <a:ext cx="16184880" cy="68625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731520"/>
                <a:gridCol w="914400"/>
                <a:gridCol w="2011680"/>
                <a:gridCol w="2011680"/>
                <a:gridCol w="2377440"/>
                <a:gridCol w="2194560"/>
                <a:gridCol w="2194560"/>
                <a:gridCol w="256032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代替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駅容量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充足80%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月充足率(5%)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返却失敗(5%)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年間費用万円(5%)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30（29–32）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98［1/10回達成］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94.0%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24（23–26）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59（55–61）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116（110–124）［8/10回達成］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96.9（95.2–98.2）%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20.2（12.2–25.6）%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555（517–575）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24（23–24）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42（39–44）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78（69–105）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95.9（94.8–98.5）%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0.1（0.0–1.0）%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424（403–441）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30（29–32）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98［1/10回達成］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94.0%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47.1%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943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27（26–30）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78（70–104）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97.5（95.9–98.5）%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40.3（31.2–47.5）%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813（756–998）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28（26–30）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76（69–80）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112（98–123）［9/10回達成］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97.1（94.8–98.0）%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19.2（13.5–25.5）%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799（745–838）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30（29–32）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98［1/10回達成］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94.0%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26（25–30）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78（70–104）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97.5（95.9–98.5）%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40.3（31.2–47.5）%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813（756–998）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27（25–30）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76（69–80）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112（98–123）［9/10回達成］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97.1（94.8–98.0）%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19.2（13.5–25.5）%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799（745–838）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69（62–101）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96.5（94.0–97.8）%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34.2（29.1–47.3）%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629（578–879）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32（30–35）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60（48–63）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96.4（95.0–97.6）%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1.2（0.4–3.1）%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351（328–368）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32（30–34）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46（43–48）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96.1（94.7–96.9）%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352（333–367）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69（62–101）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96.3（93.5–97.8）%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34.2（29.2–47.3）%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707（655–967）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35（34–53）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101（96–111）［9/10回達成］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96.2（93.2–98.2）%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2.7（0.7–12.9）%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426（404–593）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20（19–21）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35（34–53）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88（78–101）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96.2（93.2–98.2）%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0.0（0.0–2.6）%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431（409–598）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19（18–19）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69（62–101）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96.3（93.5–97.8）%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34.2（29.2–47.3）%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707（655–967）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19（18–19）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35（31–53）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101（96–111）［9/10回達成］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96.3（93.3–98.2）%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2.5（0.4–12.9）%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430（381–593）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19（18–19）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35（31–53）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88（78–101）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96.3（93.3–98.2）%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0.0（0.0–2.6）%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435（386–598）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10回の中央値（最小–最大）。台数＝自転車＋キックボード合計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付録：全条件の結果（旧10%）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Appendix: All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697480"/>
          <a:ext cx="16184880" cy="68625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731520"/>
                <a:gridCol w="914400"/>
                <a:gridCol w="2011680"/>
                <a:gridCol w="2011680"/>
                <a:gridCol w="2377440"/>
                <a:gridCol w="2194560"/>
                <a:gridCol w="2194560"/>
                <a:gridCol w="256032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代替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駅容量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充足80%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月充足率(5%)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返却失敗(5%)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年間費用万円(5%)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14（12–14）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25（23–27）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40（38–50）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96.3（92.1–98.1）%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0.8（0.0–2.3）%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273（262–293）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14（12–14）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25（23–26）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38（36–41）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96.2（92.1–98.1）%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278（267–291）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14（12–14）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25（23–26）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38（36–41）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96.2（92.1–98.1）%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283（272–296）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16（15–17）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37（35–40）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50（46–59）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97.8（93.3–98.9）%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10.3（6.8–20.8）%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433（415–448）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16（15–17）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37（35–40）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50（46–59）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97.8（93.3–98.9）%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0.0（0.0–1.3）%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438（420–453）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16（15–17）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37（35–40）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50（46–59）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97.8（93.3–98.9）%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443（425–458）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15（15–17）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37（35–40）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50（46–59）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97.8（93.3–98.9）%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10.3（6.8–20.8）%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433（415–448）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15（15–17）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37（35–40）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50（46–59）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97.8（93.3–98.9）%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0.0（0.0–1.3）%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438（420–453）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15（15–17）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37（35–40）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50（46–59）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97.8（93.3–98.9）%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443（425–458）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10（10–13）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18（16–20）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27（24–32）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96.1（92.5–99.3）%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0.0（0.0–0.3）%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225（210–243）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10（10–13）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18（16–20）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27（24–32）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96.1（92.5–99.3）%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230（215–248）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10（10–13）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18（16–20）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27（24–32）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96.1（92.5–99.3）%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235（221–253）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10（10–13）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21（18–32）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40（38–45）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96.1（93.8–98.6）%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0.0（0.0–1.7）%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295（254–389）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10（10–13）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21（18–32）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40（38–45）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96.1（93.8–98.6）%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300（259–394）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10（10–13）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21（18–32）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40（38–45）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96.1（93.8–98.6）%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305（264–399）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10（9–10）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40（38–45）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96.5（91.4–98.6）%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0.0（0.0–1.7）%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287（257–389）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10（9–10）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20（18–32）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40（38–45）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96.5（91.4–98.6）%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292（262–394）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10（9–10）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20（18–32）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40（38–45）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96.5（91.4–98.6）%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297（267–399）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1047750" y="2144053"/>
            <a:ext cx="95250" cy="481013"/>
            <a:chOff x="0" y="0"/>
            <a:chExt cx="19464" cy="982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64" cy="98292"/>
            </a:xfrm>
            <a:custGeom>
              <a:avLst/>
              <a:gdLst/>
              <a:ahLst/>
              <a:cxnLst/>
              <a:rect r="r" b="b" t="t" l="l"/>
              <a:pathLst>
                <a:path h="98292" w="19464">
                  <a:moveTo>
                    <a:pt x="0" y="0"/>
                  </a:moveTo>
                  <a:lnTo>
                    <a:pt x="19464" y="0"/>
                  </a:lnTo>
                  <a:lnTo>
                    <a:pt x="19464" y="98292"/>
                  </a:lnTo>
                  <a:lnTo>
                    <a:pt x="0" y="98292"/>
                  </a:lnTo>
                  <a:close/>
                </a:path>
              </a:pathLst>
            </a:custGeom>
            <a:solidFill>
              <a:srgbClr val="1A2F81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19464" cy="212592"/>
            </a:xfrm>
            <a:prstGeom prst="rect">
              <a:avLst/>
            </a:prstGeom>
          </p:spPr>
          <p:txBody>
            <a:bodyPr anchor="ctr" rtlCol="false" tIns="40273" lIns="40273" bIns="40273" rIns="40273"/>
            <a:lstStyle/>
            <a:p>
              <a:pPr algn="ctr" marL="0" indent="0" lvl="0">
                <a:lnSpc>
                  <a:spcPts val="177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6063860" y="1132115"/>
            <a:ext cx="1177622" cy="189410"/>
            <a:chOff x="0" y="0"/>
            <a:chExt cx="1570163" cy="252547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52547" cy="252547"/>
              <a:chOff x="0" y="0"/>
              <a:chExt cx="81040" cy="8104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ABB5C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439205" y="0"/>
              <a:ext cx="252547" cy="252547"/>
              <a:chOff x="0" y="0"/>
              <a:chExt cx="81040" cy="810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808FB0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78410" y="0"/>
              <a:ext cx="252547" cy="252547"/>
              <a:chOff x="0" y="0"/>
              <a:chExt cx="81040" cy="8104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566A95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17615" y="0"/>
              <a:ext cx="252547" cy="252547"/>
              <a:chOff x="0" y="0"/>
              <a:chExt cx="81040" cy="810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040" cy="81040"/>
              </a:xfrm>
              <a:custGeom>
                <a:avLst/>
                <a:gdLst/>
                <a:ahLst/>
                <a:cxnLst/>
                <a:rect r="r" b="b" t="t" l="l"/>
                <a:pathLst>
                  <a:path h="81040" w="81040">
                    <a:moveTo>
                      <a:pt x="0" y="0"/>
                    </a:moveTo>
                    <a:lnTo>
                      <a:pt x="81040" y="0"/>
                    </a:lnTo>
                    <a:lnTo>
                      <a:pt x="81040" y="81040"/>
                    </a:lnTo>
                    <a:lnTo>
                      <a:pt x="0" y="81040"/>
                    </a:lnTo>
                    <a:close/>
                  </a:path>
                </a:pathLst>
              </a:custGeom>
              <a:solidFill>
                <a:srgbClr val="1A2F81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76200"/>
                <a:ext cx="81040" cy="157240"/>
              </a:xfrm>
              <a:prstGeom prst="rect">
                <a:avLst/>
              </a:prstGeom>
            </p:spPr>
            <p:txBody>
              <a:bodyPr anchor="ctr" rtlCol="false" tIns="77068" lIns="77068" bIns="77068" rIns="77068"/>
              <a:lstStyle/>
              <a:p>
                <a:pPr algn="ctr" marL="0" indent="0" lvl="0">
                  <a:lnSpc>
                    <a:spcPts val="1220"/>
                  </a:lnSpc>
                  <a:spcBef>
                    <a:spcPct val="0"/>
                  </a:spcBef>
                </a:pPr>
              </a:p>
            </p:txBody>
          </p:sp>
        </p:grpSp>
      </p:grpSp>
      <p:sp>
        <p:nvSpPr>
          <p:cNvPr name="TextBox 20" id="20"/>
          <p:cNvSpPr txBox="true"/>
          <p:nvPr/>
        </p:nvSpPr>
        <p:spPr>
          <a:xfrm rot="0">
            <a:off x="1301441" y="1915295"/>
            <a:ext cx="15910234" cy="681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1A2F81"/>
                </a:solidFill>
                <a:latin typeface="たづがね角ゴシック Info Bold"/>
                <a:ea typeface="たづがね角ゴシック Info Bold"/>
                <a:cs typeface="たづがね角ゴシック Info Bold"/>
                <a:sym typeface="たづがね角ゴシック Info Bold"/>
              </a:rPr>
              <a:t>10回の中央値（最小–最大）。台数＝自転車＋キックボード合計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47750" y="828675"/>
            <a:ext cx="8096250" cy="577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1A2F81"/>
                </a:solidFill>
                <a:latin typeface="たづがね角ゴシック Info"/>
                <a:ea typeface="たづがね角ゴシック Info"/>
                <a:cs typeface="たづがね角ゴシック Info"/>
                <a:sym typeface="たづがね角ゴシック Info"/>
              </a:rPr>
              <a:t>付録：全条件の結果（旧30%）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172575" y="1054418"/>
            <a:ext cx="6688237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A2F8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Appendix: All Conditions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51560" y="2697480"/>
          <a:ext cx="16184880" cy="68625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731520"/>
                <a:gridCol w="914400"/>
                <a:gridCol w="2011680"/>
                <a:gridCol w="2011680"/>
                <a:gridCol w="2377440"/>
                <a:gridCol w="2194560"/>
                <a:gridCol w="2194560"/>
                <a:gridCol w="256032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代替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運用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駅容量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充足80%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失敗5%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台数 失敗1%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月充足率(5%)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返却失敗(5%)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たづがね角ゴシック Info Bold"/>
                        </a:rPr>
                        <a:t>年間費用万円(5%)</a:t>
                      </a:r>
                    </a:p>
                  </a:txBody>
                  <a:tcPr marL="73152" marR="73152" marT="27432" marB="27432" anchor="ctr">
                    <a:solidFill>
                      <a:srgbClr val="1A2F81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42（39–44）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30（28–32）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123（122–131）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96.4（93.7–97.2）%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47.5（42.5–48.9）%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1,060（1,047–1,110）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27（26–28）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60（57–64）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132（127–142）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97.3（94.6–97.9）%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9.1（5.8–12.7）%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561（542–597）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42（39–44）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30（28–32）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123（122–131）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96.2（93.7–97.0）%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47.6（42.5–48.9）%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1,163（1,147–1,218）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30（28–32）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91（82–98）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146（143–149）［2/10回達成］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96.7（95.3–98.1）%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30.2（21.3–36.0）%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932（849–996）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42（39–44）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29（27–30）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123（122–131）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96.2（93.7–97.0）%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47.6（42.5–48.9）%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1,163（1,147–1,218）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なし(i)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29（27–32）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91（82–98）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146（143–149）［2/10回達成］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96.7（95.3–98.1）%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30.2（21.3–36.0）%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932（849–996）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27（26–29）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24（23–25）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51（42–72）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96.8（94.4–98.6）%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14.3（9.0–30.6）%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502（428–677）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a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24（23–25）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38（37–40）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62（52–76）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96.9（92.5–97.9）%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0.6（0.1–1.9）%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399（386–416）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27（26–29）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24（23–25）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51（42–72）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96.0（93.9–98.3）%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14.5（9.0–30.6）%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572（493–769）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24（23–25）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42（39–52）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130（122–137）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96.1（94.1–98.3）%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1.2（0.5–5.8）%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479（457–585）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27（26–29）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23（23–24）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51（41–72）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未達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95.9（94.2–98.3）%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14.4（7.2–30.6）%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572（472–769）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あり(ii)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c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23（23–24）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40（36–52）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130（122–137）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95.9（94.3–98.3）%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0.6（0.0–5.8）%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10817"/>
                          </a:solidFill>
                          <a:latin typeface="たづがね角ゴシック Info"/>
                        </a:rPr>
                        <a:t>465（424–585）</a:t>
                      </a:r>
                    </a:p>
                  </a:txBody>
                  <a:tcPr marL="73152" marR="73152" marT="27432" marB="27432" anchor="ctr"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DAHTd0SZdEA</dc:identifier>
  <dcterms:modified xsi:type="dcterms:W3CDTF">2011-08-01T06:04:30Z</dcterms:modified>
  <cp:revision>1</cp:revision>
  <dc:title>青と白 ビジネス 上半期成果報告書 プレゼンテーション</dc:title>
</cp:coreProperties>
</file>