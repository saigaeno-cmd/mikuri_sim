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media/image11.svg" ContentType="image/svg+xml"/>
  <Override PartName="/ppt/media/image13.svg" ContentType="image/svg+xml"/>
  <Override PartName="/ppt/media/image19.svg" ContentType="image/svg+xml"/>
  <Override PartName="/ppt/media/image2.svg" ContentType="image/svg+xml"/>
  <Override PartName="/ppt/media/image4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</p:sldIdLst>
  <p:sldSz cx="18288000" cy="10287000"/>
  <p:notesSz cx="6858000" cy="9144000"/>
  <p:embeddedFontLst>
    <p:embeddedFont>
      <p:font typeface="Montserrat Semi-Bold" charset="1" panose="00000700000000000000"/>
      <p:regular r:id="rId17"/>
    </p:embeddedFont>
    <p:embeddedFont>
      <p:font typeface="たづがね角ゴシック Info Bold" charset="1" panose="020B0803020203020204"/>
      <p:regular r:id="rId18"/>
    </p:embeddedFont>
    <p:embeddedFont>
      <p:font typeface="たづがね角ゴシック Info Semi-Bold" charset="1" panose="020B0703020203020204"/>
      <p:regular r:id="rId19"/>
    </p:embeddedFont>
    <p:embeddedFont>
      <p:font typeface="たづがね角ゴシック Info Medium" charset="1" panose="020B0603020203020204"/>
      <p:regular r:id="rId20"/>
    </p:embeddedFont>
    <p:embeddedFont>
      <p:font typeface="Montserrat Medium" charset="1" panose="00000600000000000000"/>
      <p:regular r:id="rId21"/>
    </p:embeddedFont>
    <p:embeddedFont>
      <p:font typeface="たづがね角ゴシック Info" charset="1" panose="020B0503020203020204"/>
      <p:regular r:id="rId22"/>
    </p:embeddedFont>
    <p:embeddedFont>
      <p:font typeface="Montserrat Bold" charset="1" panose="0000080000000000000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font" Target="fonts/font22.fntdata"/><Relationship Id="rId23" Type="http://schemas.openxmlformats.org/officeDocument/2006/relationships/font" Target="fonts/font23.fntdata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失敗率5%の最小台数（中央値、空欄＝未達）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171戸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20.5</c:v>
                </c:pt>
                <c:pt idx="1">
                  <c:v>32.5</c:v>
                </c:pt>
                <c:pt idx="2">
                  <c:v>18.0</c:v>
                </c:pt>
                <c:pt idx="3">
                  <c:v>51.0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230戸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24.0</c:v>
                </c:pt>
                <c:pt idx="1">
                  <c:v>80.0</c:v>
                </c:pt>
                <c:pt idx="2">
                  <c:v>21.5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最小台数の内訳（中央値、0＝未達）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電動アシスト自転車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Sheet1!$A$2:$A$9</c:f>
              <c:strCache>
                <c:ptCount val="8"/>
                <c:pt idx="0">
                  <c:v>低位
80%</c:v>
                </c:pt>
                <c:pt idx="1">
                  <c:v>低位
5%</c:v>
                </c:pt>
                <c:pt idx="2">
                  <c:v>高位
80%</c:v>
                </c:pt>
                <c:pt idx="3">
                  <c:v>高位
5%</c:v>
                </c:pt>
                <c:pt idx="4">
                  <c:v>旧10%
80%</c:v>
                </c:pt>
                <c:pt idx="5">
                  <c:v>旧10%
5%</c:v>
                </c:pt>
                <c:pt idx="6">
                  <c:v>旧30%
80%</c:v>
                </c:pt>
                <c:pt idx="7">
                  <c:v>旧30%
5%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9.0</c:v>
                </c:pt>
                <c:pt idx="1">
                  <c:v>14.0</c:v>
                </c:pt>
                <c:pt idx="2">
                  <c:v>15.5</c:v>
                </c:pt>
                <c:pt idx="3">
                  <c:v>20.0</c:v>
                </c:pt>
                <c:pt idx="4">
                  <c:v>8.0</c:v>
                </c:pt>
                <c:pt idx="5">
                  <c:v>13.0</c:v>
                </c:pt>
                <c:pt idx="6">
                  <c:v>21.0</c:v>
                </c:pt>
                <c:pt idx="7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電動キックボード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Sheet1!$A$2:$A$9</c:f>
              <c:strCache>
                <c:ptCount val="8"/>
                <c:pt idx="0">
                  <c:v>低位
80%</c:v>
                </c:pt>
                <c:pt idx="1">
                  <c:v>低位
5%</c:v>
                </c:pt>
                <c:pt idx="2">
                  <c:v>高位
80%</c:v>
                </c:pt>
                <c:pt idx="3">
                  <c:v>高位
5%</c:v>
                </c:pt>
                <c:pt idx="4">
                  <c:v>旧10%
80%</c:v>
                </c:pt>
                <c:pt idx="5">
                  <c:v>旧10%
5%</c:v>
                </c:pt>
                <c:pt idx="6">
                  <c:v>旧30%
80%</c:v>
                </c:pt>
                <c:pt idx="7">
                  <c:v>旧30%
5%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6.0</c:v>
                </c:pt>
                <c:pt idx="1">
                  <c:v>10.0</c:v>
                </c:pt>
                <c:pt idx="2">
                  <c:v>10.0</c:v>
                </c:pt>
                <c:pt idx="3">
                  <c:v>60.0</c:v>
                </c:pt>
                <c:pt idx="4">
                  <c:v>5.0</c:v>
                </c:pt>
                <c:pt idx="5">
                  <c:v>9.0</c:v>
                </c:pt>
                <c:pt idx="6">
                  <c:v>13.0</c:v>
                </c:pt>
                <c:pt idx="7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失敗率5%の最小台数（合計）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最小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低位(i)</c:v>
                </c:pt>
                <c:pt idx="1">
                  <c:v>低位(ii)</c:v>
                </c:pt>
                <c:pt idx="2">
                  <c:v>高位(ii)</c:v>
                </c:pt>
                <c:pt idx="3">
                  <c:v>旧10%(i)</c:v>
                </c:pt>
                <c:pt idx="4">
                  <c:v>旧10%(ii)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30.0</c:v>
                </c:pt>
                <c:pt idx="1">
                  <c:v>23.0</c:v>
                </c:pt>
                <c:pt idx="2">
                  <c:v>72.0</c:v>
                </c:pt>
                <c:pt idx="3">
                  <c:v>27.0</c:v>
                </c:pt>
                <c:pt idx="4">
                  <c:v>21.0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最小〜25%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Sheet1!$A$2:$A$6</c:f>
              <c:strCache>
                <c:ptCount val="5"/>
                <c:pt idx="0">
                  <c:v>低位(i)</c:v>
                </c:pt>
                <c:pt idx="1">
                  <c:v>低位(ii)</c:v>
                </c:pt>
                <c:pt idx="2">
                  <c:v>高位(ii)</c:v>
                </c:pt>
                <c:pt idx="3">
                  <c:v>旧10%(i)</c:v>
                </c:pt>
                <c:pt idx="4">
                  <c:v>旧10%(ii)</c:v>
                </c:pt>
              </c:strCache>
            </c:strRef>
          </c:cat>
          <c:val>
            <c:numRef>
              <c:f>Sheet1!$C$2:$C$6</c:f>
              <c:numCache>
                <c:formatCode>0</c:formatCode>
                <c:ptCount val="5"/>
                <c:pt idx="0">
                  <c:v>1.0</c:v>
                </c:pt>
                <c:pt idx="1">
                  <c:v>1.0</c:v>
                </c:pt>
                <c:pt idx="2">
                  <c:v>6.25</c:v>
                </c:pt>
                <c:pt idx="3">
                  <c:v>2.0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25%〜中央値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Sheet1!$A$2:$A$6</c:f>
              <c:strCache>
                <c:ptCount val="5"/>
                <c:pt idx="0">
                  <c:v>低位(i)</c:v>
                </c:pt>
                <c:pt idx="1">
                  <c:v>低位(ii)</c:v>
                </c:pt>
                <c:pt idx="2">
                  <c:v>高位(ii)</c:v>
                </c:pt>
                <c:pt idx="3">
                  <c:v>旧10%(i)</c:v>
                </c:pt>
                <c:pt idx="4">
                  <c:v>旧10%(ii)</c:v>
                </c:pt>
              </c:strCache>
            </c:strRef>
          </c:cat>
          <c:val>
            <c:numRef>
              <c:f>Sheet1!$D$2:$D$6</c:f>
              <c:numCache>
                <c:formatCode>0</c:formatCode>
                <c:ptCount val="5"/>
                <c:pt idx="0">
                  <c:v>1.0</c:v>
                </c:pt>
                <c:pt idx="1">
                  <c:v>0.0</c:v>
                </c:pt>
                <c:pt idx="2">
                  <c:v>1.75</c:v>
                </c:pt>
                <c:pt idx="3">
                  <c:v>0.5</c:v>
                </c:pt>
                <c:pt idx="4">
                  <c:v>0.5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中央値〜75%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Sheet1!$A$2:$A$6</c:f>
              <c:strCache>
                <c:ptCount val="5"/>
                <c:pt idx="0">
                  <c:v>低位(i)</c:v>
                </c:pt>
                <c:pt idx="1">
                  <c:v>低位(ii)</c:v>
                </c:pt>
                <c:pt idx="2">
                  <c:v>高位(ii)</c:v>
                </c:pt>
                <c:pt idx="3">
                  <c:v>旧10%(i)</c:v>
                </c:pt>
                <c:pt idx="4">
                  <c:v>旧10%(ii)</c:v>
                </c:pt>
              </c:strCache>
            </c:strRef>
          </c:cat>
          <c:val>
            <c:numRef>
              <c:f>Sheet1!$E$2:$E$6</c:f>
              <c:numCache>
                <c:formatCode>0</c:formatCode>
                <c:ptCount val="5"/>
                <c:pt idx="0">
                  <c:v>0.75</c:v>
                </c:pt>
                <c:pt idx="1">
                  <c:v>1.0</c:v>
                </c:pt>
                <c:pt idx="2">
                  <c:v>1.0</c:v>
                </c:pt>
                <c:pt idx="3">
                  <c:v>0.5</c:v>
                </c:pt>
                <c:pt idx="4">
                  <c:v>1.25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75%〜最大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Sheet1!$A$2:$A$6</c:f>
              <c:strCache>
                <c:ptCount val="5"/>
                <c:pt idx="0">
                  <c:v>低位(i)</c:v>
                </c:pt>
                <c:pt idx="1">
                  <c:v>低位(ii)</c:v>
                </c:pt>
                <c:pt idx="2">
                  <c:v>高位(ii)</c:v>
                </c:pt>
                <c:pt idx="3">
                  <c:v>旧10%(i)</c:v>
                </c:pt>
                <c:pt idx="4">
                  <c:v>旧10%(ii)</c:v>
                </c:pt>
              </c:strCache>
            </c:strRef>
          </c:cat>
          <c:val>
            <c:numRef>
              <c:f>Sheet1!$F$2:$F$6</c:f>
              <c:numCache>
                <c:formatCode>0</c:formatCode>
                <c:ptCount val="5"/>
                <c:pt idx="0">
                  <c:v>2.25</c:v>
                </c:pt>
                <c:pt idx="1">
                  <c:v>2.0</c:v>
                </c:pt>
                <c:pt idx="2">
                  <c:v>4.0</c:v>
                </c:pt>
                <c:pt idx="3">
                  <c:v>2.0</c:v>
                </c:pt>
                <c:pt idx="4">
                  <c:v>1.25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充足率80%の最小台数（合計）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最小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低位(i)</c:v>
                </c:pt>
                <c:pt idx="1">
                  <c:v>低位(ii)</c:v>
                </c:pt>
                <c:pt idx="2">
                  <c:v>高位(i)</c:v>
                </c:pt>
                <c:pt idx="3">
                  <c:v>高位(ii)</c:v>
                </c:pt>
                <c:pt idx="4">
                  <c:v>旧10%(i)</c:v>
                </c:pt>
                <c:pt idx="5">
                  <c:v>旧10%(ii)</c:v>
                </c:pt>
                <c:pt idx="6">
                  <c:v>旧30%(i)</c:v>
                </c:pt>
                <c:pt idx="7">
                  <c:v>旧30%(ii)</c:v>
                </c:pt>
              </c:strCache>
            </c:strRef>
          </c:cat>
          <c:val>
            <c:numRef>
              <c:f>Sheet1!$B$2:$B$9</c:f>
              <c:numCache>
                <c:formatCode>0</c:formatCode>
                <c:ptCount val="8"/>
                <c:pt idx="0">
                  <c:v>17.0</c:v>
                </c:pt>
                <c:pt idx="1">
                  <c:v>14.0</c:v>
                </c:pt>
                <c:pt idx="2">
                  <c:v>32.0</c:v>
                </c:pt>
                <c:pt idx="3">
                  <c:v>25.0</c:v>
                </c:pt>
                <c:pt idx="4">
                  <c:v>16.0</c:v>
                </c:pt>
                <c:pt idx="5">
                  <c:v>12.0</c:v>
                </c:pt>
                <c:pt idx="6">
                  <c:v>45.0</c:v>
                </c:pt>
                <c:pt idx="7">
                  <c:v>31.0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最小〜25%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Sheet1!$A$2:$A$9</c:f>
              <c:strCache>
                <c:ptCount val="8"/>
                <c:pt idx="0">
                  <c:v>低位(i)</c:v>
                </c:pt>
                <c:pt idx="1">
                  <c:v>低位(ii)</c:v>
                </c:pt>
                <c:pt idx="2">
                  <c:v>高位(i)</c:v>
                </c:pt>
                <c:pt idx="3">
                  <c:v>高位(ii)</c:v>
                </c:pt>
                <c:pt idx="4">
                  <c:v>旧10%(i)</c:v>
                </c:pt>
                <c:pt idx="5">
                  <c:v>旧10%(ii)</c:v>
                </c:pt>
                <c:pt idx="6">
                  <c:v>旧30%(i)</c:v>
                </c:pt>
                <c:pt idx="7">
                  <c:v>旧30%(ii)</c:v>
                </c:pt>
              </c:strCache>
            </c:strRef>
          </c:cat>
          <c:val>
            <c:numRef>
              <c:f>Sheet1!$C$2:$C$9</c:f>
              <c:numCache>
                <c:formatCode>0</c:formatCode>
                <c:ptCount val="8"/>
                <c:pt idx="0">
                  <c:v>1.0</c:v>
                </c:pt>
                <c:pt idx="1">
                  <c:v>0.25</c:v>
                </c:pt>
                <c:pt idx="2">
                  <c:v>0.25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2.25</c:v>
                </c:pt>
                <c:pt idx="7">
                  <c:v>1.25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25%〜中央値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Sheet1!$A$2:$A$9</c:f>
              <c:strCache>
                <c:ptCount val="8"/>
                <c:pt idx="0">
                  <c:v>低位(i)</c:v>
                </c:pt>
                <c:pt idx="1">
                  <c:v>低位(ii)</c:v>
                </c:pt>
                <c:pt idx="2">
                  <c:v>高位(i)</c:v>
                </c:pt>
                <c:pt idx="3">
                  <c:v>高位(ii)</c:v>
                </c:pt>
                <c:pt idx="4">
                  <c:v>旧10%(i)</c:v>
                </c:pt>
                <c:pt idx="5">
                  <c:v>旧10%(ii)</c:v>
                </c:pt>
                <c:pt idx="6">
                  <c:v>旧30%(i)</c:v>
                </c:pt>
                <c:pt idx="7">
                  <c:v>旧30%(ii)</c:v>
                </c:pt>
              </c:strCache>
            </c:strRef>
          </c:cat>
          <c:val>
            <c:numRef>
              <c:f>Sheet1!$D$2:$D$9</c:f>
              <c:numCache>
                <c:formatCode>0</c:formatCode>
                <c:ptCount val="8"/>
                <c:pt idx="0">
                  <c:v>0.0</c:v>
                </c:pt>
                <c:pt idx="1">
                  <c:v>0.75</c:v>
                </c:pt>
                <c:pt idx="2">
                  <c:v>1.25</c:v>
                </c:pt>
                <c:pt idx="3">
                  <c:v>0.0</c:v>
                </c:pt>
                <c:pt idx="4">
                  <c:v>0.0</c:v>
                </c:pt>
                <c:pt idx="5">
                  <c:v>0.5</c:v>
                </c:pt>
                <c:pt idx="6">
                  <c:v>1.25</c:v>
                </c:pt>
                <c:pt idx="7">
                  <c:v>0.75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中央値〜75%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Sheet1!$A$2:$A$9</c:f>
              <c:strCache>
                <c:ptCount val="8"/>
                <c:pt idx="0">
                  <c:v>低位(i)</c:v>
                </c:pt>
                <c:pt idx="1">
                  <c:v>低位(ii)</c:v>
                </c:pt>
                <c:pt idx="2">
                  <c:v>高位(i)</c:v>
                </c:pt>
                <c:pt idx="3">
                  <c:v>高位(ii)</c:v>
                </c:pt>
                <c:pt idx="4">
                  <c:v>旧10%(i)</c:v>
                </c:pt>
                <c:pt idx="5">
                  <c:v>旧10%(ii)</c:v>
                </c:pt>
                <c:pt idx="6">
                  <c:v>旧30%(i)</c:v>
                </c:pt>
                <c:pt idx="7">
                  <c:v>旧30%(ii)</c:v>
                </c:pt>
              </c:strCache>
            </c:strRef>
          </c:cat>
          <c:val>
            <c:numRef>
              <c:f>Sheet1!$E$2:$E$9</c:f>
              <c:numCache>
                <c:formatCode>0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2.0</c:v>
                </c:pt>
                <c:pt idx="3">
                  <c:v>0.0</c:v>
                </c:pt>
                <c:pt idx="4">
                  <c:v>0.0</c:v>
                </c:pt>
                <c:pt idx="5">
                  <c:v>0.5</c:v>
                </c:pt>
                <c:pt idx="6">
                  <c:v>1.5</c:v>
                </c:pt>
                <c:pt idx="7">
                  <c:v>0.75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75%〜最大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Sheet1!$A$2:$A$9</c:f>
              <c:strCache>
                <c:ptCount val="8"/>
                <c:pt idx="0">
                  <c:v>低位(i)</c:v>
                </c:pt>
                <c:pt idx="1">
                  <c:v>低位(ii)</c:v>
                </c:pt>
                <c:pt idx="2">
                  <c:v>高位(i)</c:v>
                </c:pt>
                <c:pt idx="3">
                  <c:v>高位(ii)</c:v>
                </c:pt>
                <c:pt idx="4">
                  <c:v>旧10%(i)</c:v>
                </c:pt>
                <c:pt idx="5">
                  <c:v>旧10%(ii)</c:v>
                </c:pt>
                <c:pt idx="6">
                  <c:v>旧30%(i)</c:v>
                </c:pt>
                <c:pt idx="7">
                  <c:v>旧30%(ii)</c:v>
                </c:pt>
              </c:strCache>
            </c:strRef>
          </c:cat>
          <c:val>
            <c:numRef>
              <c:f>Sheet1!$F$2:$F$9</c:f>
              <c:numCache>
                <c:formatCode>0</c:formatCode>
                <c:ptCount val="8"/>
                <c:pt idx="0">
                  <c:v>1.0</c:v>
                </c:pt>
                <c:pt idx="1">
                  <c:v>0.0</c:v>
                </c:pt>
                <c:pt idx="2">
                  <c:v>1.5</c:v>
                </c:pt>
                <c:pt idx="3">
                  <c:v>1.0</c:v>
                </c:pt>
                <c:pt idx="4">
                  <c:v>1.0</c:v>
                </c:pt>
                <c:pt idx="5">
                  <c:v>1.0</c:v>
                </c:pt>
                <c:pt idx="6">
                  <c:v>2.0</c:v>
                </c:pt>
                <c:pt idx="7">
                  <c:v>0.25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1か月の充足率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最小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0.933980582524272</c:v>
                </c:pt>
                <c:pt idx="1">
                  <c:v>0.9377224199288255</c:v>
                </c:pt>
                <c:pt idx="2">
                  <c:v>0.9121140142517816</c:v>
                </c:pt>
                <c:pt idx="3">
                  <c:v>0.9441624365482234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最小〜25%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0.02193124112302247</c:v>
                </c:pt>
                <c:pt idx="1">
                  <c:v>0.018714807343590323</c:v>
                </c:pt>
                <c:pt idx="2">
                  <c:v>0.046513798041432186</c:v>
                </c:pt>
                <c:pt idx="3">
                  <c:v>0.012810857220322602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25%〜中央値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0.010936194153155943</c:v>
                </c:pt>
                <c:pt idx="1">
                  <c:v>0.007272450146938891</c:v>
                </c:pt>
                <c:pt idx="2">
                  <c:v>0.014993290824292238</c:v>
                </c:pt>
                <c:pt idx="3">
                  <c:v>0.007464828564313186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中央値〜75%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Sheet1!$E$2:$E$5</c:f>
              <c:numCache>
                <c:formatCode>0%</c:formatCode>
                <c:ptCount val="4"/>
                <c:pt idx="0">
                  <c:v>0.00781085159526107</c:v>
                </c:pt>
                <c:pt idx="1">
                  <c:v>0.0077460790031000926</c:v>
                </c:pt>
                <c:pt idx="2">
                  <c:v>0.0100189786820849</c:v>
                </c:pt>
                <c:pt idx="3">
                  <c:v>0.007330079747378426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75%〜最大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Sheet1!$F$2:$F$5</c:f>
              <c:numCache>
                <c:formatCode>0%</c:formatCode>
                <c:ptCount val="4"/>
                <c:pt idx="0">
                  <c:v>0.011918311812342153</c:v>
                </c:pt>
                <c:pt idx="1">
                  <c:v>0.015017673529235998</c:v>
                </c:pt>
                <c:pt idx="2">
                  <c:v>0.011973953288128225</c:v>
                </c:pt>
                <c:pt idx="3">
                  <c:v>0.005867580667366368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返却失敗率（満車）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最小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Sheet1!$B$2:$B$5</c:f>
              <c:numCache>
                <c:formatCode>0.0%</c:formatCode>
                <c:ptCount val="4"/>
                <c:pt idx="0">
                  <c:v>0.0</c:v>
                </c:pt>
                <c:pt idx="1">
                  <c:v>0.0009487666034155</c:v>
                </c:pt>
                <c:pt idx="2">
                  <c:v>0.0</c:v>
                </c:pt>
                <c:pt idx="3">
                  <c:v>0.1134185303514377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最小〜25%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Sheet1!$C$2:$C$5</c:f>
              <c:numCache>
                <c:formatCode>0.0%</c:formatCode>
                <c:ptCount val="4"/>
                <c:pt idx="0">
                  <c:v>0.0</c:v>
                </c:pt>
                <c:pt idx="1">
                  <c:v>0.0346378890462436</c:v>
                </c:pt>
                <c:pt idx="2">
                  <c:v>0.0</c:v>
                </c:pt>
                <c:pt idx="3">
                  <c:v>0.14631819697769774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25%〜中央値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Sheet1!$D$2:$D$5</c:f>
              <c:numCache>
                <c:formatCode>0.0%</c:formatCode>
                <c:ptCount val="4"/>
                <c:pt idx="0">
                  <c:v>0.0079135845955148</c:v>
                </c:pt>
                <c:pt idx="1">
                  <c:v>0.2233419157789123</c:v>
                </c:pt>
                <c:pt idx="2">
                  <c:v>0.0024752475247524</c:v>
                </c:pt>
                <c:pt idx="3">
                  <c:v>0.12153515533841341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中央値〜75%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Sheet1!$E$2:$E$5</c:f>
              <c:numCache>
                <c:formatCode>0.0%</c:formatCode>
                <c:ptCount val="4"/>
                <c:pt idx="0">
                  <c:v>0.1036037828633517</c:v>
                </c:pt>
                <c:pt idx="1">
                  <c:v>0.09831925082041415</c:v>
                </c:pt>
                <c:pt idx="2">
                  <c:v>0.0517008247100105</c:v>
                </c:pt>
                <c:pt idx="3">
                  <c:v>0.08946217900395159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75%〜最大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Sheet1!$F$2:$F$5</c:f>
              <c:numCache>
                <c:formatCode>0.0%</c:formatCode>
                <c:ptCount val="4"/>
                <c:pt idx="0">
                  <c:v>0.3799502093329423</c:v>
                </c:pt>
                <c:pt idx="1">
                  <c:v>0.13015527852620823</c:v>
                </c:pt>
                <c:pt idx="2">
                  <c:v>0.326776308717618</c:v>
                </c:pt>
                <c:pt idx="3">
                  <c:v>0.020803833839904973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numFmt formatCode="0.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代替乗車率（(ii)のみ）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最小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0.0318725099601593</c:v>
                </c:pt>
                <c:pt idx="1">
                  <c:v>0.019588638589618</c:v>
                </c:pt>
                <c:pt idx="2">
                  <c:v>0.0301075268817204</c:v>
                </c:pt>
                <c:pt idx="3">
                  <c:v>0.0121580547112462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最小〜25%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0.015841775754126403</c:v>
                </c:pt>
                <c:pt idx="1">
                  <c:v>0.017105654566905756</c:v>
                </c:pt>
                <c:pt idx="2">
                  <c:v>0.017511520737327202</c:v>
                </c:pt>
                <c:pt idx="3">
                  <c:v>0.01347041737220365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25%〜中央値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0.013255102040816293</c:v>
                </c:pt>
                <c:pt idx="1">
                  <c:v>0.02252550799108205</c:v>
                </c:pt>
                <c:pt idx="2">
                  <c:v>0.006260262725779897</c:v>
                </c:pt>
                <c:pt idx="3">
                  <c:v>0.003318701278930799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中央値〜75%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Sheet1!$E$2:$E$5</c:f>
              <c:numCache>
                <c:formatCode>0%</c:formatCode>
                <c:ptCount val="4"/>
                <c:pt idx="0">
                  <c:v>0.012714822771213705</c:v>
                </c:pt>
                <c:pt idx="1">
                  <c:v>0.11528474156117874</c:v>
                </c:pt>
                <c:pt idx="2">
                  <c:v>0.016827760362243205</c:v>
                </c:pt>
                <c:pt idx="3">
                  <c:v>0.008830891678985247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75%〜最大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Sheet1!$F$2:$F$5</c:f>
              <c:numCache>
                <c:formatCode>0%</c:formatCode>
                <c:ptCount val="4"/>
                <c:pt idx="0">
                  <c:v>0.4818713450292399</c:v>
                </c:pt>
                <c:pt idx="1">
                  <c:v>0.38707633964415655</c:v>
                </c:pt>
                <c:pt idx="2">
                  <c:v>0.4845976696992498</c:v>
                </c:pt>
                <c:pt idx="3">
                  <c:v>0.5723787684164384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年間総費用（万円）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最小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266.7287440191388</c:v>
                </c:pt>
                <c:pt idx="1">
                  <c:v>395.57496411483254</c:v>
                </c:pt>
                <c:pt idx="2">
                  <c:v>249.36450956937801</c:v>
                </c:pt>
                <c:pt idx="3">
                  <c:v>577.293995215311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最小〜25%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68.08813397129182</c:v>
                </c:pt>
                <c:pt idx="1">
                  <c:v>150.57092703349275</c:v>
                </c:pt>
                <c:pt idx="2">
                  <c:v>75.9612709330143</c:v>
                </c:pt>
                <c:pt idx="3">
                  <c:v>281.8127153110047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25%〜中央値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Sheet1!$D$2:$D$5</c:f>
              <c:numCache>
                <c:formatCode>#,##0</c:formatCode>
                <c:ptCount val="4"/>
                <c:pt idx="0">
                  <c:v>43.450299043062216</c:v>
                </c:pt>
                <c:pt idx="1">
                  <c:v>218.54761363636362</c:v>
                </c:pt>
                <c:pt idx="2">
                  <c:v>69.06667763157901</c:v>
                </c:pt>
                <c:pt idx="3">
                  <c:v>298.46832535885164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中央値〜75%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Sheet1!$E$2:$E$5</c:f>
              <c:numCache>
                <c:formatCode>#,##0</c:formatCode>
                <c:ptCount val="4"/>
                <c:pt idx="0">
                  <c:v>202.83105263157898</c:v>
                </c:pt>
                <c:pt idx="1">
                  <c:v>168.87679425837325</c:v>
                </c:pt>
                <c:pt idx="2">
                  <c:v>118.27130980861239</c:v>
                </c:pt>
                <c:pt idx="3">
                  <c:v>329.36157894736857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75%〜最大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Sheet1!$F$2:$F$5</c:f>
              <c:numCache>
                <c:formatCode>#,##0</c:formatCode>
                <c:ptCount val="4"/>
                <c:pt idx="0">
                  <c:v>158.73157894736835</c:v>
                </c:pt>
                <c:pt idx="1">
                  <c:v>451.93739234449765</c:v>
                </c:pt>
                <c:pt idx="2">
                  <c:v>58.28502392344501</c:v>
                </c:pt>
                <c:pt idx="3">
                  <c:v>103.90934210526302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失敗率5%の最小台数（中央値、0＝未達）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代替乗車なし(i)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32.0</c:v>
                </c:pt>
                <c:pt idx="1">
                  <c:v>0</c:v>
                </c:pt>
                <c:pt idx="2">
                  <c:v>29.5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代替乗車あり(ii)</c:v>
                </c:pt>
              </c:strCache>
            </c:strRef>
          </c:tx>
          <c:spPr>
            <a:solidFill>
              <a:srgbClr val="808FB0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24.0</c:v>
                </c:pt>
                <c:pt idx="1">
                  <c:v>80.0</c:v>
                </c:pt>
                <c:pt idx="2">
                  <c:v>21.5</c:v>
                </c:pt>
                <c:pt idx="3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失敗率5%の最小台数（あり(ii)・運用a、0＝未達）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18台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24.0</c:v>
                </c:pt>
                <c:pt idx="1">
                  <c:v>0</c:v>
                </c:pt>
                <c:pt idx="2">
                  <c:v>21.5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25台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24.0</c:v>
                </c:pt>
                <c:pt idx="1">
                  <c:v>80.0</c:v>
                </c:pt>
                <c:pt idx="2">
                  <c:v>21.5</c:v>
                </c:pt>
                <c:pt idx="3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32台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24.0</c:v>
                </c:pt>
                <c:pt idx="1">
                  <c:v>40.0</c:v>
                </c:pt>
                <c:pt idx="2">
                  <c:v>21.5</c:v>
                </c:pt>
                <c:pt idx="3">
                  <c:v>87.0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低位：自転車14＋キックボード10台（運用a）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利用希望（回/日）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Sheet1!$A$2:$A$31</c:f>
              <c:strCach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3.0</c:v>
                </c:pt>
                <c:pt idx="1">
                  <c:v>29.0</c:v>
                </c:pt>
                <c:pt idx="2">
                  <c:v>10.0</c:v>
                </c:pt>
                <c:pt idx="3">
                  <c:v>24.0</c:v>
                </c:pt>
                <c:pt idx="4">
                  <c:v>14.0</c:v>
                </c:pt>
                <c:pt idx="5">
                  <c:v>9.0</c:v>
                </c:pt>
                <c:pt idx="6">
                  <c:v>7.0</c:v>
                </c:pt>
                <c:pt idx="7">
                  <c:v>2.0</c:v>
                </c:pt>
                <c:pt idx="8">
                  <c:v>34.0</c:v>
                </c:pt>
                <c:pt idx="9">
                  <c:v>40.0</c:v>
                </c:pt>
                <c:pt idx="10">
                  <c:v>34.0</c:v>
                </c:pt>
                <c:pt idx="11">
                  <c:v>33.0</c:v>
                </c:pt>
                <c:pt idx="12">
                  <c:v>32.0</c:v>
                </c:pt>
                <c:pt idx="13">
                  <c:v>4.0</c:v>
                </c:pt>
                <c:pt idx="14">
                  <c:v>10.0</c:v>
                </c:pt>
                <c:pt idx="15">
                  <c:v>23.0</c:v>
                </c:pt>
                <c:pt idx="16">
                  <c:v>25.0</c:v>
                </c:pt>
                <c:pt idx="17">
                  <c:v>28.0</c:v>
                </c:pt>
                <c:pt idx="18">
                  <c:v>24.0</c:v>
                </c:pt>
                <c:pt idx="19">
                  <c:v>33.0</c:v>
                </c:pt>
                <c:pt idx="20">
                  <c:v>1.0</c:v>
                </c:pt>
                <c:pt idx="21">
                  <c:v>6.0</c:v>
                </c:pt>
                <c:pt idx="22">
                  <c:v>0.0</c:v>
                </c:pt>
                <c:pt idx="23">
                  <c:v>21.0</c:v>
                </c:pt>
                <c:pt idx="24">
                  <c:v>44.0</c:v>
                </c:pt>
                <c:pt idx="25">
                  <c:v>21.0</c:v>
                </c:pt>
                <c:pt idx="26">
                  <c:v>30.0</c:v>
                </c:pt>
                <c:pt idx="27">
                  <c:v>8.0</c:v>
                </c:pt>
                <c:pt idx="28">
                  <c:v>4.0</c:v>
                </c:pt>
                <c:pt idx="29">
                  <c:v>29.0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利用（回/日）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Sheet1!$A$2:$A$31</c:f>
              <c:strCach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3.0</c:v>
                </c:pt>
                <c:pt idx="1">
                  <c:v>29.0</c:v>
                </c:pt>
                <c:pt idx="2">
                  <c:v>10.0</c:v>
                </c:pt>
                <c:pt idx="3">
                  <c:v>21.0</c:v>
                </c:pt>
                <c:pt idx="4">
                  <c:v>14.0</c:v>
                </c:pt>
                <c:pt idx="5">
                  <c:v>9.0</c:v>
                </c:pt>
                <c:pt idx="6">
                  <c:v>7.0</c:v>
                </c:pt>
                <c:pt idx="7">
                  <c:v>2.0</c:v>
                </c:pt>
                <c:pt idx="8">
                  <c:v>32.0</c:v>
                </c:pt>
                <c:pt idx="9">
                  <c:v>35.0</c:v>
                </c:pt>
                <c:pt idx="10">
                  <c:v>32.0</c:v>
                </c:pt>
                <c:pt idx="11">
                  <c:v>32.0</c:v>
                </c:pt>
                <c:pt idx="12">
                  <c:v>29.0</c:v>
                </c:pt>
                <c:pt idx="13">
                  <c:v>4.0</c:v>
                </c:pt>
                <c:pt idx="14">
                  <c:v>10.0</c:v>
                </c:pt>
                <c:pt idx="15">
                  <c:v>23.0</c:v>
                </c:pt>
                <c:pt idx="16">
                  <c:v>23.0</c:v>
                </c:pt>
                <c:pt idx="17">
                  <c:v>28.0</c:v>
                </c:pt>
                <c:pt idx="18">
                  <c:v>24.0</c:v>
                </c:pt>
                <c:pt idx="19">
                  <c:v>33.0</c:v>
                </c:pt>
                <c:pt idx="20">
                  <c:v>1.0</c:v>
                </c:pt>
                <c:pt idx="21">
                  <c:v>6.0</c:v>
                </c:pt>
                <c:pt idx="22">
                  <c:v>0.0</c:v>
                </c:pt>
                <c:pt idx="23">
                  <c:v>21.0</c:v>
                </c:pt>
                <c:pt idx="24">
                  <c:v>35.0</c:v>
                </c:pt>
                <c:pt idx="25">
                  <c:v>21.0</c:v>
                </c:pt>
                <c:pt idx="26">
                  <c:v>30.0</c:v>
                </c:pt>
                <c:pt idx="27">
                  <c:v>8.0</c:v>
                </c:pt>
                <c:pt idx="28">
                  <c:v>4.0</c:v>
                </c:pt>
                <c:pt idx="29">
                  <c:v>26.0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高位：自転車24＋キックボード16台（運用a）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利用希望（回/日）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Sheet1!$A$2:$A$31</c:f>
              <c:strCach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12.0</c:v>
                </c:pt>
                <c:pt idx="1">
                  <c:v>51.0</c:v>
                </c:pt>
                <c:pt idx="2">
                  <c:v>8.0</c:v>
                </c:pt>
                <c:pt idx="3">
                  <c:v>51.0</c:v>
                </c:pt>
                <c:pt idx="4">
                  <c:v>20.0</c:v>
                </c:pt>
                <c:pt idx="5">
                  <c:v>23.0</c:v>
                </c:pt>
                <c:pt idx="6">
                  <c:v>13.0</c:v>
                </c:pt>
                <c:pt idx="7">
                  <c:v>16.0</c:v>
                </c:pt>
                <c:pt idx="8">
                  <c:v>64.0</c:v>
                </c:pt>
                <c:pt idx="9">
                  <c:v>73.0</c:v>
                </c:pt>
                <c:pt idx="10">
                  <c:v>55.0</c:v>
                </c:pt>
                <c:pt idx="11">
                  <c:v>54.0</c:v>
                </c:pt>
                <c:pt idx="12">
                  <c:v>50.0</c:v>
                </c:pt>
                <c:pt idx="13">
                  <c:v>11.0</c:v>
                </c:pt>
                <c:pt idx="14">
                  <c:v>18.0</c:v>
                </c:pt>
                <c:pt idx="15">
                  <c:v>59.0</c:v>
                </c:pt>
                <c:pt idx="16">
                  <c:v>53.0</c:v>
                </c:pt>
                <c:pt idx="17">
                  <c:v>52.0</c:v>
                </c:pt>
                <c:pt idx="18">
                  <c:v>57.0</c:v>
                </c:pt>
                <c:pt idx="19">
                  <c:v>64.0</c:v>
                </c:pt>
                <c:pt idx="20">
                  <c:v>0.0</c:v>
                </c:pt>
                <c:pt idx="21">
                  <c:v>14.0</c:v>
                </c:pt>
                <c:pt idx="22">
                  <c:v>3.0</c:v>
                </c:pt>
                <c:pt idx="23">
                  <c:v>41.0</c:v>
                </c:pt>
                <c:pt idx="24">
                  <c:v>62.0</c:v>
                </c:pt>
                <c:pt idx="25">
                  <c:v>53.0</c:v>
                </c:pt>
                <c:pt idx="26">
                  <c:v>61.0</c:v>
                </c:pt>
                <c:pt idx="27">
                  <c:v>11.0</c:v>
                </c:pt>
                <c:pt idx="28">
                  <c:v>11.0</c:v>
                </c:pt>
                <c:pt idx="29">
                  <c:v>62.0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利用（回/日）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Sheet1!$A$2:$A$31</c:f>
              <c:strCach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12.0</c:v>
                </c:pt>
                <c:pt idx="1">
                  <c:v>51.0</c:v>
                </c:pt>
                <c:pt idx="2">
                  <c:v>7.0</c:v>
                </c:pt>
                <c:pt idx="3">
                  <c:v>45.0</c:v>
                </c:pt>
                <c:pt idx="4">
                  <c:v>20.0</c:v>
                </c:pt>
                <c:pt idx="5">
                  <c:v>23.0</c:v>
                </c:pt>
                <c:pt idx="6">
                  <c:v>13.0</c:v>
                </c:pt>
                <c:pt idx="7">
                  <c:v>13.0</c:v>
                </c:pt>
                <c:pt idx="8">
                  <c:v>60.0</c:v>
                </c:pt>
                <c:pt idx="9">
                  <c:v>67.0</c:v>
                </c:pt>
                <c:pt idx="10">
                  <c:v>55.0</c:v>
                </c:pt>
                <c:pt idx="11">
                  <c:v>54.0</c:v>
                </c:pt>
                <c:pt idx="12">
                  <c:v>46.0</c:v>
                </c:pt>
                <c:pt idx="13">
                  <c:v>11.0</c:v>
                </c:pt>
                <c:pt idx="14">
                  <c:v>18.0</c:v>
                </c:pt>
                <c:pt idx="15">
                  <c:v>59.0</c:v>
                </c:pt>
                <c:pt idx="16">
                  <c:v>53.0</c:v>
                </c:pt>
                <c:pt idx="17">
                  <c:v>47.0</c:v>
                </c:pt>
                <c:pt idx="18">
                  <c:v>56.0</c:v>
                </c:pt>
                <c:pt idx="19">
                  <c:v>43.0</c:v>
                </c:pt>
                <c:pt idx="20">
                  <c:v>0.0</c:v>
                </c:pt>
                <c:pt idx="21">
                  <c:v>13.0</c:v>
                </c:pt>
                <c:pt idx="22">
                  <c:v>3.0</c:v>
                </c:pt>
                <c:pt idx="23">
                  <c:v>41.0</c:v>
                </c:pt>
                <c:pt idx="24">
                  <c:v>59.0</c:v>
                </c:pt>
                <c:pt idx="25">
                  <c:v>47.0</c:v>
                </c:pt>
                <c:pt idx="26">
                  <c:v>60.0</c:v>
                </c:pt>
                <c:pt idx="27">
                  <c:v>11.0</c:v>
                </c:pt>
                <c:pt idx="28">
                  <c:v>9.0</c:v>
                </c:pt>
                <c:pt idx="29">
                  <c:v>61.0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年間費用の内訳（万円、中央値）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車両（償却）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120.0</c:v>
                </c:pt>
                <c:pt idx="1">
                  <c:v>200.0</c:v>
                </c:pt>
                <c:pt idx="2">
                  <c:v>107.5</c:v>
                </c:pt>
                <c:pt idx="3">
                  <c:v>435.0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車両維持</c:v>
                </c:pt>
              </c:strCache>
            </c:strRef>
          </c:tx>
          <c:spPr>
            <a:solidFill>
              <a:srgbClr val="808FB0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36.0</c:v>
                </c:pt>
                <c:pt idx="1">
                  <c:v>60.0</c:v>
                </c:pt>
                <c:pt idx="2">
                  <c:v>32.25</c:v>
                </c:pt>
                <c:pt idx="3">
                  <c:v>130.5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ポート（償却）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Sheet1!$D$2:$D$5</c:f>
              <c:numCache>
                <c:formatCode>#,##0</c:formatCode>
                <c:ptCount val="4"/>
                <c:pt idx="0">
                  <c:v>20.0</c:v>
                </c:pt>
                <c:pt idx="1">
                  <c:v>20.0</c:v>
                </c:pt>
                <c:pt idx="2">
                  <c:v>20.0</c:v>
                </c:pt>
                <c:pt idx="3">
                  <c:v>20.0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用地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Sheet1!$E$2:$E$5</c:f>
              <c:numCache>
                <c:formatCode>#,##0</c:formatCode>
                <c:ptCount val="4"/>
                <c:pt idx="0">
                  <c:v>39.6</c:v>
                </c:pt>
                <c:pt idx="1">
                  <c:v>64.44</c:v>
                </c:pt>
                <c:pt idx="2">
                  <c:v>36.72</c:v>
                </c:pt>
                <c:pt idx="3">
                  <c:v>91.8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人件費（リバランス）</c:v>
                </c:pt>
              </c:strCache>
            </c:strRef>
          </c:tx>
          <c:spPr>
            <a:solidFill>
              <a:srgbClr val="5D549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Sheet1!$F$2:$F$5</c:f>
              <c:numCache>
                <c:formatCode>#,##0</c:formatCode>
                <c:ptCount val="4"/>
                <c:pt idx="0">
                  <c:v>43.96402511961723</c:v>
                </c:pt>
                <c:pt idx="1">
                  <c:v>52.24377990430622</c:v>
                </c:pt>
                <c:pt idx="2">
                  <c:v>40.46788277511962</c:v>
                </c:pt>
                <c:pt idx="3">
                  <c:v>100.28624401913876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軽トラック</c:v>
                </c:pt>
              </c:strCache>
            </c:strRef>
          </c:tx>
          <c:spPr>
            <a:solidFill>
              <a:srgbClr val="C9CFDC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Sheet1!$G$2:$G$5</c:f>
              <c:numCache>
                <c:formatCode>#,##0</c:formatCode>
                <c:ptCount val="4"/>
                <c:pt idx="0">
                  <c:v>18.25</c:v>
                </c:pt>
                <c:pt idx="1">
                  <c:v>18.25</c:v>
                </c:pt>
                <c:pt idx="2">
                  <c:v>17.97727272727273</c:v>
                </c:pt>
                <c:pt idx="3">
                  <c:v>18.25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最小台数の増減（台）　基準 34台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下限の値のとき</c:v>
                </c:pt>
              </c:strCache>
            </c:strRef>
          </c:tx>
          <c:spPr>
            <a:solidFill>
              <a:srgbClr val="808FB0"/>
            </a:solidFill>
          </c:spPr>
          <c:cat>
            <c:strRef>
              <c:f>Sheet1!$A$2:$A$6</c:f>
              <c:strCache>
                <c:ptCount val="5"/>
                <c:pt idx="0">
                  <c:v>手続き時間（秒）
30秒〜120秒</c:v>
                </c:pt>
                <c:pt idx="1">
                  <c:v>歩行速度（km/h）
4.0〜5.5</c:v>
                </c:pt>
                <c:pt idx="2">
                  <c:v>自転車の比率
50%〜70%</c:v>
                </c:pt>
                <c:pt idx="3">
                  <c:v>駅ポート容量
18台〜32台</c:v>
                </c:pt>
                <c:pt idx="4">
                  <c:v>需要（転換率）
12%〜24%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0.0</c:v>
                </c:pt>
                <c:pt idx="1">
                  <c:v>1.0</c:v>
                </c:pt>
                <c:pt idx="2">
                  <c:v>0.0</c:v>
                </c:pt>
                <c:pt idx="3">
                  <c:v>34.0</c:v>
                </c:pt>
                <c:pt idx="4">
                  <c:v>-10.0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上限の値のとき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Sheet1!$A$2:$A$6</c:f>
              <c:strCache>
                <c:ptCount val="5"/>
                <c:pt idx="0">
                  <c:v>手続き時間（秒）
30秒〜120秒</c:v>
                </c:pt>
                <c:pt idx="1">
                  <c:v>歩行速度（km/h）
4.0〜5.5</c:v>
                </c:pt>
                <c:pt idx="2">
                  <c:v>自転車の比率
50%〜70%</c:v>
                </c:pt>
                <c:pt idx="3">
                  <c:v>駅ポート容量
18台〜32台</c:v>
                </c:pt>
                <c:pt idx="4">
                  <c:v>需要（転換率）
12%〜24%</c:v>
                </c:pt>
              </c:strCache>
            </c:strRef>
          </c:cat>
          <c:val>
            <c:numRef>
              <c:f>Sheet1!$C$2:$C$6</c:f>
              <c:numCache>
                <c:formatCode>0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-2.0</c:v>
                </c:pt>
                <c:pt idx="3">
                  <c:v>0.0</c:v>
                </c:pt>
                <c:pt idx="4">
                  <c:v>46.0</c:v>
                </c:pt>
              </c:numCache>
            </c:numRef>
          </c:val>
        </c:ser>
        <c:dLbls>
          <c:numFmt formatCode="+0;-0;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年間総費用の増減（万円）　基準 366万円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下限の値のとき</c:v>
                </c:pt>
              </c:strCache>
            </c:strRef>
          </c:tx>
          <c:spPr>
            <a:solidFill>
              <a:srgbClr val="808FB0"/>
            </a:solidFill>
          </c:spPr>
          <c:cat>
            <c:strRef>
              <c:f>Sheet1!$A$2:$A$9</c:f>
              <c:strCache>
                <c:ptCount val="8"/>
                <c:pt idx="0">
                  <c:v>手続き時間（秒）
30秒〜120秒</c:v>
                </c:pt>
                <c:pt idx="1">
                  <c:v>歩行速度（km/h）
4.0〜5.5</c:v>
                </c:pt>
                <c:pt idx="2">
                  <c:v>軽トラック費
×0.5〜×2</c:v>
                </c:pt>
                <c:pt idx="3">
                  <c:v>ポート初期費用
×0.5〜×2</c:v>
                </c:pt>
                <c:pt idx="4">
                  <c:v>自転車の比率
50%〜70%</c:v>
                </c:pt>
                <c:pt idx="5">
                  <c:v>車両単価
×0.7〜×1.3</c:v>
                </c:pt>
                <c:pt idx="6">
                  <c:v>駅ポート容量
18台〜32台</c:v>
                </c:pt>
                <c:pt idx="7">
                  <c:v>需要（転換率）
12%〜24%</c:v>
                </c:pt>
              </c:strCache>
            </c:strRef>
          </c:cat>
          <c:val>
            <c:numRef>
              <c:f>Sheet1!$B$2:$B$9</c:f>
              <c:numCache>
                <c:formatCode>0</c:formatCode>
                <c:ptCount val="8"/>
                <c:pt idx="0">
                  <c:v>0.0</c:v>
                </c:pt>
                <c:pt idx="1">
                  <c:v>3.3811124401913957</c:v>
                </c:pt>
                <c:pt idx="2">
                  <c:v>-9.125</c:v>
                </c:pt>
                <c:pt idx="3">
                  <c:v>-10.0</c:v>
                </c:pt>
                <c:pt idx="4">
                  <c:v>-7.12956937799044</c:v>
                </c:pt>
                <c:pt idx="5">
                  <c:v>-51.0</c:v>
                </c:pt>
                <c:pt idx="6">
                  <c:v>247.27159090909097</c:v>
                </c:pt>
                <c:pt idx="7">
                  <c:v>-81.49053827751196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上限の値のとき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Sheet1!$A$2:$A$9</c:f>
              <c:strCache>
                <c:ptCount val="8"/>
                <c:pt idx="0">
                  <c:v>手続き時間（秒）
30秒〜120秒</c:v>
                </c:pt>
                <c:pt idx="1">
                  <c:v>歩行速度（km/h）
4.0〜5.5</c:v>
                </c:pt>
                <c:pt idx="2">
                  <c:v>軽トラック費
×0.5〜×2</c:v>
                </c:pt>
                <c:pt idx="3">
                  <c:v>ポート初期費用
×0.5〜×2</c:v>
                </c:pt>
                <c:pt idx="4">
                  <c:v>自転車の比率
50%〜70%</c:v>
                </c:pt>
                <c:pt idx="5">
                  <c:v>車両単価
×0.7〜×1.3</c:v>
                </c:pt>
                <c:pt idx="6">
                  <c:v>駅ポート容量
18台〜32台</c:v>
                </c:pt>
                <c:pt idx="7">
                  <c:v>需要（転換率）
12%〜24%</c:v>
                </c:pt>
              </c:strCache>
            </c:strRef>
          </c:cat>
          <c:val>
            <c:numRef>
              <c:f>Sheet1!$C$2:$C$9</c:f>
              <c:numCache>
                <c:formatCode>0</c:formatCode>
                <c:ptCount val="8"/>
                <c:pt idx="0">
                  <c:v>0.0</c:v>
                </c:pt>
                <c:pt idx="1">
                  <c:v>-1.8616028708133847</c:v>
                </c:pt>
                <c:pt idx="2">
                  <c:v>18.25</c:v>
                </c:pt>
                <c:pt idx="3">
                  <c:v>20.0</c:v>
                </c:pt>
                <c:pt idx="4">
                  <c:v>-25.000346889952105</c:v>
                </c:pt>
                <c:pt idx="5">
                  <c:v>51.0</c:v>
                </c:pt>
                <c:pt idx="6">
                  <c:v>2.9552033492822667</c:v>
                </c:pt>
                <c:pt idx="7">
                  <c:v>373.19869617224884</c:v>
                </c:pt>
              </c:numCache>
            </c:numRef>
          </c:val>
        </c:ser>
        <c:dLbls>
          <c:numFmt formatCode="+0;-0;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svg"/><Relationship Id="rId4" Type="http://schemas.openxmlformats.org/officeDocument/2006/relationships/image" Target="../media/image10.png"/><Relationship Id="rId5" Type="http://schemas.openxmlformats.org/officeDocument/2006/relationships/image" Target="../media/image11.svg"/><Relationship Id="rId6" Type="http://schemas.openxmlformats.org/officeDocument/2006/relationships/image" Target="../media/image12.png"/><Relationship Id="rId7" Type="http://schemas.openxmlformats.org/officeDocument/2006/relationships/image" Target="../media/image13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5.xml"/><Relationship Id="rId5" Type="http://schemas.openxmlformats.org/officeDocument/2006/relationships/chart" Target="../charts/chart6.xml"/><Relationship Id="rId6" Type="http://schemas.openxmlformats.org/officeDocument/2006/relationships/chart" Target="../charts/chart7.xml"/><Relationship Id="rId7" Type="http://schemas.openxmlformats.org/officeDocument/2006/relationships/chart" Target="../charts/chart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11.xml"/><Relationship Id="rId5" Type="http://schemas.openxmlformats.org/officeDocument/2006/relationships/chart" Target="../charts/char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>
            <a:off x="1047750" y="8789779"/>
            <a:ext cx="16192500" cy="0"/>
          </a:xfrm>
          <a:prstGeom prst="line">
            <a:avLst/>
          </a:prstGeom>
          <a:ln cap="rnd" w="19050">
            <a:solidFill>
              <a:srgbClr val="01081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1047750" y="5701081"/>
            <a:ext cx="6194522" cy="651527"/>
            <a:chOff x="0" y="0"/>
            <a:chExt cx="1631479" cy="17159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31479" cy="171596"/>
            </a:xfrm>
            <a:custGeom>
              <a:avLst/>
              <a:gdLst/>
              <a:ahLst/>
              <a:cxnLst/>
              <a:rect r="r" b="b" t="t" l="l"/>
              <a:pathLst>
                <a:path h="171596" w="1631479">
                  <a:moveTo>
                    <a:pt x="0" y="0"/>
                  </a:moveTo>
                  <a:lnTo>
                    <a:pt x="1631479" y="0"/>
                  </a:lnTo>
                  <a:lnTo>
                    <a:pt x="1631479" y="171596"/>
                  </a:lnTo>
                  <a:lnTo>
                    <a:pt x="0" y="171596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114300"/>
              <a:ext cx="1631479" cy="2858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028700" y="1047750"/>
            <a:ext cx="770312" cy="521011"/>
          </a:xfrm>
          <a:custGeom>
            <a:avLst/>
            <a:gdLst/>
            <a:ahLst/>
            <a:cxnLst/>
            <a:rect r="r" b="b" t="t" l="l"/>
            <a:pathLst>
              <a:path h="521011" w="770312">
                <a:moveTo>
                  <a:pt x="0" y="0"/>
                </a:moveTo>
                <a:lnTo>
                  <a:pt x="770312" y="0"/>
                </a:lnTo>
                <a:lnTo>
                  <a:pt x="770312" y="521011"/>
                </a:lnTo>
                <a:lnTo>
                  <a:pt x="0" y="5210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6063860" y="1112112"/>
            <a:ext cx="189410" cy="189410"/>
            <a:chOff x="0" y="0"/>
            <a:chExt cx="81040" cy="81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040" cy="81040"/>
            </a:xfrm>
            <a:custGeom>
              <a:avLst/>
              <a:gdLst/>
              <a:ahLst/>
              <a:cxnLst/>
              <a:rect r="r" b="b" t="t" l="l"/>
              <a:pathLst>
                <a:path h="81040" w="81040">
                  <a:moveTo>
                    <a:pt x="0" y="0"/>
                  </a:moveTo>
                  <a:lnTo>
                    <a:pt x="81040" y="0"/>
                  </a:lnTo>
                  <a:lnTo>
                    <a:pt x="81040" y="81040"/>
                  </a:lnTo>
                  <a:lnTo>
                    <a:pt x="0" y="81040"/>
                  </a:lnTo>
                  <a:close/>
                </a:path>
              </a:pathLst>
            </a:custGeom>
            <a:solidFill>
              <a:srgbClr val="ABB5CA"/>
            </a:soli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76200"/>
              <a:ext cx="81040" cy="157240"/>
            </a:xfrm>
            <a:prstGeom prst="rect">
              <a:avLst/>
            </a:prstGeom>
          </p:spPr>
          <p:txBody>
            <a:bodyPr anchor="ctr" rtlCol="false" tIns="77068" lIns="77068" bIns="77068" rIns="77068"/>
            <a:lstStyle/>
            <a:p>
              <a:pPr algn="ctr" marL="0" indent="0" lvl="0">
                <a:lnSpc>
                  <a:spcPts val="12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6393263" y="1112112"/>
            <a:ext cx="189410" cy="189410"/>
            <a:chOff x="0" y="0"/>
            <a:chExt cx="81040" cy="810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040" cy="81040"/>
            </a:xfrm>
            <a:custGeom>
              <a:avLst/>
              <a:gdLst/>
              <a:ahLst/>
              <a:cxnLst/>
              <a:rect r="r" b="b" t="t" l="l"/>
              <a:pathLst>
                <a:path h="81040" w="81040">
                  <a:moveTo>
                    <a:pt x="0" y="0"/>
                  </a:moveTo>
                  <a:lnTo>
                    <a:pt x="81040" y="0"/>
                  </a:lnTo>
                  <a:lnTo>
                    <a:pt x="81040" y="81040"/>
                  </a:lnTo>
                  <a:lnTo>
                    <a:pt x="0" y="81040"/>
                  </a:lnTo>
                  <a:close/>
                </a:path>
              </a:pathLst>
            </a:custGeom>
            <a:solidFill>
              <a:srgbClr val="808FB0"/>
            </a:solidFill>
            <a:ln cap="sq">
              <a:noFill/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76200"/>
              <a:ext cx="81040" cy="157240"/>
            </a:xfrm>
            <a:prstGeom prst="rect">
              <a:avLst/>
            </a:prstGeom>
          </p:spPr>
          <p:txBody>
            <a:bodyPr anchor="ctr" rtlCol="false" tIns="77068" lIns="77068" bIns="77068" rIns="77068"/>
            <a:lstStyle/>
            <a:p>
              <a:pPr algn="ctr" marL="0" indent="0" lvl="0">
                <a:lnSpc>
                  <a:spcPts val="12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6722667" y="1112112"/>
            <a:ext cx="189410" cy="189410"/>
            <a:chOff x="0" y="0"/>
            <a:chExt cx="81040" cy="810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040" cy="81040"/>
            </a:xfrm>
            <a:custGeom>
              <a:avLst/>
              <a:gdLst/>
              <a:ahLst/>
              <a:cxnLst/>
              <a:rect r="r" b="b" t="t" l="l"/>
              <a:pathLst>
                <a:path h="81040" w="81040">
                  <a:moveTo>
                    <a:pt x="0" y="0"/>
                  </a:moveTo>
                  <a:lnTo>
                    <a:pt x="81040" y="0"/>
                  </a:lnTo>
                  <a:lnTo>
                    <a:pt x="81040" y="81040"/>
                  </a:lnTo>
                  <a:lnTo>
                    <a:pt x="0" y="81040"/>
                  </a:lnTo>
                  <a:close/>
                </a:path>
              </a:pathLst>
            </a:custGeom>
            <a:solidFill>
              <a:srgbClr val="566A95"/>
            </a:solidFill>
            <a:ln cap="sq">
              <a:noFill/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76200"/>
              <a:ext cx="81040" cy="157240"/>
            </a:xfrm>
            <a:prstGeom prst="rect">
              <a:avLst/>
            </a:prstGeom>
          </p:spPr>
          <p:txBody>
            <a:bodyPr anchor="ctr" rtlCol="false" tIns="77068" lIns="77068" bIns="77068" rIns="77068"/>
            <a:lstStyle/>
            <a:p>
              <a:pPr algn="ctr" marL="0" indent="0" lvl="0">
                <a:lnSpc>
                  <a:spcPts val="12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7052071" y="1112112"/>
            <a:ext cx="189410" cy="189410"/>
            <a:chOff x="0" y="0"/>
            <a:chExt cx="81040" cy="810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040" cy="81040"/>
            </a:xfrm>
            <a:custGeom>
              <a:avLst/>
              <a:gdLst/>
              <a:ahLst/>
              <a:cxnLst/>
              <a:rect r="r" b="b" t="t" l="l"/>
              <a:pathLst>
                <a:path h="81040" w="81040">
                  <a:moveTo>
                    <a:pt x="0" y="0"/>
                  </a:moveTo>
                  <a:lnTo>
                    <a:pt x="81040" y="0"/>
                  </a:lnTo>
                  <a:lnTo>
                    <a:pt x="81040" y="81040"/>
                  </a:lnTo>
                  <a:lnTo>
                    <a:pt x="0" y="81040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76200"/>
              <a:ext cx="81040" cy="157240"/>
            </a:xfrm>
            <a:prstGeom prst="rect">
              <a:avLst/>
            </a:prstGeom>
          </p:spPr>
          <p:txBody>
            <a:bodyPr anchor="ctr" rtlCol="false" tIns="77068" lIns="77068" bIns="77068" rIns="77068"/>
            <a:lstStyle/>
            <a:p>
              <a:pPr algn="ctr" marL="0" indent="0" lvl="0">
                <a:lnSpc>
                  <a:spcPts val="12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13045004" y="4212349"/>
            <a:ext cx="4195246" cy="4411827"/>
          </a:xfrm>
          <a:custGeom>
            <a:avLst/>
            <a:gdLst/>
            <a:ahLst/>
            <a:cxnLst/>
            <a:rect r="r" b="b" t="t" l="l"/>
            <a:pathLst>
              <a:path h="4411827" w="4195246">
                <a:moveTo>
                  <a:pt x="0" y="0"/>
                </a:moveTo>
                <a:lnTo>
                  <a:pt x="4195246" y="0"/>
                </a:lnTo>
                <a:lnTo>
                  <a:pt x="4195246" y="4411827"/>
                </a:lnTo>
                <a:lnTo>
                  <a:pt x="0" y="441182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990456" y="1091085"/>
            <a:ext cx="6677294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1A2F8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南栗橋BLP街区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3159336"/>
            <a:ext cx="9265586" cy="2351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84"/>
              </a:lnSpc>
              <a:spcBef>
                <a:spcPct val="0"/>
              </a:spcBef>
            </a:pPr>
            <a:r>
              <a:rPr lang="en-US" b="true" sz="9703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検討報告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47750" y="2476832"/>
            <a:ext cx="9265586" cy="14042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150"/>
              </a:lnSpc>
              <a:spcBef>
                <a:spcPct val="0"/>
              </a:spcBef>
            </a:pPr>
            <a:r>
              <a:rPr lang="en-US" b="true" sz="5822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モビリティシェア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10859" y="5549325"/>
            <a:ext cx="6106403" cy="697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b="true" sz="2900">
                <a:solidFill>
                  <a:srgbClr val="F7F8F9"/>
                </a:solidFill>
                <a:latin typeface="たづがね角ゴシック Info Semi-Bold"/>
                <a:ea typeface="たづがね角ゴシック Info Semi-Bold"/>
                <a:cs typeface="たづがね角ゴシック Info Semi-Bold"/>
                <a:sym typeface="たづがね角ゴシック Info Semi-Bold"/>
              </a:rPr>
              <a:t>配置・運用・費用の検討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765903" y="8834755"/>
            <a:ext cx="3474720" cy="404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80"/>
              </a:lnSpc>
              <a:spcBef>
                <a:spcPct val="0"/>
              </a:spcBef>
            </a:pPr>
            <a:r>
              <a:rPr lang="en-US" sz="1700" strike="noStrike" u="none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作成日：2026年10月19日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47750" y="8834755"/>
            <a:ext cx="2246964" cy="404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80"/>
              </a:lnSpc>
              <a:spcBef>
                <a:spcPct val="0"/>
              </a:spcBef>
            </a:pPr>
            <a:r>
              <a:rPr lang="en-US" sz="17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作成：検討チーム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47750" y="6529792"/>
            <a:ext cx="7620000" cy="8185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全72条件×10回のシミュレーション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8" id="18"/>
          <p:cNvGrpSpPr/>
          <p:nvPr/>
        </p:nvGrpSpPr>
        <p:grpSpPr>
          <a:xfrm rot="0">
            <a:off x="6680200" y="3048055"/>
            <a:ext cx="4908550" cy="6191195"/>
            <a:chOff x="0" y="0"/>
            <a:chExt cx="1292787" cy="163060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292787" cy="1630603"/>
            </a:xfrm>
            <a:custGeom>
              <a:avLst/>
              <a:gdLst/>
              <a:ahLst/>
              <a:cxnLst/>
              <a:rect r="r" b="b" t="t" l="l"/>
              <a:pathLst>
                <a:path h="1630603" w="1292787">
                  <a:moveTo>
                    <a:pt x="0" y="0"/>
                  </a:moveTo>
                  <a:lnTo>
                    <a:pt x="1292787" y="0"/>
                  </a:lnTo>
                  <a:lnTo>
                    <a:pt x="1292787" y="1630603"/>
                  </a:lnTo>
                  <a:lnTo>
                    <a:pt x="0" y="1630603"/>
                  </a:lnTo>
                  <a:close/>
                </a:path>
              </a:pathLst>
            </a:custGeom>
            <a:ln w="19050" cap="sq">
              <a:solidFill>
                <a:srgbClr val="086B89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200025"/>
              <a:ext cx="1292787" cy="18306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2331700" y="3048055"/>
            <a:ext cx="4908550" cy="6191195"/>
            <a:chOff x="0" y="0"/>
            <a:chExt cx="1292787" cy="163060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292787" cy="1630603"/>
            </a:xfrm>
            <a:custGeom>
              <a:avLst/>
              <a:gdLst/>
              <a:ahLst/>
              <a:cxnLst/>
              <a:rect r="r" b="b" t="t" l="l"/>
              <a:pathLst>
                <a:path h="1630603" w="1292787">
                  <a:moveTo>
                    <a:pt x="0" y="0"/>
                  </a:moveTo>
                  <a:lnTo>
                    <a:pt x="1292787" y="0"/>
                  </a:lnTo>
                  <a:lnTo>
                    <a:pt x="1292787" y="1630603"/>
                  </a:lnTo>
                  <a:lnTo>
                    <a:pt x="0" y="1630603"/>
                  </a:lnTo>
                  <a:close/>
                </a:path>
              </a:pathLst>
            </a:custGeom>
            <a:ln w="19050" cap="sq">
              <a:solidFill>
                <a:srgbClr val="5D5491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200025"/>
              <a:ext cx="1292787" cy="18306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12712859" y="3390928"/>
            <a:ext cx="4146232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0"/>
              </a:lnSpc>
              <a:spcBef>
                <a:spcPct val="0"/>
              </a:spcBef>
            </a:pPr>
            <a:r>
              <a:rPr lang="en-US" b="true" sz="1900">
                <a:solidFill>
                  <a:srgbClr val="5D549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OPERATION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712859" y="4760638"/>
            <a:ext cx="4146232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5D549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駅ポート・運用・費用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712859" y="6251603"/>
            <a:ext cx="4146232" cy="2606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trike="noStrike" u="none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低位：駅18台・年間280万円</a:t>
            </a:r>
          </a:p>
          <a:p>
            <a:pPr algn="just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trike="noStrike" u="none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高位：駅32台・年間412万円</a:t>
            </a:r>
          </a:p>
          <a:p>
            <a:pPr algn="just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trike="noStrike" u="none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日中の再配置（b・c）は台数・費用とも増える。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2712859" y="5622417"/>
            <a:ext cx="4146232" cy="535121"/>
            <a:chOff x="0" y="0"/>
            <a:chExt cx="1092012" cy="140937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2012" cy="140937"/>
            </a:xfrm>
            <a:custGeom>
              <a:avLst/>
              <a:gdLst/>
              <a:ahLst/>
              <a:cxnLst/>
              <a:rect r="r" b="b" t="t" l="l"/>
              <a:pathLst>
                <a:path h="140937" w="1092012">
                  <a:moveTo>
                    <a:pt x="70469" y="0"/>
                  </a:moveTo>
                  <a:lnTo>
                    <a:pt x="1021543" y="0"/>
                  </a:lnTo>
                  <a:cubicBezTo>
                    <a:pt x="1040233" y="0"/>
                    <a:pt x="1058157" y="7424"/>
                    <a:pt x="1071372" y="20640"/>
                  </a:cubicBezTo>
                  <a:cubicBezTo>
                    <a:pt x="1084587" y="33855"/>
                    <a:pt x="1092012" y="51779"/>
                    <a:pt x="1092012" y="70469"/>
                  </a:cubicBezTo>
                  <a:lnTo>
                    <a:pt x="1092012" y="70469"/>
                  </a:lnTo>
                  <a:cubicBezTo>
                    <a:pt x="1092012" y="89158"/>
                    <a:pt x="1084587" y="107082"/>
                    <a:pt x="1071372" y="120297"/>
                  </a:cubicBezTo>
                  <a:cubicBezTo>
                    <a:pt x="1058157" y="133513"/>
                    <a:pt x="1040233" y="140937"/>
                    <a:pt x="1021543" y="140937"/>
                  </a:cubicBezTo>
                  <a:lnTo>
                    <a:pt x="70469" y="140937"/>
                  </a:lnTo>
                  <a:cubicBezTo>
                    <a:pt x="51779" y="140937"/>
                    <a:pt x="33855" y="133513"/>
                    <a:pt x="20640" y="120297"/>
                  </a:cubicBezTo>
                  <a:cubicBezTo>
                    <a:pt x="7424" y="107082"/>
                    <a:pt x="0" y="89158"/>
                    <a:pt x="0" y="70469"/>
                  </a:cubicBezTo>
                  <a:lnTo>
                    <a:pt x="0" y="70469"/>
                  </a:lnTo>
                  <a:cubicBezTo>
                    <a:pt x="0" y="51779"/>
                    <a:pt x="7424" y="33855"/>
                    <a:pt x="20640" y="20640"/>
                  </a:cubicBezTo>
                  <a:cubicBezTo>
                    <a:pt x="33855" y="7424"/>
                    <a:pt x="51779" y="0"/>
                    <a:pt x="70469" y="0"/>
                  </a:cubicBezTo>
                  <a:close/>
                </a:path>
              </a:pathLst>
            </a:custGeom>
            <a:solidFill>
              <a:srgbClr val="5D5491"/>
            </a:solidFill>
            <a:ln cap="rnd">
              <a:noFill/>
              <a:prstDash val="solid"/>
              <a:round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200025"/>
              <a:ext cx="1092012" cy="3409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12712859" y="5593750"/>
            <a:ext cx="4146232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F7F8F9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運用a（夜1回の再配置）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01441" y="1915295"/>
            <a:ext cx="76044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失敗率5%以下で最安の構成（代替あり）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結論：推奨案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Recommendation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028700" y="3048055"/>
            <a:ext cx="4908550" cy="6191195"/>
            <a:chOff x="0" y="0"/>
            <a:chExt cx="1292787" cy="1630603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292787" cy="1630603"/>
            </a:xfrm>
            <a:custGeom>
              <a:avLst/>
              <a:gdLst/>
              <a:ahLst/>
              <a:cxnLst/>
              <a:rect r="r" b="b" t="t" l="l"/>
              <a:pathLst>
                <a:path h="1630603" w="1292787">
                  <a:moveTo>
                    <a:pt x="0" y="0"/>
                  </a:moveTo>
                  <a:lnTo>
                    <a:pt x="1292787" y="0"/>
                  </a:lnTo>
                  <a:lnTo>
                    <a:pt x="1292787" y="1630603"/>
                  </a:lnTo>
                  <a:lnTo>
                    <a:pt x="0" y="1630603"/>
                  </a:lnTo>
                  <a:close/>
                </a:path>
              </a:pathLst>
            </a:custGeom>
            <a:ln w="19050" cap="sq">
              <a:solidFill>
                <a:srgbClr val="1A2F81"/>
              </a:solidFill>
              <a:prstDash val="solid"/>
              <a:miter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0" y="-200025"/>
              <a:ext cx="1292787" cy="18306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Freeform 37" id="37"/>
          <p:cNvSpPr/>
          <p:nvPr/>
        </p:nvSpPr>
        <p:spPr>
          <a:xfrm flipH="false" flipV="false" rot="0">
            <a:off x="14404975" y="3965928"/>
            <a:ext cx="762000" cy="762000"/>
          </a:xfrm>
          <a:custGeom>
            <a:avLst/>
            <a:gdLst/>
            <a:ahLst/>
            <a:cxnLst/>
            <a:rect r="r" b="b" t="t" l="l"/>
            <a:pathLst>
              <a:path h="762000" w="762000">
                <a:moveTo>
                  <a:pt x="0" y="0"/>
                </a:moveTo>
                <a:lnTo>
                  <a:pt x="762000" y="0"/>
                </a:lnTo>
                <a:lnTo>
                  <a:pt x="7620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8" id="38"/>
          <p:cNvSpPr/>
          <p:nvPr/>
        </p:nvSpPr>
        <p:spPr>
          <a:xfrm flipH="false" flipV="false" rot="0">
            <a:off x="8753475" y="3965928"/>
            <a:ext cx="762000" cy="762000"/>
          </a:xfrm>
          <a:custGeom>
            <a:avLst/>
            <a:gdLst/>
            <a:ahLst/>
            <a:cxnLst/>
            <a:rect r="r" b="b" t="t" l="l"/>
            <a:pathLst>
              <a:path h="762000" w="762000">
                <a:moveTo>
                  <a:pt x="0" y="0"/>
                </a:moveTo>
                <a:lnTo>
                  <a:pt x="762000" y="0"/>
                </a:lnTo>
                <a:lnTo>
                  <a:pt x="7620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9" id="39"/>
          <p:cNvSpPr/>
          <p:nvPr/>
        </p:nvSpPr>
        <p:spPr>
          <a:xfrm flipH="false" flipV="false" rot="0">
            <a:off x="3206577" y="3965928"/>
            <a:ext cx="552796" cy="762000"/>
          </a:xfrm>
          <a:custGeom>
            <a:avLst/>
            <a:gdLst/>
            <a:ahLst/>
            <a:cxnLst/>
            <a:rect r="r" b="b" t="t" l="l"/>
            <a:pathLst>
              <a:path h="762000" w="552796">
                <a:moveTo>
                  <a:pt x="0" y="0"/>
                </a:moveTo>
                <a:lnTo>
                  <a:pt x="552796" y="0"/>
                </a:lnTo>
                <a:lnTo>
                  <a:pt x="552796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0" id="40"/>
          <p:cNvSpPr txBox="true"/>
          <p:nvPr/>
        </p:nvSpPr>
        <p:spPr>
          <a:xfrm rot="0">
            <a:off x="1409859" y="3390928"/>
            <a:ext cx="4146232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0"/>
              </a:lnSpc>
              <a:spcBef>
                <a:spcPct val="0"/>
              </a:spcBef>
            </a:pPr>
            <a:r>
              <a:rPr lang="en-US" b="true" sz="1900">
                <a:solidFill>
                  <a:srgbClr val="1A2F8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PORT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409859" y="4760638"/>
            <a:ext cx="4146232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住宅側ポート3か所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409859" y="6251603"/>
            <a:ext cx="4146232" cy="2606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徒歩＋走行＋施設側徒歩の合計が最小になる3地点（P1〜P3）。各ポートの担当戸数は 60・114・56 戸。</a:t>
            </a:r>
          </a:p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駅西口ポート・モビリティステーションは固定。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1409859" y="5622417"/>
            <a:ext cx="4146232" cy="535121"/>
            <a:chOff x="0" y="0"/>
            <a:chExt cx="1092012" cy="140937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092012" cy="140937"/>
            </a:xfrm>
            <a:custGeom>
              <a:avLst/>
              <a:gdLst/>
              <a:ahLst/>
              <a:cxnLst/>
              <a:rect r="r" b="b" t="t" l="l"/>
              <a:pathLst>
                <a:path h="140937" w="1092012">
                  <a:moveTo>
                    <a:pt x="70469" y="0"/>
                  </a:moveTo>
                  <a:lnTo>
                    <a:pt x="1021543" y="0"/>
                  </a:lnTo>
                  <a:cubicBezTo>
                    <a:pt x="1040233" y="0"/>
                    <a:pt x="1058157" y="7424"/>
                    <a:pt x="1071372" y="20640"/>
                  </a:cubicBezTo>
                  <a:cubicBezTo>
                    <a:pt x="1084587" y="33855"/>
                    <a:pt x="1092012" y="51779"/>
                    <a:pt x="1092012" y="70469"/>
                  </a:cubicBezTo>
                  <a:lnTo>
                    <a:pt x="1092012" y="70469"/>
                  </a:lnTo>
                  <a:cubicBezTo>
                    <a:pt x="1092012" y="89158"/>
                    <a:pt x="1084587" y="107082"/>
                    <a:pt x="1071372" y="120297"/>
                  </a:cubicBezTo>
                  <a:cubicBezTo>
                    <a:pt x="1058157" y="133513"/>
                    <a:pt x="1040233" y="140937"/>
                    <a:pt x="1021543" y="140937"/>
                  </a:cubicBezTo>
                  <a:lnTo>
                    <a:pt x="70469" y="140937"/>
                  </a:lnTo>
                  <a:cubicBezTo>
                    <a:pt x="51779" y="140937"/>
                    <a:pt x="33855" y="133513"/>
                    <a:pt x="20640" y="120297"/>
                  </a:cubicBezTo>
                  <a:cubicBezTo>
                    <a:pt x="7424" y="107082"/>
                    <a:pt x="0" y="89158"/>
                    <a:pt x="0" y="70469"/>
                  </a:cubicBezTo>
                  <a:lnTo>
                    <a:pt x="0" y="70469"/>
                  </a:lnTo>
                  <a:cubicBezTo>
                    <a:pt x="0" y="51779"/>
                    <a:pt x="7424" y="33855"/>
                    <a:pt x="20640" y="20640"/>
                  </a:cubicBezTo>
                  <a:cubicBezTo>
                    <a:pt x="33855" y="7424"/>
                    <a:pt x="51779" y="0"/>
                    <a:pt x="70469" y="0"/>
                  </a:cubicBezTo>
                  <a:close/>
                </a:path>
              </a:pathLst>
            </a:custGeom>
            <a:solidFill>
              <a:srgbClr val="1A2F81"/>
            </a:solidFill>
            <a:ln cap="rnd">
              <a:noFill/>
              <a:prstDash val="solid"/>
              <a:round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0" y="-200025"/>
              <a:ext cx="1092012" cy="3409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409859" y="5593750"/>
            <a:ext cx="4146232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F7F8F9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p-median／車種比率で加重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7061359" y="3390928"/>
            <a:ext cx="4146232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0"/>
              </a:lnSpc>
              <a:spcBef>
                <a:spcPct val="0"/>
              </a:spcBef>
            </a:pPr>
            <a:r>
              <a:rPr lang="en-US" b="true" sz="1900">
                <a:solidFill>
                  <a:srgbClr val="086B89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FLEET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7061359" y="4760638"/>
            <a:ext cx="4146232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086B89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混在フリートの台数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7061359" y="6251603"/>
            <a:ext cx="4146232" cy="2606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trike="noStrike" u="none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低位：自転車14＋キックボード10＝24台</a:t>
            </a:r>
          </a:p>
          <a:p>
            <a:pPr algn="just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trike="noStrike" u="none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高位：自転車24＋キックボード16＝40台</a:t>
            </a:r>
          </a:p>
          <a:p>
            <a:pPr algn="just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trike="noStrike" u="none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（10回の中央値。駅ポートの朝の初期配置を含む）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7061359" y="5622417"/>
            <a:ext cx="4146232" cy="535121"/>
            <a:chOff x="0" y="0"/>
            <a:chExt cx="1092012" cy="140937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92012" cy="140937"/>
            </a:xfrm>
            <a:custGeom>
              <a:avLst/>
              <a:gdLst/>
              <a:ahLst/>
              <a:cxnLst/>
              <a:rect r="r" b="b" t="t" l="l"/>
              <a:pathLst>
                <a:path h="140937" w="1092012">
                  <a:moveTo>
                    <a:pt x="70469" y="0"/>
                  </a:moveTo>
                  <a:lnTo>
                    <a:pt x="1021543" y="0"/>
                  </a:lnTo>
                  <a:cubicBezTo>
                    <a:pt x="1040233" y="0"/>
                    <a:pt x="1058157" y="7424"/>
                    <a:pt x="1071372" y="20640"/>
                  </a:cubicBezTo>
                  <a:cubicBezTo>
                    <a:pt x="1084587" y="33855"/>
                    <a:pt x="1092012" y="51779"/>
                    <a:pt x="1092012" y="70469"/>
                  </a:cubicBezTo>
                  <a:lnTo>
                    <a:pt x="1092012" y="70469"/>
                  </a:lnTo>
                  <a:cubicBezTo>
                    <a:pt x="1092012" y="89158"/>
                    <a:pt x="1084587" y="107082"/>
                    <a:pt x="1071372" y="120297"/>
                  </a:cubicBezTo>
                  <a:cubicBezTo>
                    <a:pt x="1058157" y="133513"/>
                    <a:pt x="1040233" y="140937"/>
                    <a:pt x="1021543" y="140937"/>
                  </a:cubicBezTo>
                  <a:lnTo>
                    <a:pt x="70469" y="140937"/>
                  </a:lnTo>
                  <a:cubicBezTo>
                    <a:pt x="51779" y="140937"/>
                    <a:pt x="33855" y="133513"/>
                    <a:pt x="20640" y="120297"/>
                  </a:cubicBezTo>
                  <a:cubicBezTo>
                    <a:pt x="7424" y="107082"/>
                    <a:pt x="0" y="89158"/>
                    <a:pt x="0" y="70469"/>
                  </a:cubicBezTo>
                  <a:lnTo>
                    <a:pt x="0" y="70469"/>
                  </a:lnTo>
                  <a:cubicBezTo>
                    <a:pt x="0" y="51779"/>
                    <a:pt x="7424" y="33855"/>
                    <a:pt x="20640" y="20640"/>
                  </a:cubicBezTo>
                  <a:cubicBezTo>
                    <a:pt x="33855" y="7424"/>
                    <a:pt x="51779" y="0"/>
                    <a:pt x="70469" y="0"/>
                  </a:cubicBezTo>
                  <a:close/>
                </a:path>
              </a:pathLst>
            </a:custGeom>
            <a:solidFill>
              <a:srgbClr val="086B89"/>
            </a:solidFill>
            <a:ln cap="rnd">
              <a:noFill/>
              <a:prstDash val="solid"/>
              <a:round/>
            </a:ln>
          </p:spPr>
        </p:sp>
        <p:sp>
          <p:nvSpPr>
            <p:cNvPr name="TextBox 52" id="52"/>
            <p:cNvSpPr txBox="true"/>
            <p:nvPr/>
          </p:nvSpPr>
          <p:spPr>
            <a:xfrm>
              <a:off x="0" y="-200025"/>
              <a:ext cx="1092012" cy="3409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53" id="53"/>
          <p:cNvSpPr txBox="true"/>
          <p:nvPr/>
        </p:nvSpPr>
        <p:spPr>
          <a:xfrm rot="0">
            <a:off x="7061359" y="5593750"/>
            <a:ext cx="4146232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F7F8F9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自転車60.3%：キックボード39.7%</a:t>
            </a:r>
          </a:p>
        </p:txBody>
      </p:sp>
      <p:grpSp>
        <p:nvGrpSpPr>
          <p:cNvPr name="Group 54" id="54"/>
          <p:cNvGrpSpPr/>
          <p:nvPr/>
        </p:nvGrpSpPr>
        <p:grpSpPr>
          <a:xfrm rot="0">
            <a:off x="6680200" y="3048055"/>
            <a:ext cx="4908550" cy="95222"/>
            <a:chOff x="0" y="0"/>
            <a:chExt cx="1292787" cy="25079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292787" cy="25079"/>
            </a:xfrm>
            <a:custGeom>
              <a:avLst/>
              <a:gdLst/>
              <a:ahLst/>
              <a:cxnLst/>
              <a:rect r="r" b="b" t="t" l="l"/>
              <a:pathLst>
                <a:path h="25079" w="1292787">
                  <a:moveTo>
                    <a:pt x="0" y="0"/>
                  </a:moveTo>
                  <a:lnTo>
                    <a:pt x="1292787" y="0"/>
                  </a:lnTo>
                  <a:lnTo>
                    <a:pt x="1292787" y="25079"/>
                  </a:lnTo>
                  <a:lnTo>
                    <a:pt x="0" y="25079"/>
                  </a:lnTo>
                  <a:close/>
                </a:path>
              </a:pathLst>
            </a:custGeom>
            <a:solidFill>
              <a:srgbClr val="086B89"/>
            </a:solidFill>
            <a:ln cap="sq">
              <a:noFill/>
              <a:prstDash val="solid"/>
              <a:miter/>
            </a:ln>
          </p:spPr>
        </p:sp>
        <p:sp>
          <p:nvSpPr>
            <p:cNvPr name="TextBox 56" id="56"/>
            <p:cNvSpPr txBox="true"/>
            <p:nvPr/>
          </p:nvSpPr>
          <p:spPr>
            <a:xfrm>
              <a:off x="0" y="-200025"/>
              <a:ext cx="1292787" cy="2251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2331700" y="3048055"/>
            <a:ext cx="4908550" cy="95222"/>
            <a:chOff x="0" y="0"/>
            <a:chExt cx="1292787" cy="25079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292787" cy="25079"/>
            </a:xfrm>
            <a:custGeom>
              <a:avLst/>
              <a:gdLst/>
              <a:ahLst/>
              <a:cxnLst/>
              <a:rect r="r" b="b" t="t" l="l"/>
              <a:pathLst>
                <a:path h="25079" w="1292787">
                  <a:moveTo>
                    <a:pt x="0" y="0"/>
                  </a:moveTo>
                  <a:lnTo>
                    <a:pt x="1292787" y="0"/>
                  </a:lnTo>
                  <a:lnTo>
                    <a:pt x="1292787" y="25079"/>
                  </a:lnTo>
                  <a:lnTo>
                    <a:pt x="0" y="25079"/>
                  </a:lnTo>
                  <a:close/>
                </a:path>
              </a:pathLst>
            </a:custGeom>
            <a:solidFill>
              <a:srgbClr val="5D5491"/>
            </a:solidFill>
            <a:ln cap="sq">
              <a:noFill/>
              <a:prstDash val="solid"/>
              <a:miter/>
            </a:ln>
          </p:spPr>
        </p:sp>
        <p:sp>
          <p:nvSpPr>
            <p:cNvPr name="TextBox 59" id="59"/>
            <p:cNvSpPr txBox="true"/>
            <p:nvPr/>
          </p:nvSpPr>
          <p:spPr>
            <a:xfrm>
              <a:off x="0" y="-200025"/>
              <a:ext cx="1292787" cy="2251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028700" y="3048055"/>
            <a:ext cx="4908550" cy="95222"/>
            <a:chOff x="0" y="0"/>
            <a:chExt cx="1292787" cy="25079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292787" cy="25079"/>
            </a:xfrm>
            <a:custGeom>
              <a:avLst/>
              <a:gdLst/>
              <a:ahLst/>
              <a:cxnLst/>
              <a:rect r="r" b="b" t="t" l="l"/>
              <a:pathLst>
                <a:path h="25079" w="1292787">
                  <a:moveTo>
                    <a:pt x="0" y="0"/>
                  </a:moveTo>
                  <a:lnTo>
                    <a:pt x="1292787" y="0"/>
                  </a:lnTo>
                  <a:lnTo>
                    <a:pt x="1292787" y="25079"/>
                  </a:lnTo>
                  <a:lnTo>
                    <a:pt x="0" y="25079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62" id="62"/>
            <p:cNvSpPr txBox="true"/>
            <p:nvPr/>
          </p:nvSpPr>
          <p:spPr>
            <a:xfrm>
              <a:off x="0" y="-200025"/>
              <a:ext cx="1292787" cy="2251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住宅側ポート・台数・駅ポート・運用・費用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推奨案の内容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Recommended Plan</a:t>
            </a:r>
          </a:p>
        </p:txBody>
      </p:sp>
      <p:pic>
        <p:nvPicPr>
          <p:cNvPr id="23" name="Picture 22" descr="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697480"/>
            <a:ext cx="8070317" cy="694944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1051560" y="2788920"/>
            <a:ext cx="9418320" cy="3063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BB5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5880" y="3017520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A2F81"/>
                </a:solidFill>
                <a:latin typeface="たづがね角ゴシック Info Bold"/>
                <a:ea typeface="たづがね角ゴシック Info Bold"/>
              </a:rPr>
              <a:t>低位需要（転換率12%・暫定）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3657600"/>
            <a:ext cx="88696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住宅側ポート3か所・電動アシスト自転車14台＋電動キックボード10台・駅ポート18台分（最大在庫18台、朝の初期配置5台）・運用はa：夜1回、年間費用は280万円（1トリップ433円・1台11.4万円/年）。1か月の充足率は96.2%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51560" y="6126479"/>
            <a:ext cx="9418320" cy="3063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BB5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25880" y="6355079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A2F81"/>
                </a:solidFill>
                <a:latin typeface="たづがね角ゴシック Info Bold"/>
                <a:ea typeface="たづがね角ゴシック Info Bold"/>
              </a:rPr>
              <a:t>高位需要（転換率24%・暫定）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6995159"/>
            <a:ext cx="88696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住宅側ポート3か所・電動アシスト自転車24台＋電動キックボード16台・駅ポート32台分（最大在庫32台、朝の初期配置5台）・運用はa：夜1回、年間費用は412万円（1トリップ318円・1台10.4万円/年）。1か月の充足率は96.6%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9692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■ P1〜P3：住宅側ポート（点の色＝利用するポート）　◆ 駅西口ポート・モビリティステーション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171戸→230戸（既存街区171戸・新規街区59戸）・あり(ii)・運用a・駅25台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新規街区の追加による変化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Effect of the New District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7498079" cy="6583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869680" y="2834640"/>
          <a:ext cx="8366760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80160"/>
                <a:gridCol w="2011680"/>
                <a:gridCol w="2788920"/>
                <a:gridCol w="22860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需要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充足率80%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失敗率5%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年間費用（5%）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12台→15台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20台→24台（+17%）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248万円→284万円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20台→25台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32台→80台（+146%）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351万円→726万円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旧10%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10台→12台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18台→22台（+19%）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230万円→261万円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旧30%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24台→33台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51台→未達（—）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502万円→—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8869680" y="5852160"/>
            <a:ext cx="83667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戸数は+35%。需要は戸数に比例して増えるが、台数の増え方は需要シナリオと駅ポートの空きで変わる。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新規街区はモビリティステーションから離れているため、住宅側ポートの位置も見直される（推奨案のページの地図）。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新規街区の道路は計画図（区画道路・歩行者専用通路）をデジタイズして地図に統合。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全72条件 × 各10回（乱数を変えて）を計算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検討の概要と条件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Overview &amp; Conditions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834640"/>
          <a:ext cx="16184880" cy="45354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26080"/>
                <a:gridCol w="1325880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項目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内容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需要シナリオ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低位・高位（暫定）／旧シナリオ転換率10%・30%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代替乗車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(i) 希望車種が無ければ徒歩／(ii) 他の車種があれば乗り、無ければ徒歩（基本は(ii)）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リバランス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 夜1回／b a＋9:30 駅の余剰を戻す／c b＋15:30 住宅側と駅をそろえる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駅ポート容量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18台（区画①のみ）・25台（基本）・32台（区画②も2列）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目標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貸出失敗率 20%（充足率80%）・5%・1% それぞれの最小台数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1回の計算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①平日・晴れの1日×40回で最小台数を探索 → ②その台数で1か月（平日・休日・気象）→ ③年間費用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前提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住宅230戸（既存街区171戸・新規街区59戸）・駅は片道・イオンは往復・キックボードは電池交換で4時間停止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51560" y="7589520"/>
            <a:ext cx="16184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ばらつき＝同じ条件で乱数（利用希望の発生・気象の並び）だけを変えた10回の差。条件の差と区別して示す。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需要（転換率）と気象倍率は暫定値。東京都資料の数値に差し替えて再計算する（scripts/run_study.py）。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代替乗車あり(ii)・運用a・駅ポート25台（10回の中央値、括弧は最小–最大）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目標ごとの最小台数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Minimum Fleet by Target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834640"/>
          <a:ext cx="8778240" cy="28346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45920"/>
                <a:gridCol w="2377440"/>
                <a:gridCol w="2377440"/>
                <a:gridCol w="237744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需要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充足率80%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失敗率5%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失敗率1%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9＋6＝15（14–15）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14＋10＝24（23–27）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22＋14＝36（31–39）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16＋10＝25（25–26）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20＋60＝80（72–85）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未達（0/10回）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旧10%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8＋5＝12（12–14）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13＋9＝22（21–24）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22＋12＝32（28–37）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旧30%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21＋13＝33（31–34）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未達（0/10回）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未達（0/10回）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51560" y="5852160"/>
            <a:ext cx="87782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表記：自転車＋キックボード＝合計（中央値）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失敗率1%は5%の約1.5〜1.5倍の台数が要る。高位・旧30%では1%を半数以上の回で達成できない（探索範囲内）。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代替乗車なし(i)と比べ、失敗率5%の台数は25%〜27%少ない（混在フリートのページ）。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需要が多いほど駅ポート25台が満車になりやすく、台数が急増する（駅ポート容量のページ）。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10241280" y="2743200"/>
          <a:ext cx="7040880" cy="6583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同じ条件で10回計算したときの幅（箱＝25〜75%、薄色＝最小・最大）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結果のばらつき①：最小台数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Variability: Fleet Size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8001000" cy="57607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9235440" y="2743200"/>
          <a:ext cx="8001000" cy="57607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051560" y="8686800"/>
            <a:ext cx="1618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運用a・駅ポート25台。(i) 代替乗車なし／(ii) あり。幅は需要の偶然の揺れによるもので、計画台数は上側（75%点〜最大）を見て決めると安全。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失敗率5%の台数で1か月（平日・休日・気象）を回した結果（全条件・全回）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結果のばらつき②：1か月の運用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Variability: One-Month Simulation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3931920" cy="58521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5120640" y="2743200"/>
          <a:ext cx="3931920" cy="585216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9189720" y="2743200"/>
          <a:ext cx="3931920" cy="58521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13258800" y="2743200"/>
          <a:ext cx="3931920" cy="585216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1051560" y="8778240"/>
            <a:ext cx="1618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箱ひげは「代替乗車・運用a/b/c・駅ポート容量」の全組み合わせ×10回を需要ごとにまとめたもの。条件ごとの数値は付録の一覧表。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希望車種が無いときに他の車種で代替できるか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混在フリートと代替乗車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Mixed Fleet &amp; Substitution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8686800" cy="6583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10149840" y="2743200"/>
            <a:ext cx="7086600" cy="3017520"/>
          </a:xfrm>
          <a:prstGeom prst="roundRect">
            <a:avLst>
              <a:gd name="adj" fmla="val 6000"/>
            </a:avLst>
          </a:prstGeom>
          <a:solidFill>
            <a:srgbClr val="F7F8F9"/>
          </a:solidFill>
          <a:ln w="12700">
            <a:solidFill>
              <a:srgbClr val="F7F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0" y="2926080"/>
            <a:ext cx="6583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A2F81"/>
                </a:solidFill>
                <a:latin typeface="たづがね角ゴシック Info Bold"/>
                <a:ea typeface="たづがね角ゴシック Info Bold"/>
              </a:rPr>
              <a:t>代替乗車率（(ii)・1か月）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3566160"/>
            <a:ext cx="6583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086B89"/>
                </a:solidFill>
                <a:latin typeface="たづがね角ゴシック Info Bold"/>
                <a:ea typeface="たづがね角ゴシック Info Bold"/>
              </a:rPr>
              <a:t>5.4%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4754880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範囲 1.2%〜61.0%（全条件・全回）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6126480"/>
            <a:ext cx="7086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車種の比率は調査Q16（自転車60.3%・キックボード39.7%）。利用者ごとに希望車種を割り当て、往復は同じ車種を希望。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代替を認めると、失敗率5%の台数を25%〜27%減らせる（需要が多いほど効果大）。代替乗車率は数%程度。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代替乗車を基本とする（他の車種があれば乗り、無ければ徒歩）。アプリ・利用規約で他車種への乗り換えを案内する仕組みが要る。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満車で返却できない「返却失敗」と必要台数への影響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駅ポートの容量（18・25・32台）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Station Port Capacity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7955279" cy="5669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326880" y="2834640"/>
          <a:ext cx="7909560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54480"/>
                <a:gridCol w="2103120"/>
                <a:gridCol w="2103120"/>
                <a:gridCol w="214884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需要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容量18台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容量25台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容量32台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1.5%／18台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0.0%／22台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0.0%／22台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28.2%／25台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1.3%／32台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旧10%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0.3%／18台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0.0%／19台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0.0%／19台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旧30%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25.2%／32台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9326880" y="5760720"/>
            <a:ext cx="79095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表：返却失敗率／駅ポートの最大在庫（1か月、中央値）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満車で返せない車両は区画外に置かれ、夜の回収まで使えない。そのため夕方の帰宅で不足し、台数が増える。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低位：18台→24台/280万円・25台→24台/284万円・32台→24台/289万円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高位：18台→未達・25台→80台/726万円・32台→40台/412万円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低位なら18台で足りる。高位では32台にすると台数・費用とも下がる。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日中に駅の余剰を戻しても台数は減らない（駅ポート25台）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リバランス運用 a・b・c の比較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Rebalancing Patterns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834640"/>
          <a:ext cx="10058400" cy="35204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97280"/>
                <a:gridCol w="1828800"/>
                <a:gridCol w="2103120"/>
                <a:gridCol w="1188720"/>
                <a:gridCol w="118872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需要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運用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最小台数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作業回/日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移動台/日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作業分/日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年間費用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a：夜1回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24（23–27）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1.0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4.7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284万円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b：a＋9:30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28（25–45）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8.4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90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365万円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c：b＋15:30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26（24–45）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351万円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a：夜1回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80（72–85）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1.0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14.2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93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726万円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b：a＋9:30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80（72–85）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24.6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824万円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c：b＋15:30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80（72–85）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2.0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24.6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164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824万円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1430000" y="2743200"/>
            <a:ext cx="58064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A2F81"/>
                </a:solidFill>
                <a:latin typeface="たづがね角ゴシック Info Bold"/>
                <a:ea typeface="たづがね角ゴシック Info Bold"/>
              </a:rPr>
              <a:t>なぜ減らないか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駅は片道利用で、朝に駅へ集まった車両がそのまま夕方の帰宅に使われる。9:30に「夕方の期待需要＋1台」を超える分を住宅側へ戻すと、夕方の偶然の増加に足りず失敗が増える。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15:30のcは、bの後では動かす車両がほぼ無く、bと同じ結果。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537960"/>
            <a:ext cx="5806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66A95"/>
                </a:solidFill>
                <a:latin typeface="たづがね角ゴシック Info Bold"/>
                <a:ea typeface="たづがね角ゴシック Info Bold"/>
              </a:rPr>
              <a:t>追加検証：駅に残す台数を95%点にした場合（1回・駅25台）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1430000" y="6949440"/>
          <a:ext cx="5806440" cy="26334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22960"/>
                <a:gridCol w="640080"/>
                <a:gridCol w="34290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需要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運用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駅に残す基準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期待値＋1台（指定どおり）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27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ポアソン95%点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ポアソン95%点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期待値＋1台（指定どおり）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80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ポアソン95%点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ポアソン95%点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80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1051560" y="6720840"/>
            <a:ext cx="10058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運用aを推奨。今回の全条件（需要4種×容量3種×代替2種）で、b・cがaより台数・費用を減らした条件は無い。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軽トラック：キックボード8台・自転車4台/往復、作業30分＋3分/台＋10分/追加往復。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2026年11月：平日・休日（土日祝）・気象（平年の出現日数から抽選）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1か月シミュレーション（推奨案）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One-Month Simulation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8001000" cy="48463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51560" y="7726679"/>
            <a:ext cx="80010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充足率 94.8%／返却失敗 4.7%／電池交換 0.0回/日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休日11日・雨5日。休日・雨の日は利用希望が少なく、平日晴れが台数を決める。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稼働率 0.77回/台/日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9235440" y="2743200"/>
          <a:ext cx="8001000" cy="48463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9235440" y="7726679"/>
            <a:ext cx="80010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充足率 94.2%／返却失敗 0.6%／電池交換 0.1回/日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休日11日・雨5日。休日・雨の日は利用希望が少なく、平日晴れが台数を決める。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稼働率 0.88回/台/日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推奨案（失敗率5%・代替乗車あり(ii)・運用a、駅ポートは費用が最小の容量）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年間費用と他事例との比較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Annual Cost &amp; Benchmarks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8503920" cy="4572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875520" y="2834640"/>
          <a:ext cx="7360920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017520"/>
                <a:gridCol w="2194560"/>
                <a:gridCol w="214884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指標（低位／高位）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本検討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他事例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1台あたり年間費用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11.4／10.4万円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12.8万円（中野区）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運営費に占める再配置費用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44%／36%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3〜4割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稼働率（回/台/日）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0.71／0.89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1.9〜3.1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1トリップあたり費用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433／318円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9875520" y="5760720"/>
            <a:ext cx="73609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A2F81"/>
                </a:solidFill>
                <a:latin typeface="たづがね角ゴシック Info Bold"/>
                <a:ea typeface="たづがね角ゴシック Info Bold"/>
              </a:rPr>
              <a:t>ずれの理由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稼働率が他事例の1/3〜1/4：230戸の閉じた街区で、失敗率5%を守るために朝夕のピークに合わせた台数を持つため。日中は多くが待機。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再配置の割合がやや高い：毎晩の初期配置への戻しを全日で行う前提。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1台あたり費用は他事例とほぼ同じ水準。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7589520"/>
            <a:ext cx="8503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単価15万円/台・3年償却、維持1.5万円/台/年、ポート20万円/か所・5年、用地600円/区画/月、人件費1,500円/時、軽トラック500円/回、平日245日・休日120日。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基準（需要18%・駅25台ほか）からの増減（失敗率5%・運用a）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感度分析①：最小台数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Sensitivity: Fleet Size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10241280" cy="66751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1704320" y="2743200"/>
            <a:ext cx="5532120" cy="6583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2F81"/>
                </a:solidFill>
                <a:latin typeface="たづがね角ゴシック Info Bold"/>
                <a:ea typeface="たづがね角ゴシック Info Bold"/>
              </a:rPr>
              <a:t>読み方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棒の長さ＝その項目を下限・上限に動かしたときの最小台数の変化。上ほど影響が大きい。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最も効くのは「需要（転換率）」、次が「駅ポート容量」。駅ポートが満車になると返却失敗で台数が急増する。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需要は暫定値のため、東京都資料での確定が最優先。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手続き時間・歩行速度・自転車比率の影響は小さい。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各点1回の計算のため、±2台程度は乱数の揺れを含む。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各点で費用が最小の運用を選んだときの年間総費用の増減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感度分析②：年間費用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Sensitivity: Annual Cost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10241280" cy="66751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1704320" y="2743200"/>
            <a:ext cx="5532120" cy="6583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2F81"/>
                </a:solidFill>
                <a:latin typeface="たづがね角ゴシック Info Bold"/>
                <a:ea typeface="たづがね角ゴシック Info Bold"/>
              </a:rPr>
              <a:t>読み方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費用は需要（＝台数）と車両単価で大きく変わる。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ポート・軽トラックの単価を0.5〜2倍に動かしても、推奨する運用は変わらない（次ページ）。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車両単価±30%は、そのまま車両償却（費用の約4〜5割）に効く。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各項目を動かしたとき、推奨案（台数・運用）が変わる値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推奨案が変わる境目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Decision Boundaries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834640"/>
          <a:ext cx="16184880" cy="59253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60320"/>
                <a:gridCol w="10881360"/>
                <a:gridCol w="2743200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項目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推奨案（変わる値ごと）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運用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需要（転換率）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12%：運用a・14＋10=24台／15%：運用a・17＋11=28台／18%：運用a・19＋15=34台／21%：運用a・26＋17=43台／24%：運用a・27＋53=80台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自転車の比率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50%：運用a・17＋17=34台／55%：運用a・19＋16=35台／60%：運用a・19＋15=34台／65%：運用a・21＋12=33台／70%：運用a・21＋11=32台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駅ポート容量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18台：運用a・6＋62=68台／25台：運用a・19＋15=34台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手続き時間（秒）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30秒：運用a・19＋15=34台（全範囲で同じ）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歩行速度（km/h）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4.0：運用a・21＋14=35台／4.5：運用a・33＋0=33台／4.8：運用a・19＋15=34台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車両単価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×0.7：運用a・19＋15=34台（全範囲で同じ）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ポート初期費用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×0.5：運用a・19＋15=34台（全範囲で同じ）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軽トラック費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×0.5：運用a・19＋15=34台（全範囲で同じ）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8" id="18"/>
          <p:cNvSpPr txBox="true"/>
          <p:nvPr/>
        </p:nvSpPr>
        <p:spPr>
          <a:xfrm rot="0">
            <a:off x="1301441" y="1915295"/>
            <a:ext cx="76044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結果を左右する暫定値を確定させる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前提の確度と課題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Assumptions to Confirm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47750" y="3048055"/>
            <a:ext cx="16192500" cy="1762125"/>
            <a:chOff x="0" y="0"/>
            <a:chExt cx="4264691" cy="464099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264691" cy="464099"/>
            </a:xfrm>
            <a:custGeom>
              <a:avLst/>
              <a:gdLst/>
              <a:ahLst/>
              <a:cxnLst/>
              <a:rect r="r" b="b" t="t" l="l"/>
              <a:pathLst>
                <a:path h="464099" w="4264691">
                  <a:moveTo>
                    <a:pt x="0" y="0"/>
                  </a:moveTo>
                  <a:lnTo>
                    <a:pt x="4264691" y="0"/>
                  </a:lnTo>
                  <a:lnTo>
                    <a:pt x="4264691" y="464099"/>
                  </a:lnTo>
                  <a:lnTo>
                    <a:pt x="0" y="464099"/>
                  </a:lnTo>
                  <a:close/>
                </a:path>
              </a:pathLst>
            </a:custGeom>
            <a:ln w="19050" cap="sq">
              <a:solidFill>
                <a:srgbClr val="1A2F81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200025"/>
              <a:ext cx="4264691" cy="664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2772341" y="3530973"/>
            <a:ext cx="4557587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需要（転換率）が暫定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175022" y="3411593"/>
            <a:ext cx="9684228" cy="84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低位12%・高位24%は仮置き。台数・費用に最も効く項目。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東京都の協議会資料（環境から取得不可）の値に差し替えて再計算する。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047750" y="5164483"/>
            <a:ext cx="16192500" cy="1860233"/>
            <a:chOff x="0" y="0"/>
            <a:chExt cx="4264691" cy="48993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4264691" cy="489938"/>
            </a:xfrm>
            <a:custGeom>
              <a:avLst/>
              <a:gdLst/>
              <a:ahLst/>
              <a:cxnLst/>
              <a:rect r="r" b="b" t="t" l="l"/>
              <a:pathLst>
                <a:path h="489938" w="4264691">
                  <a:moveTo>
                    <a:pt x="0" y="0"/>
                  </a:moveTo>
                  <a:lnTo>
                    <a:pt x="4264691" y="0"/>
                  </a:lnTo>
                  <a:lnTo>
                    <a:pt x="4264691" y="489938"/>
                  </a:lnTo>
                  <a:lnTo>
                    <a:pt x="0" y="489938"/>
                  </a:lnTo>
                  <a:close/>
                </a:path>
              </a:pathLst>
            </a:custGeom>
            <a:ln w="19050" cap="sq">
              <a:solidFill>
                <a:srgbClr val="086B89"/>
              </a:solidFill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-200025"/>
              <a:ext cx="4264691" cy="6899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2772341" y="5696454"/>
            <a:ext cx="4557587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086B89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気象倍率・出現日数が暫定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175022" y="5577074"/>
            <a:ext cx="9684228" cy="84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国の資料を参考にした仮定値（要確認）。1か月の結果に影響。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気象庁の平年値（久喜・鴻巣など近傍）での確認が必要。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1047750" y="7379017"/>
            <a:ext cx="16192500" cy="1860233"/>
            <a:chOff x="0" y="0"/>
            <a:chExt cx="4264691" cy="489938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264691" cy="489938"/>
            </a:xfrm>
            <a:custGeom>
              <a:avLst/>
              <a:gdLst/>
              <a:ahLst/>
              <a:cxnLst/>
              <a:rect r="r" b="b" t="t" l="l"/>
              <a:pathLst>
                <a:path h="489938" w="4264691">
                  <a:moveTo>
                    <a:pt x="0" y="0"/>
                  </a:moveTo>
                  <a:lnTo>
                    <a:pt x="4264691" y="0"/>
                  </a:lnTo>
                  <a:lnTo>
                    <a:pt x="4264691" y="489938"/>
                  </a:lnTo>
                  <a:lnTo>
                    <a:pt x="0" y="489938"/>
                  </a:lnTo>
                  <a:close/>
                </a:path>
              </a:pathLst>
            </a:custGeom>
            <a:ln w="19050" cap="sq">
              <a:solidFill>
                <a:srgbClr val="1A2F81"/>
              </a:solidFill>
              <a:prstDash val="solid"/>
              <a:miter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-200025"/>
              <a:ext cx="4264691" cy="6899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2772341" y="7910989"/>
            <a:ext cx="4557587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5D549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利用実績・稼働率の差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175022" y="7791609"/>
            <a:ext cx="9684228" cy="84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稼働率0.71回/台/日は他事例（1.9〜3.1）より低い。実績が無く検証できない。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実証運用で利用記録をとり、時間帯別需要と車種比率を更新する。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047750" y="3048055"/>
            <a:ext cx="95250" cy="1762125"/>
            <a:chOff x="0" y="0"/>
            <a:chExt cx="25086" cy="464099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5086" cy="464099"/>
            </a:xfrm>
            <a:custGeom>
              <a:avLst/>
              <a:gdLst/>
              <a:ahLst/>
              <a:cxnLst/>
              <a:rect r="r" b="b" t="t" l="l"/>
              <a:pathLst>
                <a:path h="464099" w="25086">
                  <a:moveTo>
                    <a:pt x="0" y="0"/>
                  </a:moveTo>
                  <a:lnTo>
                    <a:pt x="25086" y="0"/>
                  </a:lnTo>
                  <a:lnTo>
                    <a:pt x="25086" y="464099"/>
                  </a:lnTo>
                  <a:lnTo>
                    <a:pt x="0" y="464099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200025"/>
              <a:ext cx="25086" cy="664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047750" y="5164483"/>
            <a:ext cx="95250" cy="1860233"/>
            <a:chOff x="0" y="0"/>
            <a:chExt cx="25086" cy="489938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5086" cy="489938"/>
            </a:xfrm>
            <a:custGeom>
              <a:avLst/>
              <a:gdLst/>
              <a:ahLst/>
              <a:cxnLst/>
              <a:rect r="r" b="b" t="t" l="l"/>
              <a:pathLst>
                <a:path h="489938" w="25086">
                  <a:moveTo>
                    <a:pt x="0" y="0"/>
                  </a:moveTo>
                  <a:lnTo>
                    <a:pt x="25086" y="0"/>
                  </a:lnTo>
                  <a:lnTo>
                    <a:pt x="25086" y="489938"/>
                  </a:lnTo>
                  <a:lnTo>
                    <a:pt x="0" y="489938"/>
                  </a:lnTo>
                  <a:close/>
                </a:path>
              </a:pathLst>
            </a:custGeom>
            <a:solidFill>
              <a:srgbClr val="086B89"/>
            </a:solidFill>
            <a:ln cap="sq">
              <a:noFill/>
              <a:prstDash val="solid"/>
              <a:miter/>
            </a:ln>
          </p:spPr>
        </p:sp>
        <p:sp>
          <p:nvSpPr>
            <p:cNvPr name="TextBox 41" id="41"/>
            <p:cNvSpPr txBox="true"/>
            <p:nvPr/>
          </p:nvSpPr>
          <p:spPr>
            <a:xfrm>
              <a:off x="0" y="-200025"/>
              <a:ext cx="25086" cy="6899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047750" y="7379017"/>
            <a:ext cx="95250" cy="1860233"/>
            <a:chOff x="0" y="0"/>
            <a:chExt cx="25086" cy="48993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5086" cy="489938"/>
            </a:xfrm>
            <a:custGeom>
              <a:avLst/>
              <a:gdLst/>
              <a:ahLst/>
              <a:cxnLst/>
              <a:rect r="r" b="b" t="t" l="l"/>
              <a:pathLst>
                <a:path h="489938" w="25086">
                  <a:moveTo>
                    <a:pt x="0" y="0"/>
                  </a:moveTo>
                  <a:lnTo>
                    <a:pt x="25086" y="0"/>
                  </a:lnTo>
                  <a:lnTo>
                    <a:pt x="25086" y="489938"/>
                  </a:lnTo>
                  <a:lnTo>
                    <a:pt x="0" y="489938"/>
                  </a:lnTo>
                  <a:close/>
                </a:path>
              </a:pathLst>
            </a:custGeom>
            <a:solidFill>
              <a:srgbClr val="5D5491"/>
            </a:solidFill>
            <a:ln cap="sq">
              <a:noFill/>
              <a:prstDash val="solid"/>
              <a:miter/>
            </a:ln>
          </p:spPr>
        </p:sp>
        <p:sp>
          <p:nvSpPr>
            <p:cNvPr name="TextBox 44" id="44"/>
            <p:cNvSpPr txBox="true"/>
            <p:nvPr/>
          </p:nvSpPr>
          <p:spPr>
            <a:xfrm>
              <a:off x="0" y="-200025"/>
              <a:ext cx="25086" cy="6899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45" id="45"/>
          <p:cNvSpPr txBox="true"/>
          <p:nvPr/>
        </p:nvSpPr>
        <p:spPr>
          <a:xfrm rot="0">
            <a:off x="1468963" y="3578915"/>
            <a:ext cx="979529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b="true" sz="1599">
                <a:solidFill>
                  <a:srgbClr val="1A2F8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ISSUE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468963" y="3854505"/>
            <a:ext cx="979529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1A2F8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01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468963" y="5744396"/>
            <a:ext cx="979529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b="true" sz="1599">
                <a:solidFill>
                  <a:srgbClr val="086B89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ISSUE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468963" y="6019986"/>
            <a:ext cx="979529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086B89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02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468963" y="7958931"/>
            <a:ext cx="979529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b="true" sz="1599">
                <a:solidFill>
                  <a:srgbClr val="5D549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ISSUE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468963" y="8234521"/>
            <a:ext cx="979529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5D549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03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8" id="18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暫定値の確定 → 再計算 → 実証での検証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今後の進め方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Next Steps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5605337" y="3048055"/>
            <a:ext cx="11634913" cy="952500"/>
            <a:chOff x="0" y="0"/>
            <a:chExt cx="3064339" cy="250864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064339" cy="250864"/>
            </a:xfrm>
            <a:custGeom>
              <a:avLst/>
              <a:gdLst/>
              <a:ahLst/>
              <a:cxnLst/>
              <a:rect r="r" b="b" t="t" l="l"/>
              <a:pathLst>
                <a:path h="250864" w="3064339">
                  <a:moveTo>
                    <a:pt x="66540" y="0"/>
                  </a:moveTo>
                  <a:lnTo>
                    <a:pt x="2997799" y="0"/>
                  </a:lnTo>
                  <a:cubicBezTo>
                    <a:pt x="3015447" y="0"/>
                    <a:pt x="3032371" y="7010"/>
                    <a:pt x="3044850" y="19489"/>
                  </a:cubicBezTo>
                  <a:cubicBezTo>
                    <a:pt x="3057329" y="31968"/>
                    <a:pt x="3064339" y="48893"/>
                    <a:pt x="3064339" y="66540"/>
                  </a:cubicBezTo>
                  <a:lnTo>
                    <a:pt x="3064339" y="184324"/>
                  </a:lnTo>
                  <a:cubicBezTo>
                    <a:pt x="3064339" y="201971"/>
                    <a:pt x="3057329" y="218896"/>
                    <a:pt x="3044850" y="231375"/>
                  </a:cubicBezTo>
                  <a:cubicBezTo>
                    <a:pt x="3032371" y="243854"/>
                    <a:pt x="3015447" y="250864"/>
                    <a:pt x="2997799" y="250864"/>
                  </a:cubicBezTo>
                  <a:lnTo>
                    <a:pt x="66540" y="250864"/>
                  </a:lnTo>
                  <a:cubicBezTo>
                    <a:pt x="48893" y="250864"/>
                    <a:pt x="31968" y="243854"/>
                    <a:pt x="19489" y="231375"/>
                  </a:cubicBezTo>
                  <a:cubicBezTo>
                    <a:pt x="7010" y="218896"/>
                    <a:pt x="0" y="201971"/>
                    <a:pt x="0" y="184324"/>
                  </a:cubicBezTo>
                  <a:lnTo>
                    <a:pt x="0" y="66540"/>
                  </a:lnTo>
                  <a:cubicBezTo>
                    <a:pt x="0" y="48893"/>
                    <a:pt x="7010" y="31968"/>
                    <a:pt x="19489" y="19489"/>
                  </a:cubicBezTo>
                  <a:cubicBezTo>
                    <a:pt x="31968" y="7010"/>
                    <a:pt x="48893" y="0"/>
                    <a:pt x="66540" y="0"/>
                  </a:cubicBezTo>
                  <a:close/>
                </a:path>
              </a:pathLst>
            </a:custGeom>
            <a:ln w="38100" cap="rnd">
              <a:solidFill>
                <a:srgbClr val="086B89"/>
              </a:solidFill>
              <a:prstDash val="solid"/>
              <a:round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200025"/>
              <a:ext cx="3064339" cy="4508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1313936" y="3991030"/>
            <a:ext cx="217714" cy="190500"/>
            <a:chOff x="0" y="0"/>
            <a:chExt cx="812800" cy="7112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711200"/>
            </a:xfrm>
            <a:custGeom>
              <a:avLst/>
              <a:gdLst/>
              <a:ahLst/>
              <a:cxnLst/>
              <a:rect r="r" b="b" t="t" l="l"/>
              <a:pathLst>
                <a:path h="711200" w="812800">
                  <a:moveTo>
                    <a:pt x="406400" y="711200"/>
                  </a:moveTo>
                  <a:lnTo>
                    <a:pt x="812800" y="0"/>
                  </a:lnTo>
                  <a:lnTo>
                    <a:pt x="0" y="0"/>
                  </a:lnTo>
                  <a:lnTo>
                    <a:pt x="406400" y="711200"/>
                  </a:lnTo>
                  <a:close/>
                </a:path>
              </a:pathLst>
            </a:custGeom>
            <a:solidFill>
              <a:srgbClr val="086B89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127000" y="-149225"/>
              <a:ext cx="558800" cy="530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6928582" y="3100125"/>
            <a:ext cx="8988423" cy="619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b="true" sz="2599">
                <a:solidFill>
                  <a:srgbClr val="086B89"/>
                </a:solidFill>
                <a:latin typeface="たづがね角ゴシック Info Semi-Bold"/>
                <a:ea typeface="たづがね角ゴシック Info Semi-Bold"/>
                <a:cs typeface="たづがね角ゴシック Info Semi-Bold"/>
                <a:sym typeface="たづがね角ゴシック Info Semi-Bold"/>
              </a:rPr>
              <a:t>東京都資料で転換率を確定し、全条件を再計算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47750" y="3336980"/>
            <a:ext cx="4557587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需要の確定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47750" y="3019480"/>
            <a:ext cx="2103739" cy="33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1A2F8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STEP 01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5605337" y="4122396"/>
            <a:ext cx="11634913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010817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config.yaml の demand_scenarios を差し替え、run_study.py・make_report.py を再実行。</a:t>
            </a:r>
          </a:p>
        </p:txBody>
      </p:sp>
      <p:sp>
        <p:nvSpPr>
          <p:cNvPr name="AutoShape 31" id="31"/>
          <p:cNvSpPr/>
          <p:nvPr/>
        </p:nvSpPr>
        <p:spPr>
          <a:xfrm>
            <a:off x="1028700" y="5041148"/>
            <a:ext cx="16182975" cy="0"/>
          </a:xfrm>
          <a:prstGeom prst="line">
            <a:avLst/>
          </a:prstGeom>
          <a:ln cap="flat" w="19050">
            <a:solidFill>
              <a:srgbClr val="B1B8C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2" id="32"/>
          <p:cNvGrpSpPr/>
          <p:nvPr/>
        </p:nvGrpSpPr>
        <p:grpSpPr>
          <a:xfrm rot="0">
            <a:off x="5605337" y="5272115"/>
            <a:ext cx="11634913" cy="952500"/>
            <a:chOff x="0" y="0"/>
            <a:chExt cx="3064339" cy="250864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064339" cy="250864"/>
            </a:xfrm>
            <a:custGeom>
              <a:avLst/>
              <a:gdLst/>
              <a:ahLst/>
              <a:cxnLst/>
              <a:rect r="r" b="b" t="t" l="l"/>
              <a:pathLst>
                <a:path h="250864" w="3064339">
                  <a:moveTo>
                    <a:pt x="66540" y="0"/>
                  </a:moveTo>
                  <a:lnTo>
                    <a:pt x="2997799" y="0"/>
                  </a:lnTo>
                  <a:cubicBezTo>
                    <a:pt x="3015447" y="0"/>
                    <a:pt x="3032371" y="7010"/>
                    <a:pt x="3044850" y="19489"/>
                  </a:cubicBezTo>
                  <a:cubicBezTo>
                    <a:pt x="3057329" y="31968"/>
                    <a:pt x="3064339" y="48893"/>
                    <a:pt x="3064339" y="66540"/>
                  </a:cubicBezTo>
                  <a:lnTo>
                    <a:pt x="3064339" y="184324"/>
                  </a:lnTo>
                  <a:cubicBezTo>
                    <a:pt x="3064339" y="201971"/>
                    <a:pt x="3057329" y="218896"/>
                    <a:pt x="3044850" y="231375"/>
                  </a:cubicBezTo>
                  <a:cubicBezTo>
                    <a:pt x="3032371" y="243854"/>
                    <a:pt x="3015447" y="250864"/>
                    <a:pt x="2997799" y="250864"/>
                  </a:cubicBezTo>
                  <a:lnTo>
                    <a:pt x="66540" y="250864"/>
                  </a:lnTo>
                  <a:cubicBezTo>
                    <a:pt x="48893" y="250864"/>
                    <a:pt x="31968" y="243854"/>
                    <a:pt x="19489" y="231375"/>
                  </a:cubicBezTo>
                  <a:cubicBezTo>
                    <a:pt x="7010" y="218896"/>
                    <a:pt x="0" y="201971"/>
                    <a:pt x="0" y="184324"/>
                  </a:cubicBezTo>
                  <a:lnTo>
                    <a:pt x="0" y="66540"/>
                  </a:lnTo>
                  <a:cubicBezTo>
                    <a:pt x="0" y="48893"/>
                    <a:pt x="7010" y="31968"/>
                    <a:pt x="19489" y="19489"/>
                  </a:cubicBezTo>
                  <a:cubicBezTo>
                    <a:pt x="31968" y="7010"/>
                    <a:pt x="48893" y="0"/>
                    <a:pt x="66540" y="0"/>
                  </a:cubicBezTo>
                  <a:close/>
                </a:path>
              </a:pathLst>
            </a:custGeom>
            <a:ln w="38100" cap="rnd">
              <a:solidFill>
                <a:srgbClr val="086B89"/>
              </a:solidFill>
              <a:prstDash val="solid"/>
              <a:round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200025"/>
              <a:ext cx="3064339" cy="4508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07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1313936" y="6215090"/>
            <a:ext cx="217714" cy="190500"/>
            <a:chOff x="0" y="0"/>
            <a:chExt cx="812800" cy="7112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12800" cy="711200"/>
            </a:xfrm>
            <a:custGeom>
              <a:avLst/>
              <a:gdLst/>
              <a:ahLst/>
              <a:cxnLst/>
              <a:rect r="r" b="b" t="t" l="l"/>
              <a:pathLst>
                <a:path h="711200" w="812800">
                  <a:moveTo>
                    <a:pt x="406400" y="711200"/>
                  </a:moveTo>
                  <a:lnTo>
                    <a:pt x="812800" y="0"/>
                  </a:lnTo>
                  <a:lnTo>
                    <a:pt x="0" y="0"/>
                  </a:lnTo>
                  <a:lnTo>
                    <a:pt x="406400" y="711200"/>
                  </a:lnTo>
                  <a:close/>
                </a:path>
              </a:pathLst>
            </a:custGeom>
            <a:solidFill>
              <a:srgbClr val="086B89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127000" y="-149225"/>
              <a:ext cx="558800" cy="530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928582" y="5324185"/>
            <a:ext cx="8988423" cy="619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b="true" sz="2599">
                <a:solidFill>
                  <a:srgbClr val="086B89"/>
                </a:solidFill>
                <a:latin typeface="たづがね角ゴシック Info Semi-Bold"/>
                <a:ea typeface="たづがね角ゴシック Info Semi-Bold"/>
                <a:cs typeface="たづがね角ゴシック Info Semi-Bold"/>
                <a:sym typeface="たづがね角ゴシック Info Semi-Bold"/>
              </a:rPr>
              <a:t>住宅側3か所・運用a・駅ポート18〜32台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047750" y="5561040"/>
            <a:ext cx="4557587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設計の確定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5243540"/>
            <a:ext cx="2103739" cy="33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1A2F8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STEP 02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5605337" y="6346456"/>
            <a:ext cx="11634913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010817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住宅の追加（現在230戸）に合わせてポート数と台数を見直す。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5605337" y="7496175"/>
            <a:ext cx="11634913" cy="952500"/>
            <a:chOff x="0" y="0"/>
            <a:chExt cx="3064339" cy="250864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3064339" cy="250864"/>
            </a:xfrm>
            <a:custGeom>
              <a:avLst/>
              <a:gdLst/>
              <a:ahLst/>
              <a:cxnLst/>
              <a:rect r="r" b="b" t="t" l="l"/>
              <a:pathLst>
                <a:path h="250864" w="3064339">
                  <a:moveTo>
                    <a:pt x="66540" y="0"/>
                  </a:moveTo>
                  <a:lnTo>
                    <a:pt x="2997799" y="0"/>
                  </a:lnTo>
                  <a:cubicBezTo>
                    <a:pt x="3015447" y="0"/>
                    <a:pt x="3032371" y="7010"/>
                    <a:pt x="3044850" y="19489"/>
                  </a:cubicBezTo>
                  <a:cubicBezTo>
                    <a:pt x="3057329" y="31968"/>
                    <a:pt x="3064339" y="48893"/>
                    <a:pt x="3064339" y="66540"/>
                  </a:cubicBezTo>
                  <a:lnTo>
                    <a:pt x="3064339" y="184324"/>
                  </a:lnTo>
                  <a:cubicBezTo>
                    <a:pt x="3064339" y="201971"/>
                    <a:pt x="3057329" y="218896"/>
                    <a:pt x="3044850" y="231375"/>
                  </a:cubicBezTo>
                  <a:cubicBezTo>
                    <a:pt x="3032371" y="243854"/>
                    <a:pt x="3015447" y="250864"/>
                    <a:pt x="2997799" y="250864"/>
                  </a:cubicBezTo>
                  <a:lnTo>
                    <a:pt x="66540" y="250864"/>
                  </a:lnTo>
                  <a:cubicBezTo>
                    <a:pt x="48893" y="250864"/>
                    <a:pt x="31968" y="243854"/>
                    <a:pt x="19489" y="231375"/>
                  </a:cubicBezTo>
                  <a:cubicBezTo>
                    <a:pt x="7010" y="218896"/>
                    <a:pt x="0" y="201971"/>
                    <a:pt x="0" y="184324"/>
                  </a:cubicBezTo>
                  <a:lnTo>
                    <a:pt x="0" y="66540"/>
                  </a:lnTo>
                  <a:cubicBezTo>
                    <a:pt x="0" y="48893"/>
                    <a:pt x="7010" y="31968"/>
                    <a:pt x="19489" y="19489"/>
                  </a:cubicBezTo>
                  <a:cubicBezTo>
                    <a:pt x="31968" y="7010"/>
                    <a:pt x="48893" y="0"/>
                    <a:pt x="66540" y="0"/>
                  </a:cubicBezTo>
                  <a:close/>
                </a:path>
              </a:pathLst>
            </a:custGeom>
            <a:ln w="38100" cap="rnd">
              <a:solidFill>
                <a:srgbClr val="086B89"/>
              </a:solidFill>
              <a:prstDash val="solid"/>
              <a:round/>
            </a:ln>
          </p:spPr>
        </p:sp>
        <p:sp>
          <p:nvSpPr>
            <p:cNvPr name="TextBox 44" id="44"/>
            <p:cNvSpPr txBox="true"/>
            <p:nvPr/>
          </p:nvSpPr>
          <p:spPr>
            <a:xfrm>
              <a:off x="0" y="-200025"/>
              <a:ext cx="3064339" cy="4508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07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1313936" y="8439150"/>
            <a:ext cx="217714" cy="190500"/>
            <a:chOff x="0" y="0"/>
            <a:chExt cx="812800" cy="7112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812800" cy="711200"/>
            </a:xfrm>
            <a:custGeom>
              <a:avLst/>
              <a:gdLst/>
              <a:ahLst/>
              <a:cxnLst/>
              <a:rect r="r" b="b" t="t" l="l"/>
              <a:pathLst>
                <a:path h="711200" w="812800">
                  <a:moveTo>
                    <a:pt x="406400" y="711200"/>
                  </a:moveTo>
                  <a:lnTo>
                    <a:pt x="812800" y="0"/>
                  </a:lnTo>
                  <a:lnTo>
                    <a:pt x="0" y="0"/>
                  </a:lnTo>
                  <a:lnTo>
                    <a:pt x="406400" y="711200"/>
                  </a:lnTo>
                  <a:close/>
                </a:path>
              </a:pathLst>
            </a:custGeom>
            <a:solidFill>
              <a:srgbClr val="086B89"/>
            </a:solidFill>
          </p:spPr>
        </p:sp>
        <p:sp>
          <p:nvSpPr>
            <p:cNvPr name="TextBox 47" id="47"/>
            <p:cNvSpPr txBox="true"/>
            <p:nvPr/>
          </p:nvSpPr>
          <p:spPr>
            <a:xfrm>
              <a:off x="127000" y="-149225"/>
              <a:ext cx="558800" cy="530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48" id="48"/>
          <p:cNvSpPr txBox="true"/>
          <p:nvPr/>
        </p:nvSpPr>
        <p:spPr>
          <a:xfrm rot="0">
            <a:off x="6928582" y="7548245"/>
            <a:ext cx="8988423" cy="619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b="true" sz="2599">
                <a:solidFill>
                  <a:srgbClr val="086B89"/>
                </a:solidFill>
                <a:latin typeface="たづがね角ゴシック Info Semi-Bold"/>
                <a:ea typeface="たづがね角ゴシック Info Semi-Bold"/>
                <a:cs typeface="たづがね角ゴシック Info Semi-Bold"/>
                <a:sym typeface="たづがね角ゴシック Info Semi-Bold"/>
              </a:rPr>
              <a:t>利用記録で需要・稼働率・電池交換を検証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047750" y="7785100"/>
            <a:ext cx="4557587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実証で検証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047750" y="7467600"/>
            <a:ext cx="2103739" cy="33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1A2F8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STEP 03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5605337" y="8570516"/>
            <a:ext cx="11634913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010817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記録をシミュレーションに戻し、台数と運用を更新する。</a:t>
            </a:r>
          </a:p>
        </p:txBody>
      </p:sp>
      <p:sp>
        <p:nvSpPr>
          <p:cNvPr name="AutoShape 52" id="52"/>
          <p:cNvSpPr/>
          <p:nvPr/>
        </p:nvSpPr>
        <p:spPr>
          <a:xfrm>
            <a:off x="1028700" y="7265208"/>
            <a:ext cx="16182975" cy="0"/>
          </a:xfrm>
          <a:prstGeom prst="line">
            <a:avLst/>
          </a:prstGeom>
          <a:ln cap="flat" w="19050">
            <a:solidFill>
              <a:srgbClr val="B1B8C0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詳細は docs/前提と出典.md、値はすべて config.yaml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主な前提値と出典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Assumptions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834640"/>
          <a:ext cx="16184880" cy="58338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43200"/>
                <a:gridCol w="11430000"/>
                <a:gridCol w="2011680"/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項目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値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状態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住宅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230戸（既存街区171戸・新規街区59戸）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確定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調査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2023年アンケート 23人（目的・時間帯・車種希望Q16）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確定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走行速度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自転車12.6 km/h・キックボード14.0 km/h（走行ログ実測）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確定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ポート座標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駅西口ポート 36.113177,139.712318／モビリティステーション 36.111012,139.709442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確定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駅ポート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1台1m×2m、基本25台（区画①18＋区画②7）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確定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需要（転換率）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低位12%・高位24%、旧10%・30%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暫定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気象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雨・猛暑・強風・寒さの倍率と月別出現日数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要確認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新規街区の道路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計画図の区画道路（W6m）・歩行者専用通路（W2m）を地図に統合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確定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電池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キックボード航続30km、20%未満で交換・4時間停止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仮定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費用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車両15万円・3年、維持1.5万円/年、ポート20万円・5年ほか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仮定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8" id="18"/>
          <p:cNvSpPr txBox="true"/>
          <p:nvPr/>
        </p:nvSpPr>
        <p:spPr>
          <a:xfrm rot="0">
            <a:off x="1047750" y="2819455"/>
            <a:ext cx="11704320" cy="2691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0"/>
              </a:lnSpc>
            </a:pPr>
            <a:r>
              <a:rPr lang="en-US" sz="2150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住宅側ポート3か所・運用a（夜1回の再配置）を推奨（代替乗車あり(ii)：他の車種があれば乗り、無ければ徒歩）。失敗率5%で、低位需要は自転車14＋キックボード10＝24台・駅ポート18台、高位需要は自転車24＋キックボード16＝40台・駅ポート32台。</a:t>
            </a:r>
          </a:p>
          <a:p>
            <a:pPr algn="just">
              <a:lnSpc>
                <a:spcPts val="3440"/>
              </a:lnSpc>
            </a:pPr>
            <a:r>
              <a:rPr lang="en-US" sz="2150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日中のリバランス（b・c）は台数・費用を増やすだけで効果が無い。駅ポートが満車になると返却失敗で台数が急増するため、需要が高位に近ければ区画②を2列（32台）にする。</a:t>
            </a:r>
          </a:p>
          <a:p>
            <a:pPr algn="just">
              <a:lnSpc>
                <a:spcPts val="3440"/>
              </a:lnSpc>
            </a:pPr>
            <a:r>
              <a:rPr lang="en-US" sz="2150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10回のばらつきは、低位需要で数台、駅ポートが満車になる高位需要では10台以上。計画は上側の値で見込むと安全。</a:t>
            </a:r>
          </a:p>
          <a:p>
            <a:pPr algn="just">
              <a:lnSpc>
                <a:spcPts val="3440"/>
              </a:lnSpc>
            </a:pPr>
            <a:r>
              <a:rPr lang="en-US" sz="2150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需要（転換率）が結果を最も左右するため、東京都資料での確定と再計算を最優先で進める。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13281018" y="4927215"/>
            <a:ext cx="3959232" cy="4312035"/>
          </a:xfrm>
          <a:custGeom>
            <a:avLst/>
            <a:gdLst/>
            <a:ahLst/>
            <a:cxnLst/>
            <a:rect r="r" b="b" t="t" l="l"/>
            <a:pathLst>
              <a:path h="4312035" w="3959232">
                <a:moveTo>
                  <a:pt x="0" y="0"/>
                </a:moveTo>
                <a:lnTo>
                  <a:pt x="3959232" y="0"/>
                </a:lnTo>
                <a:lnTo>
                  <a:pt x="3959232" y="4312035"/>
                </a:lnTo>
                <a:lnTo>
                  <a:pt x="0" y="43120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推奨案と次の一歩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まとめ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Summary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47750" y="8778240"/>
            <a:ext cx="7715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モビリティポート検討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10回の中央値（最小–最大）。台数＝自転車＋キックボード合計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付録：全条件の結果（低位）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Appendix: All Conditions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697480"/>
          <a:ext cx="16184880" cy="68625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88720"/>
                <a:gridCol w="731520"/>
                <a:gridCol w="914400"/>
                <a:gridCol w="2011680"/>
                <a:gridCol w="2011680"/>
                <a:gridCol w="2377440"/>
                <a:gridCol w="2194560"/>
                <a:gridCol w="2194560"/>
                <a:gridCol w="2560320"/>
              </a:tblGrid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代替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運用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駅容量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充足80%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失敗5%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失敗1%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月充足率(5%)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返却失敗(5%)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年間費用万円(5%)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18（17–20）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44（39–49）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79（76–82）［4/10回達成］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96.1（93.4–97.8）%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20.0（12.3–27.9）%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431（392–475）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18（17–19）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32（30–35）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54（49–56）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96.2（94.5–97.8）%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0.0（0.0–0.8）%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340（323–363）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18（17–19）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32（30–33）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48（47–51）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96.2（94.5–97.8）%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345（332–354）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21（19–24）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54（50–73）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96.9（95.1–98.6）%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36.7（28.8–49.1）%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588（563–740）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22（20–24）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54（50–56）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72（65–84）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97.4（95.5–98.4）%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12.7（9.6–17.8）%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596（570–613）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22（20–24）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54（50–56）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72（65–84）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97.4（95.5–98.4）%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0.9（0.2–4.5）%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601（575–618）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20（19–24）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54（50–73）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96.9（95.1–98.6）%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36.7（28.8–49.1）%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588（563–740）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20（19–24）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54（50–56）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72（65–84）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97.4（95.5–98.4）%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12.7（9.6–17.8）%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596（570–613）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20（19–24）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54（50–56）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72（65–84）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97.4（95.5–98.4）%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0.9（0.2–4.5）%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601（575–618）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15（14–15）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24（23–28）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45（38–48）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96.2（95.2–98.7）%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1.5（0.0–7.7）%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280（267–313）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15（14–15）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24（23–27）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36（31–39）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96.2（95.3–98.7）%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284（272–302）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15（14–15）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24（23–27）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36（31–39）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96.2（95.3–98.7）%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289（277–307）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15（14–15）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28（25–45）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69（55–85）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96.7（93.4–98.4）%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6.3（0.8–17.8）%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359（331–502）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15（14–15）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28（25–45）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62（55–66）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96.7（93.4–98.4）%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0.0（0.0–2.5）%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365（336–508）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15（14–15）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28（25–45）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62（55–66）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96.7（93.4–98.4）%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370（341–513）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14（13–15）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26（24–45）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69（55–85）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96.5（94.1–98.4）%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4.3（1.0–17.8）%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346（322–502）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14（13–15）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26（24–45）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62（55–66）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96.5（94.1–98.4）%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0.0（0.0–2.5）%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351（328–508）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14（13–15）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26（24–45）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62（55–66）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96.5（94.1–98.4）%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356（333–513）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10回の中央値（最小–最大）。台数＝自転車＋キックボード合計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付録：全条件の結果（高位）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Appendix: All Conditions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697480"/>
          <a:ext cx="16184880" cy="68625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88720"/>
                <a:gridCol w="731520"/>
                <a:gridCol w="914400"/>
                <a:gridCol w="2011680"/>
                <a:gridCol w="2011680"/>
                <a:gridCol w="2377440"/>
                <a:gridCol w="2194560"/>
                <a:gridCol w="2194560"/>
                <a:gridCol w="2560320"/>
              </a:tblGrid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代替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運用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駅容量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充足80%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失敗5%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失敗1%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月充足率(5%)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返却失敗(5%)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年間費用万円(5%)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50（46–53）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34（32–37）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152（143–153）［4/10回達成］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96.5（95.5–96.6）%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47.4（44.3–48.7）%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1,269（1,210–1,281）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29（28–30）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70（66–79）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145（139–157）［5/10回達成］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97.5（95.1–98.2）%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16.3（12.7–23.2）%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648（617–723）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50（46–53）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34（32–37）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152（143–153）［4/10回達成］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96.3（95.2–96.4）%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47.5（44.4–48.7）%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1,371（1,319–1,386）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31（30–34）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92（85–133）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96.2（95.3–97.1）%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33.4（26.2–46.5）%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949（888–1,263）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50（46–53）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33（31–37）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152（143–153）［4/10回達成］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96.3（95.2–96.4）%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47.5（44.4–48.7）%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1,371（1,319–1,386）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30（28–33）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92（85–133）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96.2（95.3–97.1）%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33.4（26.2–46.5）%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949（888–1,263）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32（29–38）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25（25–26）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80（72–85）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96.7（94.5–98.6）%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28.2（23.8–38.4）%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726（671–749）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25（25–26）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40（38–44）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78（64–81）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96.6（93.8–98.3）%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1.3（0.1–2.0）%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412（396–445）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32（29–38）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25（25–26）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80（72–85）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96.3（94.5–98.4）%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28.2（23.8–38.6）%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824（765–850）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25（25–26）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44（41–54）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121（80–155）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95.7（94.0–98.5）%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2.1（1.2–7.0）%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492（466–597）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32（29–38）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24（24–26）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80（72–85）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96.3（94.5–98.4）%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28.2（23.8–38.6）%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824（765–850）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24（24–26）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42（39–52）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121（80–155）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96.4（94.6–98.1）%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1.7（0.3–5.7）%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489（459–575）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10回の中央値（最小–最大）。台数＝自転車＋キックボード合計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付録：全条件の結果（旧10%）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Appendix: All Conditions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697480"/>
          <a:ext cx="16184880" cy="68625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88720"/>
                <a:gridCol w="731520"/>
                <a:gridCol w="914400"/>
                <a:gridCol w="2011680"/>
                <a:gridCol w="2011680"/>
                <a:gridCol w="2377440"/>
                <a:gridCol w="2194560"/>
                <a:gridCol w="2194560"/>
                <a:gridCol w="2560320"/>
              </a:tblGrid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代替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運用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駅容量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充足80%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失敗5%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失敗1%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月充足率(5%)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返却失敗(5%)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年間費用万円(5%)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16（16–17）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33（30–38）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66（59–70）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97.6（96.0–98.5）%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8.6（2.6–19.6）%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342（317–384）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16（16–17）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30（27–32）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44（39–51）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97.3（96.0–98.0）%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317（295–341）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16（16–17）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30（27–32）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44（39–51）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97.3（96.0–98.0）%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322（300–346）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20（18–21）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48（43–51）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70（68–76）［8/10回達成］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97.9（95.7–98.7）%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27.2（21.2–38.1）%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530（487–561）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20（18–21）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48（43–51）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62（57–74）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97.9（95.7–98.7）%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5.3（2.0–9.7）%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535（492–566）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20（18–21）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48（43–51）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62（57–74）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97.9（95.7–98.7）%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0.0（0.0–0.7）%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540（497–571）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20（18–20）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48（43–51）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70（68–76）［8/10回達成］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97.9（95.7–98.7）%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27.2（21.2–38.1）%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530（487–561）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20（18–20）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48（43–51）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62（57–74）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97.9（95.7–98.7）%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5.3（2.0–9.7）%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535（492–566）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20（18–20）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48（43–51）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62（57–74）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97.9（95.7–98.7）%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0.0（0.0–0.7）%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540（497–571）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12（12–14）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22（21–24）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32（28–38）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95.8（91.2–98.7）%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0.3（0.0–0.9）%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256（249–276）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12（12–14）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22（21–24）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32（28–37）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95.8（91.2–98.7）%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261（254–281）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12（12–14）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22（21–24）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32（28–37）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95.8（91.2–98.7）%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266（259–286）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12（12–14）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31（27–38）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52（48–64）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96.7（94.1–99.6）%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6.1（0.7–20.5）%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389（345–466）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12（12–14）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31（27–38）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52（48–55）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96.7（94.1–99.6）%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0.0（0.0–1.8）%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394（350–471）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12（12–14）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31（27–38）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52（48–55）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96.7（94.1–99.6）%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399（355–476）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12（11–12）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31（26–38）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52（48–64）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96.7（93.5–99.6）%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6.1（0.7–20.5）%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389（346–466）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12（11–12）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31（26–38）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52（48–55）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96.7（93.5–99.6）%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0.0（0.0–1.8）%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394（351–471）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12（11–12）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31（26–38）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52（48–55）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96.7（93.5–99.6）%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399（356–476）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10回の中央値（最小–最大）。台数＝自転車＋キックボード合計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付録：全条件の結果（旧30%）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Appendix: All Conditions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697480"/>
          <a:ext cx="16184880" cy="68625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88720"/>
                <a:gridCol w="731520"/>
                <a:gridCol w="914400"/>
                <a:gridCol w="2011680"/>
                <a:gridCol w="2011680"/>
                <a:gridCol w="2377440"/>
                <a:gridCol w="2194560"/>
                <a:gridCol w="2194560"/>
                <a:gridCol w="2560320"/>
              </a:tblGrid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代替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運用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駅容量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充足80%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失敗5%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失敗1%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月充足率(5%)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返却失敗(5%)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年間費用万円(5%)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149（136–176）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48（45–52）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36（34–44）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162（152–175）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96.0（94.6–97.4）%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47.0（43.1–49.2）%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1,369（1,287–1,465）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149（136–176）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48（45–52）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36（34–44）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162（152–175）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95.6（94.4–97.3）%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47.2（43.2–49.2）%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1,501（1,409–1,591）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149（136–176）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48（45–52）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35（33–44）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162（152–175）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95.6（94.4–97.3）%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47.2（43.2–49.2）%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1,501（1,409–1,591）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108（99–122）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33（31–34）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31（30–32）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87（59–99）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97.0（96.1–97.8）%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25.2（11.4–33.1）%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802（577–903）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108（99–122）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33（31–34）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31（30–32）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87（59–99）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96.5（95.8–97.5）%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25.2（11.5–33.2）%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919（658–1,028）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108（99–122）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33（31–33）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30（29–32）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87（59–99）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96.5（95.8–97.5）%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25.2（11.3–33.2）%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919（645–1,028）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DAHTd0SZdEA</dc:identifier>
  <dcterms:modified xsi:type="dcterms:W3CDTF">2011-08-01T06:04:30Z</dcterms:modified>
  <cp:revision>1</cp:revision>
  <dc:title>青と白 ビジネス 上半期成果報告書 プレゼンテーション</dc:title>
</cp:coreProperties>
</file>