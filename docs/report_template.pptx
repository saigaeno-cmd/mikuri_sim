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Semi-Bold" charset="1" panose="00000700000000000000"/>
      <p:regular r:id="rId17"/>
    </p:embeddedFont>
    <p:embeddedFont>
      <p:font typeface="たづがね角ゴシック Info Bold" charset="1" panose="020B0803020203020204"/>
      <p:regular r:id="rId18"/>
    </p:embeddedFont>
    <p:embeddedFont>
      <p:font typeface="たづがね角ゴシック Info Semi-Bold" charset="1" panose="020B0703020203020204"/>
      <p:regular r:id="rId19"/>
    </p:embeddedFont>
    <p:embeddedFont>
      <p:font typeface="たづがね角ゴシック Info Medium" charset="1" panose="020B0603020203020204"/>
      <p:regular r:id="rId20"/>
    </p:embeddedFont>
    <p:embeddedFont>
      <p:font typeface="Montserrat Medium" charset="1" panose="00000600000000000000"/>
      <p:regular r:id="rId21"/>
    </p:embeddedFont>
    <p:embeddedFont>
      <p:font typeface="たづがね角ゴシック Info" charset="1" panose="020B0503020203020204"/>
      <p:regular r:id="rId22"/>
    </p:embeddedFont>
    <p:embeddedFont>
      <p:font typeface="Montserrat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8F9"/>
        </a:solidFill>
      </p:bgPr>
    </p:bg>
    <p:spTree>
      <p:nvGrpSpPr>
        <p:cNvPr id="1" name=""/>
        <p:cNvGrpSpPr/>
        <p:nvPr/>
      </p:nvGrpSpPr>
      <p:grpSpPr>
        <a:xfrm>
          <a:off x="0" y="0"/>
          <a:ext cx="0" cy="0"/>
          <a:chOff x="0" y="0"/>
          <a:chExt cx="0" cy="0"/>
        </a:xfrm>
      </p:grpSpPr>
      <p:sp>
        <p:nvSpPr>
          <p:cNvPr name="AutoShape 2" id="2"/>
          <p:cNvSpPr/>
          <p:nvPr/>
        </p:nvSpPr>
        <p:spPr>
          <a:xfrm>
            <a:off x="1047750" y="8789779"/>
            <a:ext cx="16192500" cy="0"/>
          </a:xfrm>
          <a:prstGeom prst="line">
            <a:avLst/>
          </a:prstGeom>
          <a:ln cap="rnd" w="19050">
            <a:solidFill>
              <a:srgbClr val="010817"/>
            </a:solidFill>
            <a:prstDash val="solid"/>
            <a:headEnd type="none" len="sm" w="sm"/>
            <a:tailEnd type="none" len="sm" w="sm"/>
          </a:ln>
        </p:spPr>
      </p:sp>
      <p:grpSp>
        <p:nvGrpSpPr>
          <p:cNvPr name="Group 3" id="3"/>
          <p:cNvGrpSpPr/>
          <p:nvPr/>
        </p:nvGrpSpPr>
        <p:grpSpPr>
          <a:xfrm rot="0">
            <a:off x="1047750" y="5701081"/>
            <a:ext cx="6194522" cy="651527"/>
            <a:chOff x="0" y="0"/>
            <a:chExt cx="1631479" cy="171596"/>
          </a:xfrm>
        </p:grpSpPr>
        <p:sp>
          <p:nvSpPr>
            <p:cNvPr name="Freeform 4" id="4"/>
            <p:cNvSpPr/>
            <p:nvPr/>
          </p:nvSpPr>
          <p:spPr>
            <a:xfrm flipH="false" flipV="false" rot="0">
              <a:off x="0" y="0"/>
              <a:ext cx="1631479" cy="171596"/>
            </a:xfrm>
            <a:custGeom>
              <a:avLst/>
              <a:gdLst/>
              <a:ahLst/>
              <a:cxnLst/>
              <a:rect r="r" b="b" t="t" l="l"/>
              <a:pathLst>
                <a:path h="171596" w="1631479">
                  <a:moveTo>
                    <a:pt x="0" y="0"/>
                  </a:moveTo>
                  <a:lnTo>
                    <a:pt x="1631479" y="0"/>
                  </a:lnTo>
                  <a:lnTo>
                    <a:pt x="1631479" y="171596"/>
                  </a:lnTo>
                  <a:lnTo>
                    <a:pt x="0" y="171596"/>
                  </a:lnTo>
                  <a:close/>
                </a:path>
              </a:pathLst>
            </a:custGeom>
            <a:solidFill>
              <a:srgbClr val="1A2F81"/>
            </a:solidFill>
            <a:ln cap="sq">
              <a:noFill/>
              <a:prstDash val="solid"/>
              <a:miter/>
            </a:ln>
          </p:spPr>
        </p:sp>
        <p:sp>
          <p:nvSpPr>
            <p:cNvPr name="TextBox 5" id="5"/>
            <p:cNvSpPr txBox="true"/>
            <p:nvPr/>
          </p:nvSpPr>
          <p:spPr>
            <a:xfrm>
              <a:off x="0" y="-114300"/>
              <a:ext cx="1631479" cy="285896"/>
            </a:xfrm>
            <a:prstGeom prst="rect">
              <a:avLst/>
            </a:prstGeom>
          </p:spPr>
          <p:txBody>
            <a:bodyPr anchor="ctr" rtlCol="false" tIns="50800" lIns="50800" bIns="50800" rIns="50800"/>
            <a:lstStyle/>
            <a:p>
              <a:pPr algn="ctr" marL="0" indent="0" lvl="0">
                <a:lnSpc>
                  <a:spcPts val="1775"/>
                </a:lnSpc>
                <a:spcBef>
                  <a:spcPct val="0"/>
                </a:spcBef>
              </a:pPr>
            </a:p>
          </p:txBody>
        </p:sp>
      </p:grpSp>
      <p:sp>
        <p:nvSpPr>
          <p:cNvPr name="Freeform 6" id="6"/>
          <p:cNvSpPr/>
          <p:nvPr/>
        </p:nvSpPr>
        <p:spPr>
          <a:xfrm flipH="false" flipV="false" rot="0">
            <a:off x="1028700" y="1047750"/>
            <a:ext cx="770312" cy="521011"/>
          </a:xfrm>
          <a:custGeom>
            <a:avLst/>
            <a:gdLst/>
            <a:ahLst/>
            <a:cxnLst/>
            <a:rect r="r" b="b" t="t" l="l"/>
            <a:pathLst>
              <a:path h="521011" w="770312">
                <a:moveTo>
                  <a:pt x="0" y="0"/>
                </a:moveTo>
                <a:lnTo>
                  <a:pt x="770312" y="0"/>
                </a:lnTo>
                <a:lnTo>
                  <a:pt x="770312" y="521011"/>
                </a:lnTo>
                <a:lnTo>
                  <a:pt x="0" y="5210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6063860" y="1112112"/>
            <a:ext cx="189410" cy="189410"/>
            <a:chOff x="0" y="0"/>
            <a:chExt cx="81040" cy="81040"/>
          </a:xfrm>
        </p:grpSpPr>
        <p:sp>
          <p:nvSpPr>
            <p:cNvPr name="Freeform 8" id="8"/>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9" id="9"/>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0" id="10"/>
          <p:cNvGrpSpPr/>
          <p:nvPr/>
        </p:nvGrpSpPr>
        <p:grpSpPr>
          <a:xfrm rot="0">
            <a:off x="16393263" y="1112112"/>
            <a:ext cx="189410" cy="189410"/>
            <a:chOff x="0" y="0"/>
            <a:chExt cx="81040" cy="81040"/>
          </a:xfrm>
        </p:grpSpPr>
        <p:sp>
          <p:nvSpPr>
            <p:cNvPr name="Freeform 11" id="11"/>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2" id="12"/>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3" id="13"/>
          <p:cNvGrpSpPr/>
          <p:nvPr/>
        </p:nvGrpSpPr>
        <p:grpSpPr>
          <a:xfrm rot="0">
            <a:off x="16722667" y="1112112"/>
            <a:ext cx="189410" cy="189410"/>
            <a:chOff x="0" y="0"/>
            <a:chExt cx="81040" cy="81040"/>
          </a:xfrm>
        </p:grpSpPr>
        <p:sp>
          <p:nvSpPr>
            <p:cNvPr name="Freeform 14" id="14"/>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5" id="15"/>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6" id="16"/>
          <p:cNvGrpSpPr/>
          <p:nvPr/>
        </p:nvGrpSpPr>
        <p:grpSpPr>
          <a:xfrm rot="0">
            <a:off x="17052071" y="1112112"/>
            <a:ext cx="189410" cy="189410"/>
            <a:chOff x="0" y="0"/>
            <a:chExt cx="81040" cy="81040"/>
          </a:xfrm>
        </p:grpSpPr>
        <p:sp>
          <p:nvSpPr>
            <p:cNvPr name="Freeform 17" id="17"/>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8" id="18"/>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sp>
        <p:nvSpPr>
          <p:cNvPr name="Freeform 19" id="19"/>
          <p:cNvSpPr/>
          <p:nvPr/>
        </p:nvSpPr>
        <p:spPr>
          <a:xfrm flipH="false" flipV="false" rot="0">
            <a:off x="13045004" y="4212349"/>
            <a:ext cx="4195246" cy="4411827"/>
          </a:xfrm>
          <a:custGeom>
            <a:avLst/>
            <a:gdLst/>
            <a:ahLst/>
            <a:cxnLst/>
            <a:rect r="r" b="b" t="t" l="l"/>
            <a:pathLst>
              <a:path h="4411827" w="4195246">
                <a:moveTo>
                  <a:pt x="0" y="0"/>
                </a:moveTo>
                <a:lnTo>
                  <a:pt x="4195246" y="0"/>
                </a:lnTo>
                <a:lnTo>
                  <a:pt x="4195246" y="4411827"/>
                </a:lnTo>
                <a:lnTo>
                  <a:pt x="0" y="44118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20" id="20"/>
          <p:cNvSpPr txBox="true"/>
          <p:nvPr/>
        </p:nvSpPr>
        <p:spPr>
          <a:xfrm rot="0">
            <a:off x="1990456" y="1091085"/>
            <a:ext cx="6677294" cy="39624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1A2F81"/>
                </a:solidFill>
                <a:latin typeface="Montserrat Semi-Bold"/>
                <a:ea typeface="Montserrat Semi-Bold"/>
                <a:cs typeface="Montserrat Semi-Bold"/>
                <a:sym typeface="Montserrat Semi-Bold"/>
              </a:rPr>
              <a:t>ARK GRAPHICS</a:t>
            </a:r>
          </a:p>
        </p:txBody>
      </p:sp>
      <p:sp>
        <p:nvSpPr>
          <p:cNvPr name="TextBox 21" id="21"/>
          <p:cNvSpPr txBox="true"/>
          <p:nvPr/>
        </p:nvSpPr>
        <p:spPr>
          <a:xfrm rot="0">
            <a:off x="1047750" y="3159336"/>
            <a:ext cx="9265586" cy="2351245"/>
          </a:xfrm>
          <a:prstGeom prst="rect">
            <a:avLst/>
          </a:prstGeom>
        </p:spPr>
        <p:txBody>
          <a:bodyPr anchor="t" rtlCol="false" tIns="0" lIns="0" bIns="0" rIns="0">
            <a:spAutoFit/>
          </a:bodyPr>
          <a:lstStyle/>
          <a:p>
            <a:pPr algn="l" marL="0" indent="0" lvl="0">
              <a:lnSpc>
                <a:spcPts val="13584"/>
              </a:lnSpc>
              <a:spcBef>
                <a:spcPct val="0"/>
              </a:spcBef>
            </a:pPr>
            <a:r>
              <a:rPr lang="en-US" b="true" sz="9703" strike="noStrike" u="none">
                <a:solidFill>
                  <a:srgbClr val="1A2F81"/>
                </a:solidFill>
                <a:latin typeface="たづがね角ゴシック Info Bold"/>
                <a:ea typeface="たづがね角ゴシック Info Bold"/>
                <a:cs typeface="たづがね角ゴシック Info Bold"/>
                <a:sym typeface="たづがね角ゴシック Info Bold"/>
              </a:rPr>
              <a:t>成果報告書</a:t>
            </a:r>
          </a:p>
        </p:txBody>
      </p:sp>
      <p:sp>
        <p:nvSpPr>
          <p:cNvPr name="TextBox 22" id="22"/>
          <p:cNvSpPr txBox="true"/>
          <p:nvPr/>
        </p:nvSpPr>
        <p:spPr>
          <a:xfrm rot="0">
            <a:off x="1047750" y="2476832"/>
            <a:ext cx="9265586" cy="1404221"/>
          </a:xfrm>
          <a:prstGeom prst="rect">
            <a:avLst/>
          </a:prstGeom>
        </p:spPr>
        <p:txBody>
          <a:bodyPr anchor="t" rtlCol="false" tIns="0" lIns="0" bIns="0" rIns="0">
            <a:spAutoFit/>
          </a:bodyPr>
          <a:lstStyle/>
          <a:p>
            <a:pPr algn="l" marL="0" indent="0" lvl="0">
              <a:lnSpc>
                <a:spcPts val="8150"/>
              </a:lnSpc>
              <a:spcBef>
                <a:spcPct val="0"/>
              </a:spcBef>
            </a:pPr>
            <a:r>
              <a:rPr lang="en-US" b="true" sz="5822" strike="noStrike" u="none">
                <a:solidFill>
                  <a:srgbClr val="1A2F81"/>
                </a:solidFill>
                <a:latin typeface="たづがね角ゴシック Info Bold"/>
                <a:ea typeface="たづがね角ゴシック Info Bold"/>
                <a:cs typeface="たづがね角ゴシック Info Bold"/>
                <a:sym typeface="たづがね角ゴシック Info Bold"/>
              </a:rPr>
              <a:t>2035年度上半期</a:t>
            </a:r>
          </a:p>
        </p:txBody>
      </p:sp>
      <p:sp>
        <p:nvSpPr>
          <p:cNvPr name="TextBox 23" id="23"/>
          <p:cNvSpPr txBox="true"/>
          <p:nvPr/>
        </p:nvSpPr>
        <p:spPr>
          <a:xfrm rot="0">
            <a:off x="1110859" y="5549325"/>
            <a:ext cx="6106403" cy="697865"/>
          </a:xfrm>
          <a:prstGeom prst="rect">
            <a:avLst/>
          </a:prstGeom>
        </p:spPr>
        <p:txBody>
          <a:bodyPr anchor="t" rtlCol="false" tIns="0" lIns="0" bIns="0" rIns="0">
            <a:spAutoFit/>
          </a:bodyPr>
          <a:lstStyle/>
          <a:p>
            <a:pPr algn="ctr">
              <a:lnSpc>
                <a:spcPts val="4060"/>
              </a:lnSpc>
              <a:spcBef>
                <a:spcPct val="0"/>
              </a:spcBef>
            </a:pPr>
            <a:r>
              <a:rPr lang="en-US" b="true" sz="2900">
                <a:solidFill>
                  <a:srgbClr val="F7F8F9"/>
                </a:solidFill>
                <a:latin typeface="たづがね角ゴシック Info Semi-Bold"/>
                <a:ea typeface="たづがね角ゴシック Info Semi-Bold"/>
                <a:cs typeface="たづがね角ゴシック Info Semi-Bold"/>
                <a:sym typeface="たづがね角ゴシック Info Semi-Bold"/>
              </a:rPr>
              <a:t>上半期の取り組みと成果の記録</a:t>
            </a:r>
          </a:p>
        </p:txBody>
      </p:sp>
      <p:sp>
        <p:nvSpPr>
          <p:cNvPr name="TextBox 24" id="24"/>
          <p:cNvSpPr txBox="true"/>
          <p:nvPr/>
        </p:nvSpPr>
        <p:spPr>
          <a:xfrm rot="0">
            <a:off x="3765903" y="8834755"/>
            <a:ext cx="2850169" cy="404495"/>
          </a:xfrm>
          <a:prstGeom prst="rect">
            <a:avLst/>
          </a:prstGeom>
        </p:spPr>
        <p:txBody>
          <a:bodyPr anchor="t" rtlCol="false" tIns="0" lIns="0" bIns="0" rIns="0">
            <a:spAutoFit/>
          </a:bodyPr>
          <a:lstStyle/>
          <a:p>
            <a:pPr algn="l" marL="0" indent="0" lvl="0">
              <a:lnSpc>
                <a:spcPts val="2380"/>
              </a:lnSpc>
              <a:spcBef>
                <a:spcPct val="0"/>
              </a:spcBef>
            </a:pPr>
            <a:r>
              <a:rPr lang="en-US" sz="1700" strike="noStrike" u="none">
                <a:solidFill>
                  <a:srgbClr val="010817"/>
                </a:solidFill>
                <a:latin typeface="たづがね角ゴシック Info Medium"/>
                <a:ea typeface="たづがね角ゴシック Info Medium"/>
                <a:cs typeface="たづがね角ゴシック Info Medium"/>
                <a:sym typeface="たづがね角ゴシック Info Medium"/>
              </a:rPr>
              <a:t>作成日：2035年9月25日</a:t>
            </a:r>
          </a:p>
        </p:txBody>
      </p:sp>
      <p:sp>
        <p:nvSpPr>
          <p:cNvPr name="TextBox 25" id="25"/>
          <p:cNvSpPr txBox="true"/>
          <p:nvPr/>
        </p:nvSpPr>
        <p:spPr>
          <a:xfrm rot="0">
            <a:off x="1047750" y="8834755"/>
            <a:ext cx="2246964" cy="404495"/>
          </a:xfrm>
          <a:prstGeom prst="rect">
            <a:avLst/>
          </a:prstGeom>
        </p:spPr>
        <p:txBody>
          <a:bodyPr anchor="t" rtlCol="false" tIns="0" lIns="0" bIns="0" rIns="0">
            <a:spAutoFit/>
          </a:bodyPr>
          <a:lstStyle/>
          <a:p>
            <a:pPr algn="l" marL="0" indent="0" lvl="0">
              <a:lnSpc>
                <a:spcPts val="2380"/>
              </a:lnSpc>
              <a:spcBef>
                <a:spcPct val="0"/>
              </a:spcBef>
            </a:pPr>
            <a:r>
              <a:rPr lang="en-US" sz="1700">
                <a:solidFill>
                  <a:srgbClr val="010817"/>
                </a:solidFill>
                <a:latin typeface="たづがね角ゴシック Info Medium"/>
                <a:ea typeface="たづがね角ゴシック Info Medium"/>
                <a:cs typeface="たづがね角ゴシック Info Medium"/>
                <a:sym typeface="たづがね角ゴシック Info Medium"/>
              </a:rPr>
              <a:t>作成者：佐々木 里桜</a:t>
            </a:r>
          </a:p>
        </p:txBody>
      </p:sp>
      <p:sp>
        <p:nvSpPr>
          <p:cNvPr name="TextBox 26" id="26"/>
          <p:cNvSpPr txBox="true"/>
          <p:nvPr/>
        </p:nvSpPr>
        <p:spPr>
          <a:xfrm rot="0">
            <a:off x="1047750" y="6529792"/>
            <a:ext cx="7620000" cy="818515"/>
          </a:xfrm>
          <a:prstGeom prst="rect">
            <a:avLst/>
          </a:prstGeom>
        </p:spPr>
        <p:txBody>
          <a:bodyPr anchor="t" rtlCol="false" tIns="0" lIns="0" bIns="0" rIns="0">
            <a:spAutoFit/>
          </a:bodyPr>
          <a:lstStyle/>
          <a:p>
            <a:pPr algn="l">
              <a:lnSpc>
                <a:spcPts val="4759"/>
              </a:lnSpc>
              <a:spcBef>
                <a:spcPct val="0"/>
              </a:spcBef>
            </a:pPr>
            <a:r>
              <a:rPr lang="en-US" sz="3399">
                <a:solidFill>
                  <a:srgbClr val="010817"/>
                </a:solidFill>
                <a:latin typeface="たづがね角ゴシック Info Medium"/>
                <a:ea typeface="たづがね角ゴシック Info Medium"/>
                <a:cs typeface="たづがね角ゴシック Info Medium"/>
                <a:sym typeface="たづがね角ゴシック Info Medium"/>
              </a:rPr>
              <a:t>営業企画部</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7F8F9"/>
        </a:solidFill>
      </p:bgPr>
    </p:bg>
    <p:spTree>
      <p:nvGrpSpPr>
        <p:cNvPr id="1" name=""/>
        <p:cNvGrpSpPr/>
        <p:nvPr/>
      </p:nvGrpSpPr>
      <p:grpSpPr>
        <a:xfrm>
          <a:off x="0" y="0"/>
          <a:ext cx="0" cy="0"/>
          <a:chOff x="0" y="0"/>
          <a:chExt cx="0" cy="0"/>
        </a:xfrm>
      </p:grpSpPr>
      <p:sp>
        <p:nvSpPr>
          <p:cNvPr name="TextBox 2" id="2"/>
          <p:cNvSpPr txBox="true"/>
          <p:nvPr/>
        </p:nvSpPr>
        <p:spPr>
          <a:xfrm rot="0">
            <a:off x="1028700" y="4797863"/>
            <a:ext cx="7639050" cy="1551940"/>
          </a:xfrm>
          <a:prstGeom prst="rect">
            <a:avLst/>
          </a:prstGeom>
        </p:spPr>
        <p:txBody>
          <a:bodyPr anchor="t" rtlCol="false" tIns="0" lIns="0" bIns="0" rIns="0">
            <a:spAutoFit/>
          </a:bodyPr>
          <a:lstStyle/>
          <a:p>
            <a:pPr algn="l" marL="0" indent="0" lvl="0">
              <a:lnSpc>
                <a:spcPts val="8959"/>
              </a:lnSpc>
              <a:spcBef>
                <a:spcPct val="0"/>
              </a:spcBef>
            </a:pPr>
            <a:r>
              <a:rPr lang="en-US" b="true" sz="6399">
                <a:solidFill>
                  <a:srgbClr val="1A2F81"/>
                </a:solidFill>
                <a:latin typeface="たづがね角ゴシック Info Bold"/>
                <a:ea typeface="たづがね角ゴシック Info Bold"/>
                <a:cs typeface="たづがね角ゴシック Info Bold"/>
                <a:sym typeface="たづがね角ゴシック Info Bold"/>
              </a:rPr>
              <a:t>概要と</a:t>
            </a:r>
            <a:r>
              <a:rPr lang="en-US" b="true" sz="6399" strike="noStrike" u="none">
                <a:solidFill>
                  <a:srgbClr val="1A2F81"/>
                </a:solidFill>
                <a:latin typeface="たづがね角ゴシック Info Bold"/>
                <a:ea typeface="たづがね角ゴシック Info Bold"/>
                <a:cs typeface="たづがね角ゴシック Info Bold"/>
                <a:sym typeface="たづがね角ゴシック Info Bold"/>
              </a:rPr>
              <a:t>報告</a:t>
            </a:r>
            <a:r>
              <a:rPr lang="en-US" b="true" sz="6399" strike="noStrike" u="none">
                <a:solidFill>
                  <a:srgbClr val="1A2F81"/>
                </a:solidFill>
                <a:latin typeface="たづがね角ゴシック Info Bold"/>
                <a:ea typeface="たづがね角ゴシック Info Bold"/>
                <a:cs typeface="たづがね角ゴシック Info Bold"/>
                <a:sym typeface="たづがね角ゴシック Info Bold"/>
              </a:rPr>
              <a:t>の目的</a:t>
            </a:r>
          </a:p>
        </p:txBody>
      </p:sp>
      <p:sp>
        <p:nvSpPr>
          <p:cNvPr name="TextBox 3" id="3"/>
          <p:cNvSpPr txBox="true"/>
          <p:nvPr/>
        </p:nvSpPr>
        <p:spPr>
          <a:xfrm rot="0">
            <a:off x="1028700" y="3784797"/>
            <a:ext cx="7639050" cy="1094740"/>
          </a:xfrm>
          <a:prstGeom prst="rect">
            <a:avLst/>
          </a:prstGeom>
        </p:spPr>
        <p:txBody>
          <a:bodyPr anchor="t" rtlCol="false" tIns="0" lIns="0" bIns="0" rIns="0">
            <a:spAutoFit/>
          </a:bodyPr>
          <a:lstStyle/>
          <a:p>
            <a:pPr algn="l" marL="0" indent="0" lvl="0">
              <a:lnSpc>
                <a:spcPts val="8959"/>
              </a:lnSpc>
              <a:spcBef>
                <a:spcPct val="0"/>
              </a:spcBef>
            </a:pPr>
            <a:r>
              <a:rPr lang="en-US" b="true" sz="6399" strike="noStrike" u="none">
                <a:solidFill>
                  <a:srgbClr val="1A2F81"/>
                </a:solidFill>
                <a:latin typeface="Montserrat Medium"/>
                <a:ea typeface="Montserrat Medium"/>
                <a:cs typeface="Montserrat Medium"/>
                <a:sym typeface="Montserrat Medium"/>
              </a:rPr>
              <a:t>0</a:t>
            </a:r>
            <a:r>
              <a:rPr lang="en-US" b="true" sz="6399" strike="noStrike" u="none">
                <a:solidFill>
                  <a:srgbClr val="1A2F81"/>
                </a:solidFill>
                <a:latin typeface="Montserrat Medium"/>
                <a:ea typeface="Montserrat Medium"/>
                <a:cs typeface="Montserrat Medium"/>
                <a:sym typeface="Montserrat Medium"/>
              </a:rPr>
              <a:t>1</a:t>
            </a:r>
          </a:p>
        </p:txBody>
      </p:sp>
      <p:sp>
        <p:nvSpPr>
          <p:cNvPr name="AutoShape 4" id="4"/>
          <p:cNvSpPr/>
          <p:nvPr/>
        </p:nvSpPr>
        <p:spPr>
          <a:xfrm>
            <a:off x="1028700" y="5129212"/>
            <a:ext cx="16192500" cy="0"/>
          </a:xfrm>
          <a:prstGeom prst="line">
            <a:avLst/>
          </a:prstGeom>
          <a:ln cap="rnd" w="19050">
            <a:solidFill>
              <a:srgbClr val="1A2F81"/>
            </a:solidFill>
            <a:prstDash val="solid"/>
            <a:headEnd type="none" len="sm" w="sm"/>
            <a:tailEnd type="none" len="sm" w="sm"/>
          </a:ln>
        </p:spPr>
      </p:sp>
      <p:grpSp>
        <p:nvGrpSpPr>
          <p:cNvPr name="Group 5" id="5"/>
          <p:cNvGrpSpPr/>
          <p:nvPr/>
        </p:nvGrpSpPr>
        <p:grpSpPr>
          <a:xfrm rot="0">
            <a:off x="16063860" y="1112112"/>
            <a:ext cx="189410" cy="189410"/>
            <a:chOff x="0" y="0"/>
            <a:chExt cx="81040" cy="81040"/>
          </a:xfrm>
        </p:grpSpPr>
        <p:sp>
          <p:nvSpPr>
            <p:cNvPr name="Freeform 6" id="6"/>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7" id="7"/>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8" id="8"/>
          <p:cNvGrpSpPr/>
          <p:nvPr/>
        </p:nvGrpSpPr>
        <p:grpSpPr>
          <a:xfrm rot="0">
            <a:off x="16393263" y="1112112"/>
            <a:ext cx="189410" cy="189410"/>
            <a:chOff x="0" y="0"/>
            <a:chExt cx="81040" cy="81040"/>
          </a:xfrm>
        </p:grpSpPr>
        <p:sp>
          <p:nvSpPr>
            <p:cNvPr name="Freeform 9" id="9"/>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0" id="10"/>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1" id="11"/>
          <p:cNvGrpSpPr/>
          <p:nvPr/>
        </p:nvGrpSpPr>
        <p:grpSpPr>
          <a:xfrm rot="0">
            <a:off x="16722667" y="1112112"/>
            <a:ext cx="189410" cy="189410"/>
            <a:chOff x="0" y="0"/>
            <a:chExt cx="81040" cy="81040"/>
          </a:xfrm>
        </p:grpSpPr>
        <p:sp>
          <p:nvSpPr>
            <p:cNvPr name="Freeform 12" id="12"/>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3" id="13"/>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4" id="14"/>
          <p:cNvGrpSpPr/>
          <p:nvPr/>
        </p:nvGrpSpPr>
        <p:grpSpPr>
          <a:xfrm rot="0">
            <a:off x="17052071" y="1112112"/>
            <a:ext cx="189410" cy="189410"/>
            <a:chOff x="0" y="0"/>
            <a:chExt cx="81040" cy="81040"/>
          </a:xfrm>
        </p:grpSpPr>
        <p:sp>
          <p:nvSpPr>
            <p:cNvPr name="Freeform 15" id="15"/>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6" id="16"/>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8F9"/>
        </a:solidFill>
      </p:bgPr>
    </p:bg>
    <p:spTree>
      <p:nvGrpSpPr>
        <p:cNvPr id="1" name=""/>
        <p:cNvGrpSpPr/>
        <p:nvPr/>
      </p:nvGrpSpPr>
      <p:grpSpPr>
        <a:xfrm>
          <a:off x="0" y="0"/>
          <a:ext cx="0" cy="0"/>
          <a:chOff x="0" y="0"/>
          <a:chExt cx="0" cy="0"/>
        </a:xfrm>
      </p:grpSpPr>
      <p:grpSp>
        <p:nvGrpSpPr>
          <p:cNvPr name="Group 2" id="2"/>
          <p:cNvGrpSpPr/>
          <p:nvPr/>
        </p:nvGrpSpPr>
        <p:grpSpPr>
          <a:xfrm rot="0">
            <a:off x="1047750" y="2144053"/>
            <a:ext cx="95250" cy="481013"/>
            <a:chOff x="0" y="0"/>
            <a:chExt cx="19464" cy="98292"/>
          </a:xfrm>
        </p:grpSpPr>
        <p:sp>
          <p:nvSpPr>
            <p:cNvPr name="Freeform 3" id="3"/>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4" id="4"/>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sp>
        <p:nvSpPr>
          <p:cNvPr name="TextBox 5" id="5"/>
          <p:cNvSpPr txBox="true"/>
          <p:nvPr/>
        </p:nvSpPr>
        <p:spPr>
          <a:xfrm rot="0">
            <a:off x="1301441" y="1915295"/>
            <a:ext cx="15957859"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業務概要</a:t>
            </a:r>
          </a:p>
        </p:txBody>
      </p:sp>
      <p:grpSp>
        <p:nvGrpSpPr>
          <p:cNvPr name="Group 6" id="6"/>
          <p:cNvGrpSpPr/>
          <p:nvPr/>
        </p:nvGrpSpPr>
        <p:grpSpPr>
          <a:xfrm rot="0">
            <a:off x="1066800" y="7040449"/>
            <a:ext cx="95250" cy="481013"/>
            <a:chOff x="0" y="0"/>
            <a:chExt cx="19464" cy="98292"/>
          </a:xfrm>
        </p:grpSpPr>
        <p:sp>
          <p:nvSpPr>
            <p:cNvPr name="Freeform 7" id="7"/>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8" id="8"/>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sp>
        <p:nvSpPr>
          <p:cNvPr name="TextBox 9" id="9"/>
          <p:cNvSpPr txBox="true"/>
          <p:nvPr/>
        </p:nvSpPr>
        <p:spPr>
          <a:xfrm rot="0">
            <a:off x="1320491" y="6811691"/>
            <a:ext cx="15957859"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この報告書の目的</a:t>
            </a:r>
          </a:p>
        </p:txBody>
      </p:sp>
      <p:grpSp>
        <p:nvGrpSpPr>
          <p:cNvPr name="Group 10" id="10"/>
          <p:cNvGrpSpPr/>
          <p:nvPr/>
        </p:nvGrpSpPr>
        <p:grpSpPr>
          <a:xfrm rot="0">
            <a:off x="16063860" y="1132115"/>
            <a:ext cx="1177622" cy="189410"/>
            <a:chOff x="0" y="0"/>
            <a:chExt cx="1570163" cy="252547"/>
          </a:xfrm>
        </p:grpSpPr>
        <p:grpSp>
          <p:nvGrpSpPr>
            <p:cNvPr name="Group 11" id="11"/>
            <p:cNvGrpSpPr/>
            <p:nvPr/>
          </p:nvGrpSpPr>
          <p:grpSpPr>
            <a:xfrm rot="0">
              <a:off x="0" y="0"/>
              <a:ext cx="252547" cy="252547"/>
              <a:chOff x="0" y="0"/>
              <a:chExt cx="81040" cy="81040"/>
            </a:xfrm>
          </p:grpSpPr>
          <p:sp>
            <p:nvSpPr>
              <p:cNvPr name="Freeform 12" id="12"/>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13" id="13"/>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4" id="14"/>
            <p:cNvGrpSpPr/>
            <p:nvPr/>
          </p:nvGrpSpPr>
          <p:grpSpPr>
            <a:xfrm rot="0">
              <a:off x="439205" y="0"/>
              <a:ext cx="252547" cy="252547"/>
              <a:chOff x="0" y="0"/>
              <a:chExt cx="81040" cy="81040"/>
            </a:xfrm>
          </p:grpSpPr>
          <p:sp>
            <p:nvSpPr>
              <p:cNvPr name="Freeform 15" id="15"/>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6" id="16"/>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7" id="17"/>
            <p:cNvGrpSpPr/>
            <p:nvPr/>
          </p:nvGrpSpPr>
          <p:grpSpPr>
            <a:xfrm rot="0">
              <a:off x="878410" y="0"/>
              <a:ext cx="252547" cy="252547"/>
              <a:chOff x="0" y="0"/>
              <a:chExt cx="81040" cy="81040"/>
            </a:xfrm>
          </p:grpSpPr>
          <p:sp>
            <p:nvSpPr>
              <p:cNvPr name="Freeform 18" id="18"/>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9" id="19"/>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20" id="20"/>
            <p:cNvGrpSpPr/>
            <p:nvPr/>
          </p:nvGrpSpPr>
          <p:grpSpPr>
            <a:xfrm rot="0">
              <a:off x="1317615" y="0"/>
              <a:ext cx="252547" cy="252547"/>
              <a:chOff x="0" y="0"/>
              <a:chExt cx="81040" cy="81040"/>
            </a:xfrm>
          </p:grpSpPr>
          <p:sp>
            <p:nvSpPr>
              <p:cNvPr name="Freeform 21" id="21"/>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22" id="22"/>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sp>
        <p:nvSpPr>
          <p:cNvPr name="Freeform 23" id="23"/>
          <p:cNvSpPr/>
          <p:nvPr/>
        </p:nvSpPr>
        <p:spPr>
          <a:xfrm flipH="false" flipV="false" rot="0">
            <a:off x="1066800" y="7918020"/>
            <a:ext cx="250405" cy="250405"/>
          </a:xfrm>
          <a:custGeom>
            <a:avLst/>
            <a:gdLst/>
            <a:ahLst/>
            <a:cxnLst/>
            <a:rect r="r" b="b" t="t" l="l"/>
            <a:pathLst>
              <a:path h="250405" w="250405">
                <a:moveTo>
                  <a:pt x="0" y="0"/>
                </a:moveTo>
                <a:lnTo>
                  <a:pt x="250405" y="0"/>
                </a:lnTo>
                <a:lnTo>
                  <a:pt x="250405" y="250405"/>
                </a:lnTo>
                <a:lnTo>
                  <a:pt x="0" y="2504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066800" y="8442464"/>
            <a:ext cx="250405" cy="250405"/>
          </a:xfrm>
          <a:custGeom>
            <a:avLst/>
            <a:gdLst/>
            <a:ahLst/>
            <a:cxnLst/>
            <a:rect r="r" b="b" t="t" l="l"/>
            <a:pathLst>
              <a:path h="250405" w="250405">
                <a:moveTo>
                  <a:pt x="0" y="0"/>
                </a:moveTo>
                <a:lnTo>
                  <a:pt x="250405" y="0"/>
                </a:lnTo>
                <a:lnTo>
                  <a:pt x="250405" y="250404"/>
                </a:lnTo>
                <a:lnTo>
                  <a:pt x="0" y="250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066800" y="8966908"/>
            <a:ext cx="250405" cy="250405"/>
          </a:xfrm>
          <a:custGeom>
            <a:avLst/>
            <a:gdLst/>
            <a:ahLst/>
            <a:cxnLst/>
            <a:rect r="r" b="b" t="t" l="l"/>
            <a:pathLst>
              <a:path h="250405" w="250405">
                <a:moveTo>
                  <a:pt x="0" y="0"/>
                </a:moveTo>
                <a:lnTo>
                  <a:pt x="250405" y="0"/>
                </a:lnTo>
                <a:lnTo>
                  <a:pt x="250405" y="250404"/>
                </a:lnTo>
                <a:lnTo>
                  <a:pt x="0" y="250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6" id="26"/>
          <p:cNvSpPr txBox="true"/>
          <p:nvPr/>
        </p:nvSpPr>
        <p:spPr>
          <a:xfrm rot="0">
            <a:off x="1686330" y="3540652"/>
            <a:ext cx="4589788" cy="617071"/>
          </a:xfrm>
          <a:prstGeom prst="rect">
            <a:avLst/>
          </a:prstGeom>
        </p:spPr>
        <p:txBody>
          <a:bodyPr anchor="t" rtlCol="false" tIns="0" lIns="0" bIns="0" rIns="0">
            <a:spAutoFit/>
          </a:bodyPr>
          <a:lstStyle/>
          <a:p>
            <a:pPr algn="just">
              <a:lnSpc>
                <a:spcPts val="3590"/>
              </a:lnSpc>
              <a:spcBef>
                <a:spcPct val="0"/>
              </a:spcBef>
            </a:pPr>
            <a:r>
              <a:rPr lang="en-US" b="true" sz="2564">
                <a:solidFill>
                  <a:srgbClr val="086B89"/>
                </a:solidFill>
                <a:latin typeface="たづがね角ゴシック Info Bold"/>
                <a:ea typeface="たづがね角ゴシック Info Bold"/>
                <a:cs typeface="たづがね角ゴシック Info Bold"/>
                <a:sym typeface="たづがね角ゴシック Info Bold"/>
              </a:rPr>
              <a:t>提案</a:t>
            </a:r>
            <a:r>
              <a:rPr lang="en-US" b="true" sz="2564">
                <a:solidFill>
                  <a:srgbClr val="086B89"/>
                </a:solidFill>
                <a:latin typeface="たづがね角ゴシック Info Bold"/>
                <a:ea typeface="たづがね角ゴシック Info Bold"/>
                <a:cs typeface="たづがね角ゴシック Info Bold"/>
                <a:sym typeface="たづがね角ゴシック Info Bold"/>
              </a:rPr>
              <a:t>資料の整備と全社共有化</a:t>
            </a:r>
          </a:p>
        </p:txBody>
      </p:sp>
      <p:sp>
        <p:nvSpPr>
          <p:cNvPr name="AutoShape 27" id="27"/>
          <p:cNvSpPr/>
          <p:nvPr/>
        </p:nvSpPr>
        <p:spPr>
          <a:xfrm>
            <a:off x="6103644" y="3963487"/>
            <a:ext cx="1912063" cy="0"/>
          </a:xfrm>
          <a:prstGeom prst="line">
            <a:avLst/>
          </a:prstGeom>
          <a:ln cap="flat" w="19050">
            <a:solidFill>
              <a:srgbClr val="B1B8C0"/>
            </a:solidFill>
            <a:prstDash val="solid"/>
            <a:headEnd type="none" len="sm" w="sm"/>
            <a:tailEnd type="none" len="sm" w="sm"/>
          </a:ln>
        </p:spPr>
      </p:sp>
      <p:sp>
        <p:nvSpPr>
          <p:cNvPr name="AutoShape 28" id="28"/>
          <p:cNvSpPr/>
          <p:nvPr/>
        </p:nvSpPr>
        <p:spPr>
          <a:xfrm>
            <a:off x="6986235" y="5185849"/>
            <a:ext cx="1029471" cy="0"/>
          </a:xfrm>
          <a:prstGeom prst="line">
            <a:avLst/>
          </a:prstGeom>
          <a:ln cap="flat" w="19050">
            <a:solidFill>
              <a:srgbClr val="B1B8C0"/>
            </a:solidFill>
            <a:prstDash val="solid"/>
            <a:headEnd type="none" len="sm" w="sm"/>
            <a:tailEnd type="none" len="sm" w="sm"/>
          </a:ln>
        </p:spPr>
      </p:sp>
      <p:sp>
        <p:nvSpPr>
          <p:cNvPr name="AutoShape 29" id="29"/>
          <p:cNvSpPr/>
          <p:nvPr/>
        </p:nvSpPr>
        <p:spPr>
          <a:xfrm>
            <a:off x="6771004" y="4550836"/>
            <a:ext cx="1262149" cy="0"/>
          </a:xfrm>
          <a:prstGeom prst="line">
            <a:avLst/>
          </a:prstGeom>
          <a:ln cap="flat" w="19050">
            <a:solidFill>
              <a:srgbClr val="B1B8C0"/>
            </a:solidFill>
            <a:prstDash val="solid"/>
            <a:headEnd type="none" len="sm" w="sm"/>
            <a:tailEnd type="none" len="sm" w="sm"/>
          </a:ln>
        </p:spPr>
      </p:sp>
      <p:sp>
        <p:nvSpPr>
          <p:cNvPr name="TextBox 30" id="30"/>
          <p:cNvSpPr txBox="true"/>
          <p:nvPr/>
        </p:nvSpPr>
        <p:spPr>
          <a:xfrm rot="0">
            <a:off x="1453338" y="7677007"/>
            <a:ext cx="15786912" cy="532405"/>
          </a:xfrm>
          <a:prstGeom prst="rect">
            <a:avLst/>
          </a:prstGeom>
        </p:spPr>
        <p:txBody>
          <a:bodyPr anchor="t" rtlCol="false" tIns="0" lIns="0" bIns="0" rIns="0">
            <a:spAutoFit/>
          </a:bodyPr>
          <a:lstStyle/>
          <a:p>
            <a:pPr algn="just">
              <a:lnSpc>
                <a:spcPts val="3071"/>
              </a:lnSpc>
              <a:spcBef>
                <a:spcPct val="0"/>
              </a:spcBef>
            </a:pPr>
            <a:r>
              <a:rPr lang="en-US" sz="2194">
                <a:solidFill>
                  <a:srgbClr val="010817"/>
                </a:solidFill>
                <a:latin typeface="たづがね角ゴシック Info"/>
                <a:ea typeface="たづがね角ゴシック Info"/>
                <a:cs typeface="たづがね角ゴシック Info"/>
                <a:sym typeface="たづがね角ゴシック Info"/>
              </a:rPr>
              <a:t>成果と取り組み</a:t>
            </a:r>
            <a:r>
              <a:rPr lang="en-US" sz="2194">
                <a:solidFill>
                  <a:srgbClr val="010817"/>
                </a:solidFill>
                <a:latin typeface="たづがね角ゴシック Info"/>
                <a:ea typeface="たづがね角ゴシック Info"/>
                <a:cs typeface="たづがね角ゴシック Info"/>
                <a:sym typeface="たづがね角ゴシック Info"/>
              </a:rPr>
              <a:t>を定量・定性の両面で可視化し、関係者と共有すること</a:t>
            </a:r>
          </a:p>
        </p:txBody>
      </p:sp>
      <p:sp>
        <p:nvSpPr>
          <p:cNvPr name="TextBox 31" id="31"/>
          <p:cNvSpPr txBox="true"/>
          <p:nvPr/>
        </p:nvSpPr>
        <p:spPr>
          <a:xfrm rot="0">
            <a:off x="1453338" y="8201451"/>
            <a:ext cx="15786912" cy="532405"/>
          </a:xfrm>
          <a:prstGeom prst="rect">
            <a:avLst/>
          </a:prstGeom>
        </p:spPr>
        <p:txBody>
          <a:bodyPr anchor="t" rtlCol="false" tIns="0" lIns="0" bIns="0" rIns="0">
            <a:spAutoFit/>
          </a:bodyPr>
          <a:lstStyle/>
          <a:p>
            <a:pPr algn="just">
              <a:lnSpc>
                <a:spcPts val="3071"/>
              </a:lnSpc>
              <a:spcBef>
                <a:spcPct val="0"/>
              </a:spcBef>
            </a:pPr>
            <a:r>
              <a:rPr lang="en-US" sz="2194">
                <a:solidFill>
                  <a:srgbClr val="010817"/>
                </a:solidFill>
                <a:latin typeface="たづがね角ゴシック Info"/>
                <a:ea typeface="たづがね角ゴシック Info"/>
                <a:cs typeface="たづがね角ゴシック Info"/>
                <a:sym typeface="たづがね角ゴシック Info"/>
              </a:rPr>
              <a:t>業務上の工夫点や改善余地</a:t>
            </a:r>
            <a:r>
              <a:rPr lang="en-US" sz="2194">
                <a:solidFill>
                  <a:srgbClr val="010817"/>
                </a:solidFill>
                <a:latin typeface="たづがね角ゴシック Info"/>
                <a:ea typeface="たづがね角ゴシック Info"/>
                <a:cs typeface="たづがね角ゴシック Info"/>
                <a:sym typeface="たづがね角ゴシック Info"/>
              </a:rPr>
              <a:t>を整理し、下半期の戦略策定につなげること</a:t>
            </a:r>
          </a:p>
        </p:txBody>
      </p:sp>
      <p:sp>
        <p:nvSpPr>
          <p:cNvPr name="TextBox 32" id="32"/>
          <p:cNvSpPr txBox="true"/>
          <p:nvPr/>
        </p:nvSpPr>
        <p:spPr>
          <a:xfrm rot="0">
            <a:off x="1453338" y="8725895"/>
            <a:ext cx="15786912" cy="532405"/>
          </a:xfrm>
          <a:prstGeom prst="rect">
            <a:avLst/>
          </a:prstGeom>
        </p:spPr>
        <p:txBody>
          <a:bodyPr anchor="t" rtlCol="false" tIns="0" lIns="0" bIns="0" rIns="0">
            <a:spAutoFit/>
          </a:bodyPr>
          <a:lstStyle/>
          <a:p>
            <a:pPr algn="just">
              <a:lnSpc>
                <a:spcPts val="3071"/>
              </a:lnSpc>
              <a:spcBef>
                <a:spcPct val="0"/>
              </a:spcBef>
            </a:pPr>
            <a:r>
              <a:rPr lang="en-US" sz="2194">
                <a:solidFill>
                  <a:srgbClr val="010817"/>
                </a:solidFill>
                <a:latin typeface="たづがね角ゴシック Info"/>
                <a:ea typeface="たづがね角ゴシック Info"/>
                <a:cs typeface="たづがね角ゴシック Info"/>
                <a:sym typeface="たづがね角ゴシック Info"/>
              </a:rPr>
              <a:t>チームおよび個人</a:t>
            </a:r>
            <a:r>
              <a:rPr lang="en-US" sz="2194">
                <a:solidFill>
                  <a:srgbClr val="010817"/>
                </a:solidFill>
                <a:latin typeface="たづがね角ゴシック Info"/>
                <a:ea typeface="たづがね角ゴシック Info"/>
                <a:cs typeface="たづがね角ゴシック Info"/>
                <a:sym typeface="たづがね角ゴシック Info"/>
              </a:rPr>
              <a:t>の成長プロセスを言語化し、再現可能な知見として蓄積すること</a:t>
            </a:r>
          </a:p>
        </p:txBody>
      </p:sp>
      <p:sp>
        <p:nvSpPr>
          <p:cNvPr name="TextBox 33" id="33"/>
          <p:cNvSpPr txBox="true"/>
          <p:nvPr/>
        </p:nvSpPr>
        <p:spPr>
          <a:xfrm rot="0">
            <a:off x="1047750" y="828675"/>
            <a:ext cx="8096250" cy="577215"/>
          </a:xfrm>
          <a:prstGeom prst="rect">
            <a:avLst/>
          </a:prstGeom>
        </p:spPr>
        <p:txBody>
          <a:bodyPr anchor="t" rtlCol="false" tIns="0" lIns="0" bIns="0" rIns="0">
            <a:spAutoFit/>
          </a:bodyPr>
          <a:lstStyle/>
          <a:p>
            <a:pPr algn="l">
              <a:lnSpc>
                <a:spcPts val="3359"/>
              </a:lnSpc>
              <a:spcBef>
                <a:spcPct val="0"/>
              </a:spcBef>
            </a:pPr>
            <a:r>
              <a:rPr lang="en-US" sz="2400">
                <a:solidFill>
                  <a:srgbClr val="1A2F81"/>
                </a:solidFill>
                <a:latin typeface="たづがね角ゴシック Info"/>
                <a:ea typeface="たづがね角ゴシック Info"/>
                <a:cs typeface="たづがね角ゴシック Info"/>
                <a:sym typeface="たづがね角ゴシック Info"/>
              </a:rPr>
              <a:t>業務の概要と本報告の目的</a:t>
            </a:r>
          </a:p>
        </p:txBody>
      </p:sp>
      <p:sp>
        <p:nvSpPr>
          <p:cNvPr name="TextBox 34" id="34"/>
          <p:cNvSpPr txBox="true"/>
          <p:nvPr/>
        </p:nvSpPr>
        <p:spPr>
          <a:xfrm rot="0">
            <a:off x="9172575" y="1054418"/>
            <a:ext cx="6688237" cy="306705"/>
          </a:xfrm>
          <a:prstGeom prst="rect">
            <a:avLst/>
          </a:prstGeom>
        </p:spPr>
        <p:txBody>
          <a:bodyPr anchor="t" rtlCol="false" tIns="0" lIns="0" bIns="0" rIns="0">
            <a:spAutoFit/>
          </a:bodyPr>
          <a:lstStyle/>
          <a:p>
            <a:pPr algn="r">
              <a:lnSpc>
                <a:spcPts val="2520"/>
              </a:lnSpc>
              <a:spcBef>
                <a:spcPct val="0"/>
              </a:spcBef>
            </a:pPr>
            <a:r>
              <a:rPr lang="en-US" b="true" sz="1800">
                <a:solidFill>
                  <a:srgbClr val="1A2F81"/>
                </a:solidFill>
                <a:latin typeface="Montserrat Medium"/>
                <a:ea typeface="Montserrat Medium"/>
                <a:cs typeface="Montserrat Medium"/>
                <a:sym typeface="Montserrat Medium"/>
              </a:rPr>
              <a:t>Overview &amp; Objective</a:t>
            </a:r>
          </a:p>
        </p:txBody>
      </p:sp>
      <p:sp>
        <p:nvSpPr>
          <p:cNvPr name="TextBox 35" id="35"/>
          <p:cNvSpPr txBox="true"/>
          <p:nvPr/>
        </p:nvSpPr>
        <p:spPr>
          <a:xfrm rot="0">
            <a:off x="1047750" y="2832870"/>
            <a:ext cx="16192500" cy="527929"/>
          </a:xfrm>
          <a:prstGeom prst="rect">
            <a:avLst/>
          </a:prstGeom>
        </p:spPr>
        <p:txBody>
          <a:bodyPr anchor="t" rtlCol="false" tIns="0" lIns="0" bIns="0" rIns="0">
            <a:spAutoFit/>
          </a:bodyPr>
          <a:lstStyle/>
          <a:p>
            <a:pPr algn="just" marL="0" indent="0" lvl="0">
              <a:lnSpc>
                <a:spcPts val="3081"/>
              </a:lnSpc>
              <a:spcBef>
                <a:spcPct val="0"/>
              </a:spcBef>
            </a:pPr>
            <a:r>
              <a:rPr lang="en-US" sz="2201" strike="noStrike" u="none">
                <a:solidFill>
                  <a:srgbClr val="010817"/>
                </a:solidFill>
                <a:latin typeface="たづがね角ゴシック Info"/>
                <a:ea typeface="たづがね角ゴシック Info"/>
                <a:cs typeface="たづがね角ゴシック Info"/>
                <a:sym typeface="たづがね角ゴシック Info"/>
              </a:rPr>
              <a:t>営業企画部では、営業活動</a:t>
            </a:r>
            <a:r>
              <a:rPr lang="en-US" sz="2201" strike="noStrike" u="none">
                <a:solidFill>
                  <a:srgbClr val="010817"/>
                </a:solidFill>
                <a:latin typeface="たづがね角ゴシック Info"/>
                <a:ea typeface="たづがね角ゴシック Info"/>
                <a:cs typeface="たづがね角ゴシック Info"/>
                <a:sym typeface="たづがね角ゴシック Info"/>
              </a:rPr>
              <a:t>全体の推進役として、以下の</a:t>
            </a:r>
            <a:r>
              <a:rPr lang="en-US" sz="2201" strike="noStrike" u="none">
                <a:solidFill>
                  <a:srgbClr val="010817"/>
                </a:solidFill>
                <a:latin typeface="たづがね角ゴシック Info"/>
                <a:ea typeface="たづがね角ゴシック Info"/>
                <a:cs typeface="たづがね角ゴシック Info"/>
                <a:sym typeface="たづがね角ゴシック Info"/>
              </a:rPr>
              <a:t>業務を</a:t>
            </a:r>
            <a:r>
              <a:rPr lang="en-US" sz="2201" strike="noStrike" u="none">
                <a:solidFill>
                  <a:srgbClr val="010817"/>
                </a:solidFill>
                <a:latin typeface="たづがね角ゴシック Info"/>
                <a:ea typeface="たづがね角ゴシック Info"/>
                <a:cs typeface="たづがね角ゴシック Info"/>
                <a:sym typeface="たづがね角ゴシック Info"/>
              </a:rPr>
              <a:t>中心に取り組んでいます</a:t>
            </a:r>
            <a:r>
              <a:rPr lang="en-US" sz="2201" strike="noStrike" u="none">
                <a:solidFill>
                  <a:srgbClr val="010817"/>
                </a:solidFill>
                <a:latin typeface="たづがね角ゴシック Info"/>
                <a:ea typeface="たづがね角ゴシック Info"/>
                <a:cs typeface="たづがね角ゴシック Info"/>
                <a:sym typeface="たづがね角ゴシック Info"/>
              </a:rPr>
              <a:t>。</a:t>
            </a:r>
          </a:p>
        </p:txBody>
      </p:sp>
      <p:sp>
        <p:nvSpPr>
          <p:cNvPr name="TextBox 36" id="36"/>
          <p:cNvSpPr txBox="true"/>
          <p:nvPr/>
        </p:nvSpPr>
        <p:spPr>
          <a:xfrm rot="0">
            <a:off x="8223179" y="3646360"/>
            <a:ext cx="9017071" cy="462803"/>
          </a:xfrm>
          <a:prstGeom prst="rect">
            <a:avLst/>
          </a:prstGeom>
        </p:spPr>
        <p:txBody>
          <a:bodyPr anchor="t" rtlCol="false" tIns="0" lIns="0" bIns="0" rIns="0">
            <a:spAutoFit/>
          </a:bodyPr>
          <a:lstStyle/>
          <a:p>
            <a:pPr algn="l">
              <a:lnSpc>
                <a:spcPts val="2692"/>
              </a:lnSpc>
              <a:spcBef>
                <a:spcPct val="0"/>
              </a:spcBef>
            </a:pPr>
            <a:r>
              <a:rPr lang="en-US" sz="1923">
                <a:solidFill>
                  <a:srgbClr val="000000"/>
                </a:solidFill>
                <a:latin typeface="たづがね角ゴシック Info Medium"/>
                <a:ea typeface="たづがね角ゴシック Info Medium"/>
                <a:cs typeface="たづがね角ゴシック Info Medium"/>
                <a:sym typeface="たづがね角ゴシック Info Medium"/>
              </a:rPr>
              <a:t>業種別テンプレートの導入と共有ドライブの再編成</a:t>
            </a:r>
          </a:p>
        </p:txBody>
      </p:sp>
      <p:sp>
        <p:nvSpPr>
          <p:cNvPr name="TextBox 37" id="37"/>
          <p:cNvSpPr txBox="true"/>
          <p:nvPr/>
        </p:nvSpPr>
        <p:spPr>
          <a:xfrm rot="0">
            <a:off x="1047750" y="3736747"/>
            <a:ext cx="587631" cy="406244"/>
          </a:xfrm>
          <a:prstGeom prst="rect">
            <a:avLst/>
          </a:prstGeom>
        </p:spPr>
        <p:txBody>
          <a:bodyPr anchor="t" rtlCol="false" tIns="0" lIns="0" bIns="0" rIns="0">
            <a:spAutoFit/>
          </a:bodyPr>
          <a:lstStyle/>
          <a:p>
            <a:pPr algn="ctr">
              <a:lnSpc>
                <a:spcPts val="3333"/>
              </a:lnSpc>
              <a:spcBef>
                <a:spcPct val="0"/>
              </a:spcBef>
            </a:pPr>
            <a:r>
              <a:rPr lang="en-US" b="true" sz="2381">
                <a:solidFill>
                  <a:srgbClr val="086B89"/>
                </a:solidFill>
                <a:latin typeface="Montserrat Medium"/>
                <a:ea typeface="Montserrat Medium"/>
                <a:cs typeface="Montserrat Medium"/>
                <a:sym typeface="Montserrat Medium"/>
              </a:rPr>
              <a:t>01</a:t>
            </a:r>
          </a:p>
        </p:txBody>
      </p:sp>
      <p:sp>
        <p:nvSpPr>
          <p:cNvPr name="TextBox 38" id="38"/>
          <p:cNvSpPr txBox="true"/>
          <p:nvPr/>
        </p:nvSpPr>
        <p:spPr>
          <a:xfrm rot="0">
            <a:off x="1686330" y="4151833"/>
            <a:ext cx="5036690" cy="617071"/>
          </a:xfrm>
          <a:prstGeom prst="rect">
            <a:avLst/>
          </a:prstGeom>
        </p:spPr>
        <p:txBody>
          <a:bodyPr anchor="t" rtlCol="false" tIns="0" lIns="0" bIns="0" rIns="0">
            <a:spAutoFit/>
          </a:bodyPr>
          <a:lstStyle/>
          <a:p>
            <a:pPr algn="just">
              <a:lnSpc>
                <a:spcPts val="3590"/>
              </a:lnSpc>
              <a:spcBef>
                <a:spcPct val="0"/>
              </a:spcBef>
            </a:pPr>
            <a:r>
              <a:rPr lang="en-US" b="true" sz="2564">
                <a:solidFill>
                  <a:srgbClr val="086B89"/>
                </a:solidFill>
                <a:latin typeface="たづがね角ゴシック Info Bold"/>
                <a:ea typeface="たづがね角ゴシック Info Bold"/>
                <a:cs typeface="たづがね角ゴシック Info Bold"/>
                <a:sym typeface="たづがね角ゴシック Info Bold"/>
              </a:rPr>
              <a:t>社内外向けセミナーの企画・運営</a:t>
            </a:r>
          </a:p>
        </p:txBody>
      </p:sp>
      <p:sp>
        <p:nvSpPr>
          <p:cNvPr name="TextBox 39" id="39"/>
          <p:cNvSpPr txBox="true"/>
          <p:nvPr/>
        </p:nvSpPr>
        <p:spPr>
          <a:xfrm rot="0">
            <a:off x="8223179" y="4257542"/>
            <a:ext cx="9017071" cy="462803"/>
          </a:xfrm>
          <a:prstGeom prst="rect">
            <a:avLst/>
          </a:prstGeom>
        </p:spPr>
        <p:txBody>
          <a:bodyPr anchor="t" rtlCol="false" tIns="0" lIns="0" bIns="0" rIns="0">
            <a:spAutoFit/>
          </a:bodyPr>
          <a:lstStyle/>
          <a:p>
            <a:pPr algn="l">
              <a:lnSpc>
                <a:spcPts val="2692"/>
              </a:lnSpc>
              <a:spcBef>
                <a:spcPct val="0"/>
              </a:spcBef>
            </a:pPr>
            <a:r>
              <a:rPr lang="en-US" sz="1923">
                <a:solidFill>
                  <a:srgbClr val="000000"/>
                </a:solidFill>
                <a:latin typeface="たづがね角ゴシック Info Medium"/>
                <a:ea typeface="たづがね角ゴシック Info Medium"/>
                <a:cs typeface="たづがね角ゴシック Info Medium"/>
                <a:sym typeface="たづがね角ゴシック Info Medium"/>
              </a:rPr>
              <a:t>月1回</a:t>
            </a:r>
            <a:r>
              <a:rPr lang="en-US" sz="1923">
                <a:solidFill>
                  <a:srgbClr val="000000"/>
                </a:solidFill>
                <a:latin typeface="たづがね角ゴシック Info Medium"/>
                <a:ea typeface="たづがね角ゴシック Info Medium"/>
                <a:cs typeface="たづがね角ゴシック Info Medium"/>
                <a:sym typeface="たづがね角ゴシック Info Medium"/>
              </a:rPr>
              <a:t>の定例開催と、参加満足度向上の仕組み構築</a:t>
            </a:r>
          </a:p>
        </p:txBody>
      </p:sp>
      <p:sp>
        <p:nvSpPr>
          <p:cNvPr name="TextBox 40" id="40"/>
          <p:cNvSpPr txBox="true"/>
          <p:nvPr/>
        </p:nvSpPr>
        <p:spPr>
          <a:xfrm rot="0">
            <a:off x="1047750" y="4347928"/>
            <a:ext cx="587631" cy="406244"/>
          </a:xfrm>
          <a:prstGeom prst="rect">
            <a:avLst/>
          </a:prstGeom>
        </p:spPr>
        <p:txBody>
          <a:bodyPr anchor="t" rtlCol="false" tIns="0" lIns="0" bIns="0" rIns="0">
            <a:spAutoFit/>
          </a:bodyPr>
          <a:lstStyle/>
          <a:p>
            <a:pPr algn="ctr">
              <a:lnSpc>
                <a:spcPts val="3333"/>
              </a:lnSpc>
              <a:spcBef>
                <a:spcPct val="0"/>
              </a:spcBef>
            </a:pPr>
            <a:r>
              <a:rPr lang="en-US" b="true" sz="2381">
                <a:solidFill>
                  <a:srgbClr val="086B89"/>
                </a:solidFill>
                <a:latin typeface="Montserrat Medium"/>
                <a:ea typeface="Montserrat Medium"/>
                <a:cs typeface="Montserrat Medium"/>
                <a:sym typeface="Montserrat Medium"/>
              </a:rPr>
              <a:t>02</a:t>
            </a:r>
          </a:p>
        </p:txBody>
      </p:sp>
      <p:sp>
        <p:nvSpPr>
          <p:cNvPr name="TextBox 41" id="41"/>
          <p:cNvSpPr txBox="true"/>
          <p:nvPr/>
        </p:nvSpPr>
        <p:spPr>
          <a:xfrm rot="0">
            <a:off x="1686330" y="4763014"/>
            <a:ext cx="5393141" cy="617071"/>
          </a:xfrm>
          <a:prstGeom prst="rect">
            <a:avLst/>
          </a:prstGeom>
        </p:spPr>
        <p:txBody>
          <a:bodyPr anchor="t" rtlCol="false" tIns="0" lIns="0" bIns="0" rIns="0">
            <a:spAutoFit/>
          </a:bodyPr>
          <a:lstStyle/>
          <a:p>
            <a:pPr algn="just">
              <a:lnSpc>
                <a:spcPts val="3590"/>
              </a:lnSpc>
              <a:spcBef>
                <a:spcPct val="0"/>
              </a:spcBef>
            </a:pPr>
            <a:r>
              <a:rPr lang="en-US" b="true" sz="2564">
                <a:solidFill>
                  <a:srgbClr val="086B89"/>
                </a:solidFill>
                <a:latin typeface="たづがね角ゴシック Info Bold"/>
                <a:ea typeface="たづがね角ゴシック Info Bold"/>
                <a:cs typeface="たづがね角ゴシック Info Bold"/>
                <a:sym typeface="たづがね角ゴシック Info Bold"/>
              </a:rPr>
              <a:t>営業支援データ</a:t>
            </a:r>
            <a:r>
              <a:rPr lang="en-US" b="true" sz="2564">
                <a:solidFill>
                  <a:srgbClr val="086B89"/>
                </a:solidFill>
                <a:latin typeface="たづがね角ゴシック Info Bold"/>
                <a:ea typeface="たづがね角ゴシック Info Bold"/>
                <a:cs typeface="たづがね角ゴシック Info Bold"/>
                <a:sym typeface="たづがね角ゴシック Info Bold"/>
              </a:rPr>
              <a:t>の分析とレポート化</a:t>
            </a:r>
          </a:p>
        </p:txBody>
      </p:sp>
      <p:sp>
        <p:nvSpPr>
          <p:cNvPr name="TextBox 42" id="42"/>
          <p:cNvSpPr txBox="true"/>
          <p:nvPr/>
        </p:nvSpPr>
        <p:spPr>
          <a:xfrm rot="0">
            <a:off x="8223179" y="4868723"/>
            <a:ext cx="9017071" cy="462803"/>
          </a:xfrm>
          <a:prstGeom prst="rect">
            <a:avLst/>
          </a:prstGeom>
        </p:spPr>
        <p:txBody>
          <a:bodyPr anchor="t" rtlCol="false" tIns="0" lIns="0" bIns="0" rIns="0">
            <a:spAutoFit/>
          </a:bodyPr>
          <a:lstStyle/>
          <a:p>
            <a:pPr algn="l">
              <a:lnSpc>
                <a:spcPts val="2692"/>
              </a:lnSpc>
              <a:spcBef>
                <a:spcPct val="0"/>
              </a:spcBef>
            </a:pPr>
            <a:r>
              <a:rPr lang="en-US" sz="1923">
                <a:solidFill>
                  <a:srgbClr val="000000"/>
                </a:solidFill>
                <a:latin typeface="たづがね角ゴシック Info Medium"/>
                <a:ea typeface="たづがね角ゴシック Info Medium"/>
                <a:cs typeface="たづがね角ゴシック Info Medium"/>
                <a:sym typeface="たづがね角ゴシック Info Medium"/>
              </a:rPr>
              <a:t>ダッシュボ</a:t>
            </a:r>
            <a:r>
              <a:rPr lang="en-US" sz="1923">
                <a:solidFill>
                  <a:srgbClr val="000000"/>
                </a:solidFill>
                <a:latin typeface="たづがね角ゴシック Info Medium"/>
                <a:ea typeface="たづがね角ゴシック Info Medium"/>
                <a:cs typeface="たづがね角ゴシック Info Medium"/>
                <a:sym typeface="たづがね角ゴシック Info Medium"/>
              </a:rPr>
              <a:t>ード整備と定期配信の自動化に着手</a:t>
            </a:r>
          </a:p>
        </p:txBody>
      </p:sp>
      <p:sp>
        <p:nvSpPr>
          <p:cNvPr name="TextBox 43" id="43"/>
          <p:cNvSpPr txBox="true"/>
          <p:nvPr/>
        </p:nvSpPr>
        <p:spPr>
          <a:xfrm rot="0">
            <a:off x="1047750" y="4959109"/>
            <a:ext cx="587631" cy="406244"/>
          </a:xfrm>
          <a:prstGeom prst="rect">
            <a:avLst/>
          </a:prstGeom>
        </p:spPr>
        <p:txBody>
          <a:bodyPr anchor="t" rtlCol="false" tIns="0" lIns="0" bIns="0" rIns="0">
            <a:spAutoFit/>
          </a:bodyPr>
          <a:lstStyle/>
          <a:p>
            <a:pPr algn="ctr">
              <a:lnSpc>
                <a:spcPts val="3333"/>
              </a:lnSpc>
              <a:spcBef>
                <a:spcPct val="0"/>
              </a:spcBef>
            </a:pPr>
            <a:r>
              <a:rPr lang="en-US" b="true" sz="2381">
                <a:solidFill>
                  <a:srgbClr val="086B89"/>
                </a:solidFill>
                <a:latin typeface="Montserrat Medium"/>
                <a:ea typeface="Montserrat Medium"/>
                <a:cs typeface="Montserrat Medium"/>
                <a:sym typeface="Montserrat Medium"/>
              </a:rPr>
              <a:t>03</a:t>
            </a:r>
          </a:p>
        </p:txBody>
      </p:sp>
      <p:sp>
        <p:nvSpPr>
          <p:cNvPr name="TextBox 44" id="44"/>
          <p:cNvSpPr txBox="true"/>
          <p:nvPr/>
        </p:nvSpPr>
        <p:spPr>
          <a:xfrm rot="0">
            <a:off x="1047750" y="5569051"/>
            <a:ext cx="16192500" cy="527929"/>
          </a:xfrm>
          <a:prstGeom prst="rect">
            <a:avLst/>
          </a:prstGeom>
        </p:spPr>
        <p:txBody>
          <a:bodyPr anchor="t" rtlCol="false" tIns="0" lIns="0" bIns="0" rIns="0">
            <a:spAutoFit/>
          </a:bodyPr>
          <a:lstStyle/>
          <a:p>
            <a:pPr algn="just" marL="0" indent="0" lvl="0">
              <a:lnSpc>
                <a:spcPts val="3081"/>
              </a:lnSpc>
              <a:spcBef>
                <a:spcPct val="0"/>
              </a:spcBef>
            </a:pPr>
            <a:r>
              <a:rPr lang="en-US" sz="2201">
                <a:solidFill>
                  <a:srgbClr val="010817"/>
                </a:solidFill>
                <a:latin typeface="たづがね角ゴシック Info"/>
                <a:ea typeface="たづがね角ゴシック Info"/>
                <a:cs typeface="たづがね角ゴシック Info"/>
                <a:sym typeface="たづがね角ゴシック Info"/>
              </a:rPr>
              <a:t>これらの施策を通じて</a:t>
            </a:r>
            <a:r>
              <a:rPr lang="en-US" sz="2201" strike="noStrike" u="none">
                <a:solidFill>
                  <a:srgbClr val="010817"/>
                </a:solidFill>
                <a:latin typeface="たづがね角ゴシック Info"/>
                <a:ea typeface="たづがね角ゴシック Info"/>
                <a:cs typeface="たづがね角ゴシック Info"/>
                <a:sym typeface="たづがね角ゴシック Info"/>
              </a:rPr>
              <a:t>、営業現場の</a:t>
            </a:r>
            <a:r>
              <a:rPr lang="en-US" sz="2201" strike="noStrike" u="none">
                <a:solidFill>
                  <a:srgbClr val="010817"/>
                </a:solidFill>
                <a:latin typeface="たづがね角ゴシック Info"/>
                <a:ea typeface="たづがね角ゴシック Info"/>
                <a:cs typeface="たづがね角ゴシック Info"/>
                <a:sym typeface="たづがね角ゴシック Info"/>
              </a:rPr>
              <a:t>課題解決を図る“戦略支援ユニット”</a:t>
            </a:r>
            <a:r>
              <a:rPr lang="en-US" sz="2201" strike="noStrike" u="none">
                <a:solidFill>
                  <a:srgbClr val="010817"/>
                </a:solidFill>
                <a:latin typeface="たづがね角ゴシック Info"/>
                <a:ea typeface="たづがね角ゴシック Info"/>
                <a:cs typeface="たづがね角ゴシック Info"/>
                <a:sym typeface="たづがね角ゴシック Info"/>
              </a:rPr>
              <a:t>としての</a:t>
            </a:r>
            <a:r>
              <a:rPr lang="en-US" sz="2201" strike="noStrike" u="none">
                <a:solidFill>
                  <a:srgbClr val="010817"/>
                </a:solidFill>
                <a:latin typeface="たづがね角ゴシック Info"/>
                <a:ea typeface="たづがね角ゴシック Info"/>
                <a:cs typeface="たづがね角ゴシック Info"/>
                <a:sym typeface="たづがね角ゴシック Info"/>
              </a:rPr>
              <a:t>機能強化</a:t>
            </a:r>
            <a:r>
              <a:rPr lang="en-US" sz="2201" strike="noStrike" u="none">
                <a:solidFill>
                  <a:srgbClr val="010817"/>
                </a:solidFill>
                <a:latin typeface="たづがね角ゴシック Info"/>
                <a:ea typeface="たづがね角ゴシック Info"/>
                <a:cs typeface="たづがね角ゴシック Info"/>
                <a:sym typeface="たづがね角ゴシック Info"/>
              </a:rPr>
              <a:t>を図っています。</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8F9"/>
        </a:solidFill>
      </p:bgPr>
    </p:bg>
    <p:spTree>
      <p:nvGrpSpPr>
        <p:cNvPr id="1" name=""/>
        <p:cNvGrpSpPr/>
        <p:nvPr/>
      </p:nvGrpSpPr>
      <p:grpSpPr>
        <a:xfrm>
          <a:off x="0" y="0"/>
          <a:ext cx="0" cy="0"/>
          <a:chOff x="0" y="0"/>
          <a:chExt cx="0" cy="0"/>
        </a:xfrm>
      </p:grpSpPr>
      <p:grpSp>
        <p:nvGrpSpPr>
          <p:cNvPr name="Group 2" id="2"/>
          <p:cNvGrpSpPr/>
          <p:nvPr/>
        </p:nvGrpSpPr>
        <p:grpSpPr>
          <a:xfrm rot="0">
            <a:off x="1047750" y="2144053"/>
            <a:ext cx="95250" cy="481013"/>
            <a:chOff x="0" y="0"/>
            <a:chExt cx="19464" cy="98292"/>
          </a:xfrm>
        </p:grpSpPr>
        <p:sp>
          <p:nvSpPr>
            <p:cNvPr name="Freeform 3" id="3"/>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4" id="4"/>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grpSp>
        <p:nvGrpSpPr>
          <p:cNvPr name="Group 5" id="5"/>
          <p:cNvGrpSpPr/>
          <p:nvPr/>
        </p:nvGrpSpPr>
        <p:grpSpPr>
          <a:xfrm rot="0">
            <a:off x="16063860" y="1132115"/>
            <a:ext cx="1177622" cy="189410"/>
            <a:chOff x="0" y="0"/>
            <a:chExt cx="1570163" cy="252547"/>
          </a:xfrm>
        </p:grpSpPr>
        <p:grpSp>
          <p:nvGrpSpPr>
            <p:cNvPr name="Group 6" id="6"/>
            <p:cNvGrpSpPr/>
            <p:nvPr/>
          </p:nvGrpSpPr>
          <p:grpSpPr>
            <a:xfrm rot="0">
              <a:off x="0" y="0"/>
              <a:ext cx="252547" cy="252547"/>
              <a:chOff x="0" y="0"/>
              <a:chExt cx="81040" cy="81040"/>
            </a:xfrm>
          </p:grpSpPr>
          <p:sp>
            <p:nvSpPr>
              <p:cNvPr name="Freeform 7" id="7"/>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8" id="8"/>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9" id="9"/>
            <p:cNvGrpSpPr/>
            <p:nvPr/>
          </p:nvGrpSpPr>
          <p:grpSpPr>
            <a:xfrm rot="0">
              <a:off x="439205" y="0"/>
              <a:ext cx="252547" cy="252547"/>
              <a:chOff x="0" y="0"/>
              <a:chExt cx="81040" cy="81040"/>
            </a:xfrm>
          </p:grpSpPr>
          <p:sp>
            <p:nvSpPr>
              <p:cNvPr name="Freeform 10" id="10"/>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1" id="11"/>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2" id="12"/>
            <p:cNvGrpSpPr/>
            <p:nvPr/>
          </p:nvGrpSpPr>
          <p:grpSpPr>
            <a:xfrm rot="0">
              <a:off x="878410" y="0"/>
              <a:ext cx="252547" cy="252547"/>
              <a:chOff x="0" y="0"/>
              <a:chExt cx="81040" cy="81040"/>
            </a:xfrm>
          </p:grpSpPr>
          <p:sp>
            <p:nvSpPr>
              <p:cNvPr name="Freeform 13" id="13"/>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4" id="14"/>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5" id="15"/>
            <p:cNvGrpSpPr/>
            <p:nvPr/>
          </p:nvGrpSpPr>
          <p:grpSpPr>
            <a:xfrm rot="0">
              <a:off x="1317615" y="0"/>
              <a:ext cx="252547" cy="252547"/>
              <a:chOff x="0" y="0"/>
              <a:chExt cx="81040" cy="81040"/>
            </a:xfrm>
          </p:grpSpPr>
          <p:sp>
            <p:nvSpPr>
              <p:cNvPr name="Freeform 16" id="16"/>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7" id="17"/>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graphicFrame>
        <p:nvGraphicFramePr>
          <p:cNvPr name="Table 18" id="18"/>
          <p:cNvGraphicFramePr>
            <a:graphicFrameLocks noGrp="true"/>
          </p:cNvGraphicFramePr>
          <p:nvPr/>
        </p:nvGraphicFramePr>
        <p:xfrm>
          <a:off x="1047750" y="4586740"/>
          <a:ext cx="7686675" cy="4656870"/>
        </p:xfrm>
        <a:graphic>
          <a:graphicData uri="http://schemas.openxmlformats.org/drawingml/2006/table">
            <a:tbl>
              <a:tblPr/>
              <a:tblGrid>
                <a:gridCol w="3960984"/>
                <a:gridCol w="1241897"/>
                <a:gridCol w="1241897"/>
                <a:gridCol w="1241897"/>
              </a:tblGrid>
              <a:tr h="931374">
                <a:tc>
                  <a:txBody>
                    <a:bodyPr anchor="t" rtlCol="false"/>
                    <a:lstStyle/>
                    <a:p>
                      <a:pPr algn="l">
                        <a:lnSpc>
                          <a:spcPts val="2659"/>
                        </a:lnSpc>
                        <a:defRPr/>
                      </a:pPr>
                      <a:r>
                        <a:rPr lang="en-US" sz="1899">
                          <a:solidFill>
                            <a:srgbClr val="1A2F81"/>
                          </a:solidFill>
                          <a:latin typeface="たづがね角ゴシック Info"/>
                          <a:ea typeface="たづがね角ゴシック Info"/>
                          <a:cs typeface="たづがね角ゴシック Info"/>
                          <a:sym typeface="たづがね角ゴシック Info"/>
                        </a:rPr>
                        <a:t>KPI項目</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0">
                      <a:solidFill>
                        <a:srgbClr val="1A2F81"/>
                      </a:solidFill>
                      <a:prstDash val="solid"/>
                      <a:round/>
                      <a:headEnd type="none" w="med" len="med"/>
                      <a:tailEnd type="none" w="med" len="med"/>
                    </a:lnT>
                    <a:lnB cmpd="sng" algn="ctr" cap="flat" w="28575">
                      <a:solidFill>
                        <a:srgbClr val="1A2F81"/>
                      </a:solidFill>
                      <a:prstDash val="solid"/>
                      <a:round/>
                      <a:headEnd type="none" w="med" len="med"/>
                      <a:tailEnd type="none" w="med" len="med"/>
                    </a:lnB>
                  </a:tcPr>
                </a:tc>
                <a:tc>
                  <a:txBody>
                    <a:bodyPr anchor="t" rtlCol="false"/>
                    <a:lstStyle/>
                    <a:p>
                      <a:pPr algn="ctr">
                        <a:lnSpc>
                          <a:spcPts val="2659"/>
                        </a:lnSpc>
                        <a:defRPr/>
                      </a:pPr>
                      <a:r>
                        <a:rPr lang="en-US" sz="1899">
                          <a:solidFill>
                            <a:srgbClr val="1A2F81"/>
                          </a:solidFill>
                          <a:latin typeface="たづがね角ゴシック Info"/>
                          <a:ea typeface="たづがね角ゴシック Info"/>
                          <a:cs typeface="たづがね角ゴシック Info"/>
                          <a:sym typeface="たづがね角ゴシック Info"/>
                        </a:rPr>
                        <a:t>目標値</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0">
                      <a:solidFill>
                        <a:srgbClr val="1A2F81"/>
                      </a:solidFill>
                      <a:prstDash val="solid"/>
                      <a:round/>
                      <a:headEnd type="none" w="med" len="med"/>
                      <a:tailEnd type="none" w="med" len="med"/>
                    </a:lnT>
                    <a:lnB cmpd="sng" algn="ctr" cap="flat" w="28575">
                      <a:solidFill>
                        <a:srgbClr val="1A2F81"/>
                      </a:solidFill>
                      <a:prstDash val="solid"/>
                      <a:round/>
                      <a:headEnd type="none" w="med" len="med"/>
                      <a:tailEnd type="none" w="med" len="med"/>
                    </a:lnB>
                  </a:tcPr>
                </a:tc>
                <a:tc>
                  <a:txBody>
                    <a:bodyPr anchor="t" rtlCol="false"/>
                    <a:lstStyle/>
                    <a:p>
                      <a:pPr algn="ctr">
                        <a:lnSpc>
                          <a:spcPts val="2659"/>
                        </a:lnSpc>
                        <a:defRPr/>
                      </a:pPr>
                      <a:r>
                        <a:rPr lang="en-US" sz="1899">
                          <a:solidFill>
                            <a:srgbClr val="1A2F81"/>
                          </a:solidFill>
                          <a:latin typeface="たづがね角ゴシック Info"/>
                          <a:ea typeface="たづがね角ゴシック Info"/>
                          <a:cs typeface="たづがね角ゴシック Info"/>
                          <a:sym typeface="たづがね角ゴシック Info"/>
                        </a:rPr>
                        <a:t>実績値</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0">
                      <a:solidFill>
                        <a:srgbClr val="1A2F81"/>
                      </a:solidFill>
                      <a:prstDash val="solid"/>
                      <a:round/>
                      <a:headEnd type="none" w="med" len="med"/>
                      <a:tailEnd type="none" w="med" len="med"/>
                    </a:lnT>
                    <a:lnB cmpd="sng" algn="ctr" cap="flat" w="28575">
                      <a:solidFill>
                        <a:srgbClr val="1A2F81"/>
                      </a:solidFill>
                      <a:prstDash val="solid"/>
                      <a:round/>
                      <a:headEnd type="none" w="med" len="med"/>
                      <a:tailEnd type="none" w="med" len="med"/>
                    </a:lnB>
                  </a:tcPr>
                </a:tc>
                <a:tc>
                  <a:txBody>
                    <a:bodyPr anchor="t" rtlCol="false"/>
                    <a:lstStyle/>
                    <a:p>
                      <a:pPr algn="ctr">
                        <a:lnSpc>
                          <a:spcPts val="2659"/>
                        </a:lnSpc>
                        <a:defRPr/>
                      </a:pPr>
                      <a:r>
                        <a:rPr lang="en-US" sz="1899">
                          <a:solidFill>
                            <a:srgbClr val="1A2F81"/>
                          </a:solidFill>
                          <a:latin typeface="たづがね角ゴシック Info"/>
                          <a:ea typeface="たづがね角ゴシック Info"/>
                          <a:cs typeface="たづがね角ゴシック Info"/>
                          <a:sym typeface="たづがね角ゴシック Info"/>
                        </a:rPr>
                        <a:t>達成率</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0">
                      <a:solidFill>
                        <a:srgbClr val="1A2F81"/>
                      </a:solidFill>
                      <a:prstDash val="solid"/>
                      <a:round/>
                      <a:headEnd type="none" w="med" len="med"/>
                      <a:tailEnd type="none" w="med" len="med"/>
                    </a:lnT>
                    <a:lnB cmpd="sng" algn="ctr" cap="flat" w="28575">
                      <a:solidFill>
                        <a:srgbClr val="1A2F81"/>
                      </a:solidFill>
                      <a:prstDash val="solid"/>
                      <a:round/>
                      <a:headEnd type="none" w="med" len="med"/>
                      <a:tailEnd type="none" w="med" len="med"/>
                    </a:lnB>
                  </a:tcPr>
                </a:tc>
              </a:tr>
              <a:tr h="931374">
                <a:tc>
                  <a:txBody>
                    <a:bodyPr anchor="t" rtlCol="false"/>
                    <a:lstStyle/>
                    <a:p>
                      <a:pPr algn="l">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提案資料の作成・納品数</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28575">
                      <a:solidFill>
                        <a:srgbClr val="1A2F81"/>
                      </a:solidFill>
                      <a:prstDash val="solid"/>
                      <a:round/>
                      <a:headEnd type="none" w="med" len="med"/>
                      <a:tailEnd type="none" w="med" len="med"/>
                    </a:lnT>
                    <a:lnB cmpd="sng" algn="ctr" cap="flat" w="9525">
                      <a:solidFill>
                        <a:srgbClr val="1A2F81"/>
                      </a:solidFill>
                      <a:prstDash val="sysDash"/>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10件</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28575">
                      <a:solidFill>
                        <a:srgbClr val="1A2F81"/>
                      </a:solidFill>
                      <a:prstDash val="solid"/>
                      <a:round/>
                      <a:headEnd type="none" w="med" len="med"/>
                      <a:tailEnd type="none" w="med" len="med"/>
                    </a:lnT>
                    <a:lnB cmpd="sng" algn="ctr" cap="flat" w="9525">
                      <a:solidFill>
                        <a:srgbClr val="1A2F81"/>
                      </a:solidFill>
                      <a:prstDash val="sysDash"/>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13件</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28575">
                      <a:solidFill>
                        <a:srgbClr val="1A2F81"/>
                      </a:solidFill>
                      <a:prstDash val="solid"/>
                      <a:round/>
                      <a:headEnd type="none" w="med" len="med"/>
                      <a:tailEnd type="none" w="med" len="med"/>
                    </a:lnT>
                    <a:lnB cmpd="sng" algn="ctr" cap="flat" w="9525">
                      <a:solidFill>
                        <a:srgbClr val="1A2F81"/>
                      </a:solidFill>
                      <a:prstDash val="sysDash"/>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130%</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28575">
                      <a:solidFill>
                        <a:srgbClr val="1A2F81"/>
                      </a:solidFill>
                      <a:prstDash val="solid"/>
                      <a:round/>
                      <a:headEnd type="none" w="med" len="med"/>
                      <a:tailEnd type="none" w="med" len="med"/>
                    </a:lnT>
                    <a:lnB cmpd="sng" algn="ctr" cap="flat" w="9525">
                      <a:solidFill>
                        <a:srgbClr val="1A2F81"/>
                      </a:solidFill>
                      <a:prstDash val="sysDash"/>
                      <a:round/>
                      <a:headEnd type="none" w="med" len="med"/>
                      <a:tailEnd type="none" w="med" len="med"/>
                    </a:lnB>
                  </a:tcPr>
                </a:tc>
              </a:tr>
              <a:tr h="931374">
                <a:tc>
                  <a:txBody>
                    <a:bodyPr anchor="t" rtlCol="false"/>
                    <a:lstStyle/>
                    <a:p>
                      <a:pPr algn="l">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セミナー開催数（社内向け）</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9525">
                      <a:solidFill>
                        <a:srgbClr val="1A2F81"/>
                      </a:solidFill>
                      <a:prstDash val="sysDash"/>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6回</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9525">
                      <a:solidFill>
                        <a:srgbClr val="1A2F81"/>
                      </a:solidFill>
                      <a:prstDash val="sysDash"/>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6回</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9525">
                      <a:solidFill>
                        <a:srgbClr val="1A2F81"/>
                      </a:solidFill>
                      <a:prstDash val="sysDash"/>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100%</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9525">
                      <a:solidFill>
                        <a:srgbClr val="1A2F81"/>
                      </a:solidFill>
                      <a:prstDash val="sysDash"/>
                      <a:round/>
                      <a:headEnd type="none" w="med" len="med"/>
                      <a:tailEnd type="none" w="med" len="med"/>
                    </a:lnB>
                  </a:tcPr>
                </a:tc>
              </a:tr>
              <a:tr h="931374">
                <a:tc>
                  <a:txBody>
                    <a:bodyPr anchor="t" rtlCol="false"/>
                    <a:lstStyle/>
                    <a:p>
                      <a:pPr algn="l">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営業支援レポート（週次発行）</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9525">
                      <a:solidFill>
                        <a:srgbClr val="1A2F81"/>
                      </a:solidFill>
                      <a:prstDash val="sysDash"/>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12本</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9525">
                      <a:solidFill>
                        <a:srgbClr val="1A2F81"/>
                      </a:solidFill>
                      <a:prstDash val="sysDash"/>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14本</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9525">
                      <a:solidFill>
                        <a:srgbClr val="1A2F81"/>
                      </a:solidFill>
                      <a:prstDash val="sysDash"/>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117%</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9525">
                      <a:solidFill>
                        <a:srgbClr val="1A2F81"/>
                      </a:solidFill>
                      <a:prstDash val="sysDash"/>
                      <a:round/>
                      <a:headEnd type="none" w="med" len="med"/>
                      <a:tailEnd type="none" w="med" len="med"/>
                    </a:lnB>
                  </a:tcPr>
                </a:tc>
              </a:tr>
              <a:tr h="931374">
                <a:tc>
                  <a:txBody>
                    <a:bodyPr anchor="t" rtlCol="false"/>
                    <a:lstStyle/>
                    <a:p>
                      <a:pPr algn="l">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資料テンプレDL数（部内共有）</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28575">
                      <a:solidFill>
                        <a:srgbClr val="1A2F81"/>
                      </a:solidFill>
                      <a:prstDash val="solid"/>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100回</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28575">
                      <a:solidFill>
                        <a:srgbClr val="1A2F81"/>
                      </a:solidFill>
                      <a:prstDash val="solid"/>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132回</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28575">
                      <a:solidFill>
                        <a:srgbClr val="1A2F81"/>
                      </a:solidFill>
                      <a:prstDash val="solid"/>
                      <a:round/>
                      <a:headEnd type="none" w="med" len="med"/>
                      <a:tailEnd type="none" w="med" len="med"/>
                    </a:lnB>
                  </a:tcPr>
                </a:tc>
                <a:tc>
                  <a:txBody>
                    <a:bodyPr anchor="t" rtlCol="false"/>
                    <a:lstStyle/>
                    <a:p>
                      <a:pPr algn="ctr">
                        <a:lnSpc>
                          <a:spcPts val="2659"/>
                        </a:lnSpc>
                        <a:defRPr/>
                      </a:pPr>
                      <a:r>
                        <a:rPr lang="en-US" sz="1899">
                          <a:solidFill>
                            <a:srgbClr val="010817"/>
                          </a:solidFill>
                          <a:latin typeface="たづがね角ゴシック Info"/>
                          <a:ea typeface="たづがね角ゴシック Info"/>
                          <a:cs typeface="たづがね角ゴシック Info"/>
                          <a:sym typeface="たづがね角ゴシック Info"/>
                        </a:rPr>
                        <a:t>132%</a:t>
                      </a:r>
                      <a:endParaRPr lang="en-US" sz="1100"/>
                    </a:p>
                  </a:txBody>
                  <a:tcPr marL="190500" marR="190500" marT="190500" marB="190500" anchor="ctr">
                    <a:lnL cmpd="sng" algn="ctr" cap="flat" w="0">
                      <a:solidFill>
                        <a:srgbClr val="1A2F81"/>
                      </a:solidFill>
                      <a:prstDash val="solid"/>
                      <a:round/>
                      <a:headEnd type="none" w="med" len="med"/>
                      <a:tailEnd type="none" w="med" len="med"/>
                    </a:lnL>
                    <a:lnR cmpd="sng" algn="ctr" cap="flat" w="0">
                      <a:solidFill>
                        <a:srgbClr val="1A2F81"/>
                      </a:solidFill>
                      <a:prstDash val="solid"/>
                      <a:round/>
                      <a:headEnd type="none" w="med" len="med"/>
                      <a:tailEnd type="none" w="med" len="med"/>
                    </a:lnR>
                    <a:lnT cmpd="sng" algn="ctr" cap="flat" w="9525">
                      <a:solidFill>
                        <a:srgbClr val="1A2F81"/>
                      </a:solidFill>
                      <a:prstDash val="sysDash"/>
                      <a:round/>
                      <a:headEnd type="none" w="med" len="med"/>
                      <a:tailEnd type="none" w="med" len="med"/>
                    </a:lnT>
                    <a:lnB cmpd="sng" algn="ctr" cap="flat" w="28575">
                      <a:solidFill>
                        <a:srgbClr val="1A2F81"/>
                      </a:solidFill>
                      <a:prstDash val="solid"/>
                      <a:round/>
                      <a:headEnd type="none" w="med" len="med"/>
                      <a:tailEnd type="none" w="med" len="med"/>
                    </a:lnB>
                  </a:tcPr>
                </a:tc>
              </a:tr>
            </a:tbl>
          </a:graphicData>
        </a:graphic>
      </p:graphicFrame>
      <p:pic>
        <p:nvPicPr>
          <p:cNvPr name="Picture 19" id="19"/>
          <p:cNvPicPr>
            <a:picLocks noChangeAspect="true"/>
          </p:cNvPicPr>
          <p:nvPr/>
        </p:nvPicPr>
        <p:blipFill>
          <a:blip r:embed="rId2"/>
          <a:stretch>
            <a:fillRect/>
          </a:stretch>
        </p:blipFill>
        <p:spPr>
          <a:xfrm rot="0">
            <a:off x="8811885" y="4391632"/>
            <a:ext cx="9022418" cy="5095349"/>
          </a:xfrm>
          <a:prstGeom prst="rect">
            <a:avLst/>
          </a:prstGeom>
        </p:spPr>
      </p:pic>
      <p:sp>
        <p:nvSpPr>
          <p:cNvPr name="AutoShape 20" id="20"/>
          <p:cNvSpPr/>
          <p:nvPr/>
        </p:nvSpPr>
        <p:spPr>
          <a:xfrm flipV="true">
            <a:off x="9144000" y="4586740"/>
            <a:ext cx="0" cy="4652510"/>
          </a:xfrm>
          <a:prstGeom prst="line">
            <a:avLst/>
          </a:prstGeom>
          <a:ln cap="flat" w="19050">
            <a:solidFill>
              <a:srgbClr val="B1B8C0"/>
            </a:solidFill>
            <a:prstDash val="solid"/>
            <a:headEnd type="none" len="sm" w="sm"/>
            <a:tailEnd type="none" len="sm" w="sm"/>
          </a:ln>
        </p:spPr>
      </p:sp>
      <p:grpSp>
        <p:nvGrpSpPr>
          <p:cNvPr name="Group 21" id="21"/>
          <p:cNvGrpSpPr/>
          <p:nvPr/>
        </p:nvGrpSpPr>
        <p:grpSpPr>
          <a:xfrm rot="0">
            <a:off x="10747178" y="4586740"/>
            <a:ext cx="5151832" cy="556760"/>
            <a:chOff x="0" y="0"/>
            <a:chExt cx="1356861" cy="146636"/>
          </a:xfrm>
        </p:grpSpPr>
        <p:sp>
          <p:nvSpPr>
            <p:cNvPr name="Freeform 22" id="22"/>
            <p:cNvSpPr/>
            <p:nvPr/>
          </p:nvSpPr>
          <p:spPr>
            <a:xfrm flipH="false" flipV="false" rot="0">
              <a:off x="0" y="0"/>
              <a:ext cx="1356861" cy="146636"/>
            </a:xfrm>
            <a:custGeom>
              <a:avLst/>
              <a:gdLst/>
              <a:ahLst/>
              <a:cxnLst/>
              <a:rect r="r" b="b" t="t" l="l"/>
              <a:pathLst>
                <a:path h="146636" w="1356861">
                  <a:moveTo>
                    <a:pt x="73318" y="0"/>
                  </a:moveTo>
                  <a:lnTo>
                    <a:pt x="1283543" y="0"/>
                  </a:lnTo>
                  <a:cubicBezTo>
                    <a:pt x="1302988" y="0"/>
                    <a:pt x="1321637" y="7725"/>
                    <a:pt x="1335387" y="21474"/>
                  </a:cubicBezTo>
                  <a:cubicBezTo>
                    <a:pt x="1349137" y="35224"/>
                    <a:pt x="1356861" y="53873"/>
                    <a:pt x="1356861" y="73318"/>
                  </a:cubicBezTo>
                  <a:lnTo>
                    <a:pt x="1356861" y="73318"/>
                  </a:lnTo>
                  <a:cubicBezTo>
                    <a:pt x="1356861" y="113811"/>
                    <a:pt x="1324035" y="146636"/>
                    <a:pt x="1283543" y="146636"/>
                  </a:cubicBezTo>
                  <a:lnTo>
                    <a:pt x="73318" y="146636"/>
                  </a:lnTo>
                  <a:cubicBezTo>
                    <a:pt x="53873" y="146636"/>
                    <a:pt x="35224" y="138912"/>
                    <a:pt x="21474" y="125162"/>
                  </a:cubicBezTo>
                  <a:cubicBezTo>
                    <a:pt x="7725" y="111412"/>
                    <a:pt x="0" y="92763"/>
                    <a:pt x="0" y="73318"/>
                  </a:cubicBezTo>
                  <a:lnTo>
                    <a:pt x="0" y="73318"/>
                  </a:lnTo>
                  <a:cubicBezTo>
                    <a:pt x="0" y="53873"/>
                    <a:pt x="7725" y="35224"/>
                    <a:pt x="21474" y="21474"/>
                  </a:cubicBezTo>
                  <a:cubicBezTo>
                    <a:pt x="35224" y="7725"/>
                    <a:pt x="53873" y="0"/>
                    <a:pt x="73318" y="0"/>
                  </a:cubicBezTo>
                  <a:close/>
                </a:path>
              </a:pathLst>
            </a:custGeom>
            <a:solidFill>
              <a:srgbClr val="086B89"/>
            </a:solidFill>
          </p:spPr>
        </p:sp>
        <p:sp>
          <p:nvSpPr>
            <p:cNvPr name="TextBox 23" id="23"/>
            <p:cNvSpPr txBox="true"/>
            <p:nvPr/>
          </p:nvSpPr>
          <p:spPr>
            <a:xfrm>
              <a:off x="0" y="-200025"/>
              <a:ext cx="1356861" cy="346661"/>
            </a:xfrm>
            <a:prstGeom prst="rect">
              <a:avLst/>
            </a:prstGeom>
          </p:spPr>
          <p:txBody>
            <a:bodyPr anchor="ctr" rtlCol="false" tIns="50800" lIns="50800" bIns="50800" rIns="50800"/>
            <a:lstStyle/>
            <a:p>
              <a:pPr algn="ctr">
                <a:lnSpc>
                  <a:spcPts val="3079"/>
                </a:lnSpc>
              </a:pPr>
            </a:p>
          </p:txBody>
        </p:sp>
      </p:grpSp>
      <p:grpSp>
        <p:nvGrpSpPr>
          <p:cNvPr name="Group 24" id="24"/>
          <p:cNvGrpSpPr/>
          <p:nvPr/>
        </p:nvGrpSpPr>
        <p:grpSpPr>
          <a:xfrm rot="-10800000">
            <a:off x="13212458" y="5062287"/>
            <a:ext cx="221271" cy="275797"/>
            <a:chOff x="0" y="0"/>
            <a:chExt cx="570592" cy="711200"/>
          </a:xfrm>
        </p:grpSpPr>
        <p:sp>
          <p:nvSpPr>
            <p:cNvPr name="Freeform 25" id="25"/>
            <p:cNvSpPr/>
            <p:nvPr/>
          </p:nvSpPr>
          <p:spPr>
            <a:xfrm flipH="false" flipV="false" rot="0">
              <a:off x="0" y="0"/>
              <a:ext cx="570592" cy="711200"/>
            </a:xfrm>
            <a:custGeom>
              <a:avLst/>
              <a:gdLst/>
              <a:ahLst/>
              <a:cxnLst/>
              <a:rect r="r" b="b" t="t" l="l"/>
              <a:pathLst>
                <a:path h="711200" w="570592">
                  <a:moveTo>
                    <a:pt x="285296" y="0"/>
                  </a:moveTo>
                  <a:lnTo>
                    <a:pt x="570592" y="711200"/>
                  </a:lnTo>
                  <a:lnTo>
                    <a:pt x="0" y="711200"/>
                  </a:lnTo>
                  <a:lnTo>
                    <a:pt x="285296" y="0"/>
                  </a:lnTo>
                  <a:close/>
                </a:path>
              </a:pathLst>
            </a:custGeom>
            <a:solidFill>
              <a:srgbClr val="086B89"/>
            </a:solidFill>
          </p:spPr>
        </p:sp>
        <p:sp>
          <p:nvSpPr>
            <p:cNvPr name="TextBox 26" id="26"/>
            <p:cNvSpPr txBox="true"/>
            <p:nvPr/>
          </p:nvSpPr>
          <p:spPr>
            <a:xfrm>
              <a:off x="89155" y="130175"/>
              <a:ext cx="392282" cy="530225"/>
            </a:xfrm>
            <a:prstGeom prst="rect">
              <a:avLst/>
            </a:prstGeom>
          </p:spPr>
          <p:txBody>
            <a:bodyPr anchor="ctr" rtlCol="false" tIns="50800" lIns="50800" bIns="50800" rIns="50800"/>
            <a:lstStyle/>
            <a:p>
              <a:pPr algn="ctr">
                <a:lnSpc>
                  <a:spcPts val="3079"/>
                </a:lnSpc>
              </a:pPr>
            </a:p>
          </p:txBody>
        </p:sp>
      </p:grpSp>
      <p:sp>
        <p:nvSpPr>
          <p:cNvPr name="TextBox 27" id="27"/>
          <p:cNvSpPr txBox="true"/>
          <p:nvPr/>
        </p:nvSpPr>
        <p:spPr>
          <a:xfrm rot="0">
            <a:off x="1301441" y="1915295"/>
            <a:ext cx="7604434"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上半期の主要KPI</a:t>
            </a:r>
          </a:p>
        </p:txBody>
      </p:sp>
      <p:sp>
        <p:nvSpPr>
          <p:cNvPr name="TextBox 28" id="28"/>
          <p:cNvSpPr txBox="true"/>
          <p:nvPr/>
        </p:nvSpPr>
        <p:spPr>
          <a:xfrm rot="0">
            <a:off x="1047750" y="828675"/>
            <a:ext cx="8096250" cy="577215"/>
          </a:xfrm>
          <a:prstGeom prst="rect">
            <a:avLst/>
          </a:prstGeom>
        </p:spPr>
        <p:txBody>
          <a:bodyPr anchor="t" rtlCol="false" tIns="0" lIns="0" bIns="0" rIns="0">
            <a:spAutoFit/>
          </a:bodyPr>
          <a:lstStyle/>
          <a:p>
            <a:pPr algn="l">
              <a:lnSpc>
                <a:spcPts val="3359"/>
              </a:lnSpc>
              <a:spcBef>
                <a:spcPct val="0"/>
              </a:spcBef>
            </a:pPr>
            <a:r>
              <a:rPr lang="en-US" sz="2400">
                <a:solidFill>
                  <a:srgbClr val="1A2F81"/>
                </a:solidFill>
                <a:latin typeface="たづがね角ゴシック Info"/>
                <a:ea typeface="たづがね角ゴシック Info"/>
                <a:cs typeface="たづがね角ゴシック Info"/>
                <a:sym typeface="たづがね角ゴシック Info"/>
              </a:rPr>
              <a:t>目標と実績の概要</a:t>
            </a:r>
          </a:p>
        </p:txBody>
      </p:sp>
      <p:sp>
        <p:nvSpPr>
          <p:cNvPr name="TextBox 29" id="29"/>
          <p:cNvSpPr txBox="true"/>
          <p:nvPr/>
        </p:nvSpPr>
        <p:spPr>
          <a:xfrm rot="0">
            <a:off x="9172575" y="1054418"/>
            <a:ext cx="6688237" cy="306705"/>
          </a:xfrm>
          <a:prstGeom prst="rect">
            <a:avLst/>
          </a:prstGeom>
        </p:spPr>
        <p:txBody>
          <a:bodyPr anchor="t" rtlCol="false" tIns="0" lIns="0" bIns="0" rIns="0">
            <a:spAutoFit/>
          </a:bodyPr>
          <a:lstStyle/>
          <a:p>
            <a:pPr algn="r">
              <a:lnSpc>
                <a:spcPts val="2520"/>
              </a:lnSpc>
              <a:spcBef>
                <a:spcPct val="0"/>
              </a:spcBef>
            </a:pPr>
            <a:r>
              <a:rPr lang="en-US" b="true" sz="1800">
                <a:solidFill>
                  <a:srgbClr val="1A2F81"/>
                </a:solidFill>
                <a:latin typeface="Montserrat Medium"/>
                <a:ea typeface="Montserrat Medium"/>
                <a:cs typeface="Montserrat Medium"/>
                <a:sym typeface="Montserrat Medium"/>
              </a:rPr>
              <a:t>Performance Summary</a:t>
            </a:r>
          </a:p>
        </p:txBody>
      </p:sp>
      <p:sp>
        <p:nvSpPr>
          <p:cNvPr name="TextBox 30" id="30"/>
          <p:cNvSpPr txBox="true"/>
          <p:nvPr/>
        </p:nvSpPr>
        <p:spPr>
          <a:xfrm rot="0">
            <a:off x="9386888" y="8704580"/>
            <a:ext cx="7872412" cy="534670"/>
          </a:xfrm>
          <a:prstGeom prst="rect">
            <a:avLst/>
          </a:prstGeom>
        </p:spPr>
        <p:txBody>
          <a:bodyPr anchor="t" rtlCol="false" tIns="0" lIns="0" bIns="0" rIns="0">
            <a:spAutoFit/>
          </a:bodyPr>
          <a:lstStyle/>
          <a:p>
            <a:pPr algn="ctr">
              <a:lnSpc>
                <a:spcPts val="3079"/>
              </a:lnSpc>
              <a:spcBef>
                <a:spcPct val="0"/>
              </a:spcBef>
            </a:pPr>
            <a:r>
              <a:rPr lang="en-US" sz="2199">
                <a:solidFill>
                  <a:srgbClr val="086B89"/>
                </a:solidFill>
                <a:latin typeface="たづがね角ゴシック Info Medium"/>
                <a:ea typeface="たづがね角ゴシック Info Medium"/>
                <a:cs typeface="たづがね角ゴシック Info Medium"/>
                <a:sym typeface="たづがね角ゴシック Info Medium"/>
              </a:rPr>
              <a:t>上半期の主要KPI達成率</a:t>
            </a:r>
          </a:p>
        </p:txBody>
      </p:sp>
      <p:sp>
        <p:nvSpPr>
          <p:cNvPr name="TextBox 31" id="31"/>
          <p:cNvSpPr txBox="true"/>
          <p:nvPr/>
        </p:nvSpPr>
        <p:spPr>
          <a:xfrm rot="0">
            <a:off x="1047750" y="2848030"/>
            <a:ext cx="16192500" cy="1315720"/>
          </a:xfrm>
          <a:prstGeom prst="rect">
            <a:avLst/>
          </a:prstGeom>
        </p:spPr>
        <p:txBody>
          <a:bodyPr anchor="t" rtlCol="false" tIns="0" lIns="0" bIns="0" rIns="0">
            <a:spAutoFit/>
          </a:bodyPr>
          <a:lstStyle/>
          <a:p>
            <a:pPr algn="just">
              <a:lnSpc>
                <a:spcPts val="3079"/>
              </a:lnSpc>
              <a:spcBef>
                <a:spcPct val="0"/>
              </a:spcBef>
            </a:pPr>
            <a:r>
              <a:rPr lang="en-US" sz="2199">
                <a:solidFill>
                  <a:srgbClr val="010817"/>
                </a:solidFill>
                <a:latin typeface="たづがね角ゴシック Info"/>
                <a:ea typeface="たづがね角ゴシック Info"/>
                <a:cs typeface="たづがね角ゴシック Info"/>
                <a:sym typeface="たづがね角ゴシック Info"/>
              </a:rPr>
              <a:t>2035年度上半期は、各KPI項目で概ね目標を上回る成果を達成。</a:t>
            </a:r>
          </a:p>
          <a:p>
            <a:pPr algn="just">
              <a:lnSpc>
                <a:spcPts val="3079"/>
              </a:lnSpc>
              <a:spcBef>
                <a:spcPct val="0"/>
              </a:spcBef>
            </a:pPr>
            <a:r>
              <a:rPr lang="en-US" sz="2199">
                <a:solidFill>
                  <a:srgbClr val="010817"/>
                </a:solidFill>
                <a:latin typeface="たづがね角ゴシック Info"/>
                <a:ea typeface="たづがね角ゴシック Info"/>
                <a:cs typeface="たづがね角ゴシック Info"/>
                <a:sym typeface="たづがね角ゴシック Info"/>
              </a:rPr>
              <a:t>特に「提案資料の整備」と「レポート配信」は実務部門からのフィードバック評価も高く、営業活動の土台を支える重要な施策として定着しつつあります。</a:t>
            </a:r>
          </a:p>
        </p:txBody>
      </p:sp>
      <p:sp>
        <p:nvSpPr>
          <p:cNvPr name="TextBox 32" id="32"/>
          <p:cNvSpPr txBox="true"/>
          <p:nvPr/>
        </p:nvSpPr>
        <p:spPr>
          <a:xfrm rot="0">
            <a:off x="10747178" y="4506027"/>
            <a:ext cx="5151832" cy="518160"/>
          </a:xfrm>
          <a:prstGeom prst="rect">
            <a:avLst/>
          </a:prstGeom>
        </p:spPr>
        <p:txBody>
          <a:bodyPr anchor="t" rtlCol="false" tIns="0" lIns="0" bIns="0" rIns="0">
            <a:spAutoFit/>
          </a:bodyPr>
          <a:lstStyle/>
          <a:p>
            <a:pPr algn="ctr">
              <a:lnSpc>
                <a:spcPts val="2940"/>
              </a:lnSpc>
              <a:spcBef>
                <a:spcPct val="0"/>
              </a:spcBef>
            </a:pPr>
            <a:r>
              <a:rPr lang="en-US" sz="2100">
                <a:solidFill>
                  <a:srgbClr val="F7F8F9"/>
                </a:solidFill>
                <a:latin typeface="たづがね角ゴシック Info Medium"/>
                <a:ea typeface="たづがね角ゴシック Info Medium"/>
                <a:cs typeface="たづがね角ゴシック Info Medium"/>
                <a:sym typeface="たづがね角ゴシック Info Medium"/>
              </a:rPr>
              <a:t>戦略的な実行で、全体KPIをクリア</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8F9"/>
        </a:solidFill>
      </p:bgPr>
    </p:bg>
    <p:spTree>
      <p:nvGrpSpPr>
        <p:cNvPr id="1" name=""/>
        <p:cNvGrpSpPr/>
        <p:nvPr/>
      </p:nvGrpSpPr>
      <p:grpSpPr>
        <a:xfrm>
          <a:off x="0" y="0"/>
          <a:ext cx="0" cy="0"/>
          <a:chOff x="0" y="0"/>
          <a:chExt cx="0" cy="0"/>
        </a:xfrm>
      </p:grpSpPr>
      <p:grpSp>
        <p:nvGrpSpPr>
          <p:cNvPr name="Group 2" id="2"/>
          <p:cNvGrpSpPr/>
          <p:nvPr/>
        </p:nvGrpSpPr>
        <p:grpSpPr>
          <a:xfrm rot="0">
            <a:off x="1047750" y="2144053"/>
            <a:ext cx="95250" cy="481013"/>
            <a:chOff x="0" y="0"/>
            <a:chExt cx="19464" cy="98292"/>
          </a:xfrm>
        </p:grpSpPr>
        <p:sp>
          <p:nvSpPr>
            <p:cNvPr name="Freeform 3" id="3"/>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4" id="4"/>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grpSp>
        <p:nvGrpSpPr>
          <p:cNvPr name="Group 5" id="5"/>
          <p:cNvGrpSpPr/>
          <p:nvPr/>
        </p:nvGrpSpPr>
        <p:grpSpPr>
          <a:xfrm rot="0">
            <a:off x="16063860" y="1132115"/>
            <a:ext cx="1177622" cy="189410"/>
            <a:chOff x="0" y="0"/>
            <a:chExt cx="1570163" cy="252547"/>
          </a:xfrm>
        </p:grpSpPr>
        <p:grpSp>
          <p:nvGrpSpPr>
            <p:cNvPr name="Group 6" id="6"/>
            <p:cNvGrpSpPr/>
            <p:nvPr/>
          </p:nvGrpSpPr>
          <p:grpSpPr>
            <a:xfrm rot="0">
              <a:off x="0" y="0"/>
              <a:ext cx="252547" cy="252547"/>
              <a:chOff x="0" y="0"/>
              <a:chExt cx="81040" cy="81040"/>
            </a:xfrm>
          </p:grpSpPr>
          <p:sp>
            <p:nvSpPr>
              <p:cNvPr name="Freeform 7" id="7"/>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8" id="8"/>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9" id="9"/>
            <p:cNvGrpSpPr/>
            <p:nvPr/>
          </p:nvGrpSpPr>
          <p:grpSpPr>
            <a:xfrm rot="0">
              <a:off x="439205" y="0"/>
              <a:ext cx="252547" cy="252547"/>
              <a:chOff x="0" y="0"/>
              <a:chExt cx="81040" cy="81040"/>
            </a:xfrm>
          </p:grpSpPr>
          <p:sp>
            <p:nvSpPr>
              <p:cNvPr name="Freeform 10" id="10"/>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1" id="11"/>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2" id="12"/>
            <p:cNvGrpSpPr/>
            <p:nvPr/>
          </p:nvGrpSpPr>
          <p:grpSpPr>
            <a:xfrm rot="0">
              <a:off x="878410" y="0"/>
              <a:ext cx="252547" cy="252547"/>
              <a:chOff x="0" y="0"/>
              <a:chExt cx="81040" cy="81040"/>
            </a:xfrm>
          </p:grpSpPr>
          <p:sp>
            <p:nvSpPr>
              <p:cNvPr name="Freeform 13" id="13"/>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4" id="14"/>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5" id="15"/>
            <p:cNvGrpSpPr/>
            <p:nvPr/>
          </p:nvGrpSpPr>
          <p:grpSpPr>
            <a:xfrm rot="0">
              <a:off x="1317615" y="0"/>
              <a:ext cx="252547" cy="252547"/>
              <a:chOff x="0" y="0"/>
              <a:chExt cx="81040" cy="81040"/>
            </a:xfrm>
          </p:grpSpPr>
          <p:sp>
            <p:nvSpPr>
              <p:cNvPr name="Freeform 16" id="16"/>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7" id="17"/>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grpSp>
        <p:nvGrpSpPr>
          <p:cNvPr name="Group 18" id="18"/>
          <p:cNvGrpSpPr/>
          <p:nvPr/>
        </p:nvGrpSpPr>
        <p:grpSpPr>
          <a:xfrm rot="0">
            <a:off x="6680200" y="3048055"/>
            <a:ext cx="4908550" cy="6191195"/>
            <a:chOff x="0" y="0"/>
            <a:chExt cx="1292787" cy="1630603"/>
          </a:xfrm>
        </p:grpSpPr>
        <p:sp>
          <p:nvSpPr>
            <p:cNvPr name="Freeform 19" id="19"/>
            <p:cNvSpPr/>
            <p:nvPr/>
          </p:nvSpPr>
          <p:spPr>
            <a:xfrm flipH="false" flipV="false" rot="0">
              <a:off x="0" y="0"/>
              <a:ext cx="1292787" cy="1630603"/>
            </a:xfrm>
            <a:custGeom>
              <a:avLst/>
              <a:gdLst/>
              <a:ahLst/>
              <a:cxnLst/>
              <a:rect r="r" b="b" t="t" l="l"/>
              <a:pathLst>
                <a:path h="1630603" w="1292787">
                  <a:moveTo>
                    <a:pt x="0" y="0"/>
                  </a:moveTo>
                  <a:lnTo>
                    <a:pt x="1292787" y="0"/>
                  </a:lnTo>
                  <a:lnTo>
                    <a:pt x="1292787" y="1630603"/>
                  </a:lnTo>
                  <a:lnTo>
                    <a:pt x="0" y="1630603"/>
                  </a:lnTo>
                  <a:close/>
                </a:path>
              </a:pathLst>
            </a:custGeom>
            <a:ln w="19050" cap="sq">
              <a:solidFill>
                <a:srgbClr val="086B89"/>
              </a:solidFill>
              <a:prstDash val="solid"/>
              <a:miter/>
            </a:ln>
          </p:spPr>
        </p:sp>
        <p:sp>
          <p:nvSpPr>
            <p:cNvPr name="TextBox 20" id="20"/>
            <p:cNvSpPr txBox="true"/>
            <p:nvPr/>
          </p:nvSpPr>
          <p:spPr>
            <a:xfrm>
              <a:off x="0" y="-200025"/>
              <a:ext cx="1292787" cy="1830628"/>
            </a:xfrm>
            <a:prstGeom prst="rect">
              <a:avLst/>
            </a:prstGeom>
          </p:spPr>
          <p:txBody>
            <a:bodyPr anchor="ctr" rtlCol="false" tIns="50800" lIns="50800" bIns="50800" rIns="50800"/>
            <a:lstStyle/>
            <a:p>
              <a:pPr algn="ctr">
                <a:lnSpc>
                  <a:spcPts val="3079"/>
                </a:lnSpc>
              </a:pPr>
            </a:p>
          </p:txBody>
        </p:sp>
      </p:grpSp>
      <p:grpSp>
        <p:nvGrpSpPr>
          <p:cNvPr name="Group 21" id="21"/>
          <p:cNvGrpSpPr/>
          <p:nvPr/>
        </p:nvGrpSpPr>
        <p:grpSpPr>
          <a:xfrm rot="0">
            <a:off x="12331700" y="3048055"/>
            <a:ext cx="4908550" cy="6191195"/>
            <a:chOff x="0" y="0"/>
            <a:chExt cx="1292787" cy="1630603"/>
          </a:xfrm>
        </p:grpSpPr>
        <p:sp>
          <p:nvSpPr>
            <p:cNvPr name="Freeform 22" id="22"/>
            <p:cNvSpPr/>
            <p:nvPr/>
          </p:nvSpPr>
          <p:spPr>
            <a:xfrm flipH="false" flipV="false" rot="0">
              <a:off x="0" y="0"/>
              <a:ext cx="1292787" cy="1630603"/>
            </a:xfrm>
            <a:custGeom>
              <a:avLst/>
              <a:gdLst/>
              <a:ahLst/>
              <a:cxnLst/>
              <a:rect r="r" b="b" t="t" l="l"/>
              <a:pathLst>
                <a:path h="1630603" w="1292787">
                  <a:moveTo>
                    <a:pt x="0" y="0"/>
                  </a:moveTo>
                  <a:lnTo>
                    <a:pt x="1292787" y="0"/>
                  </a:lnTo>
                  <a:lnTo>
                    <a:pt x="1292787" y="1630603"/>
                  </a:lnTo>
                  <a:lnTo>
                    <a:pt x="0" y="1630603"/>
                  </a:lnTo>
                  <a:close/>
                </a:path>
              </a:pathLst>
            </a:custGeom>
            <a:ln w="19050" cap="sq">
              <a:solidFill>
                <a:srgbClr val="5D5491"/>
              </a:solidFill>
              <a:prstDash val="solid"/>
              <a:miter/>
            </a:ln>
          </p:spPr>
        </p:sp>
        <p:sp>
          <p:nvSpPr>
            <p:cNvPr name="TextBox 23" id="23"/>
            <p:cNvSpPr txBox="true"/>
            <p:nvPr/>
          </p:nvSpPr>
          <p:spPr>
            <a:xfrm>
              <a:off x="0" y="-200025"/>
              <a:ext cx="1292787" cy="1830628"/>
            </a:xfrm>
            <a:prstGeom prst="rect">
              <a:avLst/>
            </a:prstGeom>
          </p:spPr>
          <p:txBody>
            <a:bodyPr anchor="ctr" rtlCol="false" tIns="50800" lIns="50800" bIns="50800" rIns="50800"/>
            <a:lstStyle/>
            <a:p>
              <a:pPr algn="ctr">
                <a:lnSpc>
                  <a:spcPts val="3079"/>
                </a:lnSpc>
              </a:pPr>
            </a:p>
          </p:txBody>
        </p:sp>
      </p:grpSp>
      <p:sp>
        <p:nvSpPr>
          <p:cNvPr name="TextBox 24" id="24"/>
          <p:cNvSpPr txBox="true"/>
          <p:nvPr/>
        </p:nvSpPr>
        <p:spPr>
          <a:xfrm rot="0">
            <a:off x="12712859" y="3390928"/>
            <a:ext cx="4146232" cy="323215"/>
          </a:xfrm>
          <a:prstGeom prst="rect">
            <a:avLst/>
          </a:prstGeom>
        </p:spPr>
        <p:txBody>
          <a:bodyPr anchor="t" rtlCol="false" tIns="0" lIns="0" bIns="0" rIns="0">
            <a:spAutoFit/>
          </a:bodyPr>
          <a:lstStyle/>
          <a:p>
            <a:pPr algn="ctr">
              <a:lnSpc>
                <a:spcPts val="2660"/>
              </a:lnSpc>
              <a:spcBef>
                <a:spcPct val="0"/>
              </a:spcBef>
            </a:pPr>
            <a:r>
              <a:rPr lang="en-US" b="true" sz="1900">
                <a:solidFill>
                  <a:srgbClr val="5D5491"/>
                </a:solidFill>
                <a:latin typeface="Montserrat Semi-Bold"/>
                <a:ea typeface="Montserrat Semi-Bold"/>
                <a:cs typeface="Montserrat Semi-Bold"/>
                <a:sym typeface="Montserrat Semi-Bold"/>
              </a:rPr>
              <a:t>TOPIC 03</a:t>
            </a:r>
          </a:p>
        </p:txBody>
      </p:sp>
      <p:sp>
        <p:nvSpPr>
          <p:cNvPr name="TextBox 25" id="25"/>
          <p:cNvSpPr txBox="true"/>
          <p:nvPr/>
        </p:nvSpPr>
        <p:spPr>
          <a:xfrm rot="0">
            <a:off x="12712859" y="4760638"/>
            <a:ext cx="4146232" cy="577215"/>
          </a:xfrm>
          <a:prstGeom prst="rect">
            <a:avLst/>
          </a:prstGeom>
        </p:spPr>
        <p:txBody>
          <a:bodyPr anchor="t" rtlCol="false" tIns="0" lIns="0" bIns="0" rIns="0">
            <a:spAutoFit/>
          </a:bodyPr>
          <a:lstStyle/>
          <a:p>
            <a:pPr algn="ctr">
              <a:lnSpc>
                <a:spcPts val="3359"/>
              </a:lnSpc>
              <a:spcBef>
                <a:spcPct val="0"/>
              </a:spcBef>
            </a:pPr>
            <a:r>
              <a:rPr lang="en-US" b="true" sz="2399">
                <a:solidFill>
                  <a:srgbClr val="5D5491"/>
                </a:solidFill>
                <a:latin typeface="たづがね角ゴシック Info Bold"/>
                <a:ea typeface="たづがね角ゴシック Info Bold"/>
                <a:cs typeface="たづがね角ゴシック Info Bold"/>
                <a:sym typeface="たづがね角ゴシック Info Bold"/>
              </a:rPr>
              <a:t>営業支援レポートの反響</a:t>
            </a:r>
          </a:p>
        </p:txBody>
      </p:sp>
      <p:sp>
        <p:nvSpPr>
          <p:cNvPr name="TextBox 26" id="26"/>
          <p:cNvSpPr txBox="true"/>
          <p:nvPr/>
        </p:nvSpPr>
        <p:spPr>
          <a:xfrm rot="0">
            <a:off x="12712859" y="6251603"/>
            <a:ext cx="4146232" cy="2606675"/>
          </a:xfrm>
          <a:prstGeom prst="rect">
            <a:avLst/>
          </a:prstGeom>
        </p:spPr>
        <p:txBody>
          <a:bodyPr anchor="t" rtlCol="false" tIns="0" lIns="0" bIns="0" rIns="0">
            <a:spAutoFit/>
          </a:bodyPr>
          <a:lstStyle/>
          <a:p>
            <a:pPr algn="just" marL="0" indent="0" lvl="0">
              <a:lnSpc>
                <a:spcPts val="2800"/>
              </a:lnSpc>
              <a:spcBef>
                <a:spcPct val="0"/>
              </a:spcBef>
            </a:pPr>
            <a:r>
              <a:rPr lang="en-US" sz="2000" strike="noStrike" u="none">
                <a:solidFill>
                  <a:srgbClr val="010817"/>
                </a:solidFill>
                <a:latin typeface="たづがね角ゴシック Info"/>
                <a:ea typeface="たづがね角ゴシック Info"/>
                <a:cs typeface="たづがね角ゴシック Info"/>
                <a:sym typeface="たづがね角ゴシック Info"/>
              </a:rPr>
              <a:t>営業支援レポートを継続発行し、上半期で14回を記録。営業チームからの引用件数は前年同期比で+45％と大幅に増加、 現場での行動提案やクライアント対応に活用される機会が増えました。 情報の質が評価された結果と捉えています。</a:t>
            </a:r>
          </a:p>
        </p:txBody>
      </p:sp>
      <p:grpSp>
        <p:nvGrpSpPr>
          <p:cNvPr name="Group 27" id="27"/>
          <p:cNvGrpSpPr/>
          <p:nvPr/>
        </p:nvGrpSpPr>
        <p:grpSpPr>
          <a:xfrm rot="0">
            <a:off x="12712859" y="5622417"/>
            <a:ext cx="4146232" cy="535121"/>
            <a:chOff x="0" y="0"/>
            <a:chExt cx="1092012" cy="140937"/>
          </a:xfrm>
        </p:grpSpPr>
        <p:sp>
          <p:nvSpPr>
            <p:cNvPr name="Freeform 28" id="28"/>
            <p:cNvSpPr/>
            <p:nvPr/>
          </p:nvSpPr>
          <p:spPr>
            <a:xfrm flipH="false" flipV="false" rot="0">
              <a:off x="0" y="0"/>
              <a:ext cx="1092012" cy="140937"/>
            </a:xfrm>
            <a:custGeom>
              <a:avLst/>
              <a:gdLst/>
              <a:ahLst/>
              <a:cxnLst/>
              <a:rect r="r" b="b" t="t" l="l"/>
              <a:pathLst>
                <a:path h="140937" w="1092012">
                  <a:moveTo>
                    <a:pt x="70469" y="0"/>
                  </a:moveTo>
                  <a:lnTo>
                    <a:pt x="1021543" y="0"/>
                  </a:lnTo>
                  <a:cubicBezTo>
                    <a:pt x="1040233" y="0"/>
                    <a:pt x="1058157" y="7424"/>
                    <a:pt x="1071372" y="20640"/>
                  </a:cubicBezTo>
                  <a:cubicBezTo>
                    <a:pt x="1084587" y="33855"/>
                    <a:pt x="1092012" y="51779"/>
                    <a:pt x="1092012" y="70469"/>
                  </a:cubicBezTo>
                  <a:lnTo>
                    <a:pt x="1092012" y="70469"/>
                  </a:lnTo>
                  <a:cubicBezTo>
                    <a:pt x="1092012" y="89158"/>
                    <a:pt x="1084587" y="107082"/>
                    <a:pt x="1071372" y="120297"/>
                  </a:cubicBezTo>
                  <a:cubicBezTo>
                    <a:pt x="1058157" y="133513"/>
                    <a:pt x="1040233" y="140937"/>
                    <a:pt x="1021543" y="140937"/>
                  </a:cubicBezTo>
                  <a:lnTo>
                    <a:pt x="70469" y="140937"/>
                  </a:lnTo>
                  <a:cubicBezTo>
                    <a:pt x="51779" y="140937"/>
                    <a:pt x="33855" y="133513"/>
                    <a:pt x="20640" y="120297"/>
                  </a:cubicBezTo>
                  <a:cubicBezTo>
                    <a:pt x="7424" y="107082"/>
                    <a:pt x="0" y="89158"/>
                    <a:pt x="0" y="70469"/>
                  </a:cubicBezTo>
                  <a:lnTo>
                    <a:pt x="0" y="70469"/>
                  </a:lnTo>
                  <a:cubicBezTo>
                    <a:pt x="0" y="51779"/>
                    <a:pt x="7424" y="33855"/>
                    <a:pt x="20640" y="20640"/>
                  </a:cubicBezTo>
                  <a:cubicBezTo>
                    <a:pt x="33855" y="7424"/>
                    <a:pt x="51779" y="0"/>
                    <a:pt x="70469" y="0"/>
                  </a:cubicBezTo>
                  <a:close/>
                </a:path>
              </a:pathLst>
            </a:custGeom>
            <a:solidFill>
              <a:srgbClr val="5D5491"/>
            </a:solidFill>
            <a:ln cap="rnd">
              <a:noFill/>
              <a:prstDash val="solid"/>
              <a:round/>
            </a:ln>
          </p:spPr>
        </p:sp>
        <p:sp>
          <p:nvSpPr>
            <p:cNvPr name="TextBox 29" id="29"/>
            <p:cNvSpPr txBox="true"/>
            <p:nvPr/>
          </p:nvSpPr>
          <p:spPr>
            <a:xfrm>
              <a:off x="0" y="-200025"/>
              <a:ext cx="1092012" cy="340962"/>
            </a:xfrm>
            <a:prstGeom prst="rect">
              <a:avLst/>
            </a:prstGeom>
          </p:spPr>
          <p:txBody>
            <a:bodyPr anchor="ctr" rtlCol="false" tIns="50800" lIns="50800" bIns="50800" rIns="50800"/>
            <a:lstStyle/>
            <a:p>
              <a:pPr algn="ctr">
                <a:lnSpc>
                  <a:spcPts val="3079"/>
                </a:lnSpc>
              </a:pPr>
            </a:p>
          </p:txBody>
        </p:sp>
      </p:grpSp>
      <p:sp>
        <p:nvSpPr>
          <p:cNvPr name="TextBox 30" id="30"/>
          <p:cNvSpPr txBox="true"/>
          <p:nvPr/>
        </p:nvSpPr>
        <p:spPr>
          <a:xfrm rot="0">
            <a:off x="12712859" y="5593750"/>
            <a:ext cx="4146232" cy="430530"/>
          </a:xfrm>
          <a:prstGeom prst="rect">
            <a:avLst/>
          </a:prstGeom>
        </p:spPr>
        <p:txBody>
          <a:bodyPr anchor="t" rtlCol="false" tIns="0" lIns="0" bIns="0" rIns="0">
            <a:spAutoFit/>
          </a:bodyPr>
          <a:lstStyle/>
          <a:p>
            <a:pPr algn="ctr">
              <a:lnSpc>
                <a:spcPts val="2520"/>
              </a:lnSpc>
              <a:spcBef>
                <a:spcPct val="0"/>
              </a:spcBef>
            </a:pPr>
            <a:r>
              <a:rPr lang="en-US" sz="1800">
                <a:solidFill>
                  <a:srgbClr val="F7F8F9"/>
                </a:solidFill>
                <a:latin typeface="たづがね角ゴシック Info Medium"/>
                <a:ea typeface="たづがね角ゴシック Info Medium"/>
                <a:cs typeface="たづがね角ゴシック Info Medium"/>
                <a:sym typeface="たづがね角ゴシック Info Medium"/>
              </a:rPr>
              <a:t>分析／レポート／行動促進</a:t>
            </a:r>
          </a:p>
        </p:txBody>
      </p:sp>
      <p:sp>
        <p:nvSpPr>
          <p:cNvPr name="TextBox 31" id="31"/>
          <p:cNvSpPr txBox="true"/>
          <p:nvPr/>
        </p:nvSpPr>
        <p:spPr>
          <a:xfrm rot="0">
            <a:off x="1301441" y="1915295"/>
            <a:ext cx="7604434"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成果を、実感あるかたちで可視化</a:t>
            </a:r>
          </a:p>
        </p:txBody>
      </p:sp>
      <p:sp>
        <p:nvSpPr>
          <p:cNvPr name="TextBox 32" id="32"/>
          <p:cNvSpPr txBox="true"/>
          <p:nvPr/>
        </p:nvSpPr>
        <p:spPr>
          <a:xfrm rot="0">
            <a:off x="1047750" y="828675"/>
            <a:ext cx="8096250" cy="577215"/>
          </a:xfrm>
          <a:prstGeom prst="rect">
            <a:avLst/>
          </a:prstGeom>
        </p:spPr>
        <p:txBody>
          <a:bodyPr anchor="t" rtlCol="false" tIns="0" lIns="0" bIns="0" rIns="0">
            <a:spAutoFit/>
          </a:bodyPr>
          <a:lstStyle/>
          <a:p>
            <a:pPr algn="l">
              <a:lnSpc>
                <a:spcPts val="3359"/>
              </a:lnSpc>
              <a:spcBef>
                <a:spcPct val="0"/>
              </a:spcBef>
            </a:pPr>
            <a:r>
              <a:rPr lang="en-US" sz="2400">
                <a:solidFill>
                  <a:srgbClr val="1A2F81"/>
                </a:solidFill>
                <a:latin typeface="たづがね角ゴシック Info"/>
                <a:ea typeface="たづがね角ゴシック Info"/>
                <a:cs typeface="たづがね角ゴシック Info"/>
                <a:sym typeface="たづがね角ゴシック Info"/>
              </a:rPr>
              <a:t>実績サマリー</a:t>
            </a:r>
          </a:p>
        </p:txBody>
      </p:sp>
      <p:sp>
        <p:nvSpPr>
          <p:cNvPr name="TextBox 33" id="33"/>
          <p:cNvSpPr txBox="true"/>
          <p:nvPr/>
        </p:nvSpPr>
        <p:spPr>
          <a:xfrm rot="0">
            <a:off x="9172575" y="1054418"/>
            <a:ext cx="6688237" cy="306705"/>
          </a:xfrm>
          <a:prstGeom prst="rect">
            <a:avLst/>
          </a:prstGeom>
        </p:spPr>
        <p:txBody>
          <a:bodyPr anchor="t" rtlCol="false" tIns="0" lIns="0" bIns="0" rIns="0">
            <a:spAutoFit/>
          </a:bodyPr>
          <a:lstStyle/>
          <a:p>
            <a:pPr algn="r">
              <a:lnSpc>
                <a:spcPts val="2520"/>
              </a:lnSpc>
              <a:spcBef>
                <a:spcPct val="0"/>
              </a:spcBef>
            </a:pPr>
            <a:r>
              <a:rPr lang="en-US" b="true" sz="1800">
                <a:solidFill>
                  <a:srgbClr val="1A2F81"/>
                </a:solidFill>
                <a:latin typeface="Montserrat Medium"/>
                <a:ea typeface="Montserrat Medium"/>
                <a:cs typeface="Montserrat Medium"/>
                <a:sym typeface="Montserrat Medium"/>
              </a:rPr>
              <a:t>Performance Highlights</a:t>
            </a:r>
          </a:p>
        </p:txBody>
      </p:sp>
      <p:grpSp>
        <p:nvGrpSpPr>
          <p:cNvPr name="Group 34" id="34"/>
          <p:cNvGrpSpPr/>
          <p:nvPr/>
        </p:nvGrpSpPr>
        <p:grpSpPr>
          <a:xfrm rot="0">
            <a:off x="1028700" y="3048055"/>
            <a:ext cx="4908550" cy="6191195"/>
            <a:chOff x="0" y="0"/>
            <a:chExt cx="1292787" cy="1630603"/>
          </a:xfrm>
        </p:grpSpPr>
        <p:sp>
          <p:nvSpPr>
            <p:cNvPr name="Freeform 35" id="35"/>
            <p:cNvSpPr/>
            <p:nvPr/>
          </p:nvSpPr>
          <p:spPr>
            <a:xfrm flipH="false" flipV="false" rot="0">
              <a:off x="0" y="0"/>
              <a:ext cx="1292787" cy="1630603"/>
            </a:xfrm>
            <a:custGeom>
              <a:avLst/>
              <a:gdLst/>
              <a:ahLst/>
              <a:cxnLst/>
              <a:rect r="r" b="b" t="t" l="l"/>
              <a:pathLst>
                <a:path h="1630603" w="1292787">
                  <a:moveTo>
                    <a:pt x="0" y="0"/>
                  </a:moveTo>
                  <a:lnTo>
                    <a:pt x="1292787" y="0"/>
                  </a:lnTo>
                  <a:lnTo>
                    <a:pt x="1292787" y="1630603"/>
                  </a:lnTo>
                  <a:lnTo>
                    <a:pt x="0" y="1630603"/>
                  </a:lnTo>
                  <a:close/>
                </a:path>
              </a:pathLst>
            </a:custGeom>
            <a:ln w="19050" cap="sq">
              <a:solidFill>
                <a:srgbClr val="1A2F81"/>
              </a:solidFill>
              <a:prstDash val="solid"/>
              <a:miter/>
            </a:ln>
          </p:spPr>
        </p:sp>
        <p:sp>
          <p:nvSpPr>
            <p:cNvPr name="TextBox 36" id="36"/>
            <p:cNvSpPr txBox="true"/>
            <p:nvPr/>
          </p:nvSpPr>
          <p:spPr>
            <a:xfrm>
              <a:off x="0" y="-200025"/>
              <a:ext cx="1292787" cy="1830628"/>
            </a:xfrm>
            <a:prstGeom prst="rect">
              <a:avLst/>
            </a:prstGeom>
          </p:spPr>
          <p:txBody>
            <a:bodyPr anchor="ctr" rtlCol="false" tIns="50800" lIns="50800" bIns="50800" rIns="50800"/>
            <a:lstStyle/>
            <a:p>
              <a:pPr algn="ctr">
                <a:lnSpc>
                  <a:spcPts val="3079"/>
                </a:lnSpc>
              </a:pPr>
            </a:p>
          </p:txBody>
        </p:sp>
      </p:grpSp>
      <p:sp>
        <p:nvSpPr>
          <p:cNvPr name="Freeform 37" id="37"/>
          <p:cNvSpPr/>
          <p:nvPr/>
        </p:nvSpPr>
        <p:spPr>
          <a:xfrm flipH="false" flipV="false" rot="0">
            <a:off x="14404975" y="3965928"/>
            <a:ext cx="762000" cy="762000"/>
          </a:xfrm>
          <a:custGeom>
            <a:avLst/>
            <a:gdLst/>
            <a:ahLst/>
            <a:cxnLst/>
            <a:rect r="r" b="b" t="t" l="l"/>
            <a:pathLst>
              <a:path h="762000" w="762000">
                <a:moveTo>
                  <a:pt x="0" y="0"/>
                </a:moveTo>
                <a:lnTo>
                  <a:pt x="762000" y="0"/>
                </a:lnTo>
                <a:lnTo>
                  <a:pt x="762000" y="762000"/>
                </a:lnTo>
                <a:lnTo>
                  <a:pt x="0" y="762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8" id="38"/>
          <p:cNvSpPr/>
          <p:nvPr/>
        </p:nvSpPr>
        <p:spPr>
          <a:xfrm flipH="false" flipV="false" rot="0">
            <a:off x="8753475" y="3965928"/>
            <a:ext cx="762000" cy="762000"/>
          </a:xfrm>
          <a:custGeom>
            <a:avLst/>
            <a:gdLst/>
            <a:ahLst/>
            <a:cxnLst/>
            <a:rect r="r" b="b" t="t" l="l"/>
            <a:pathLst>
              <a:path h="762000" w="762000">
                <a:moveTo>
                  <a:pt x="0" y="0"/>
                </a:moveTo>
                <a:lnTo>
                  <a:pt x="762000" y="0"/>
                </a:lnTo>
                <a:lnTo>
                  <a:pt x="762000" y="762000"/>
                </a:lnTo>
                <a:lnTo>
                  <a:pt x="0" y="762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39" id="39"/>
          <p:cNvSpPr/>
          <p:nvPr/>
        </p:nvSpPr>
        <p:spPr>
          <a:xfrm flipH="false" flipV="false" rot="0">
            <a:off x="3206577" y="3965928"/>
            <a:ext cx="552796" cy="762000"/>
          </a:xfrm>
          <a:custGeom>
            <a:avLst/>
            <a:gdLst/>
            <a:ahLst/>
            <a:cxnLst/>
            <a:rect r="r" b="b" t="t" l="l"/>
            <a:pathLst>
              <a:path h="762000" w="552796">
                <a:moveTo>
                  <a:pt x="0" y="0"/>
                </a:moveTo>
                <a:lnTo>
                  <a:pt x="552796" y="0"/>
                </a:lnTo>
                <a:lnTo>
                  <a:pt x="552796" y="762000"/>
                </a:lnTo>
                <a:lnTo>
                  <a:pt x="0" y="7620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0" id="40"/>
          <p:cNvSpPr txBox="true"/>
          <p:nvPr/>
        </p:nvSpPr>
        <p:spPr>
          <a:xfrm rot="0">
            <a:off x="1409859" y="3390928"/>
            <a:ext cx="4146232" cy="323215"/>
          </a:xfrm>
          <a:prstGeom prst="rect">
            <a:avLst/>
          </a:prstGeom>
        </p:spPr>
        <p:txBody>
          <a:bodyPr anchor="t" rtlCol="false" tIns="0" lIns="0" bIns="0" rIns="0">
            <a:spAutoFit/>
          </a:bodyPr>
          <a:lstStyle/>
          <a:p>
            <a:pPr algn="ctr">
              <a:lnSpc>
                <a:spcPts val="2660"/>
              </a:lnSpc>
              <a:spcBef>
                <a:spcPct val="0"/>
              </a:spcBef>
            </a:pPr>
            <a:r>
              <a:rPr lang="en-US" b="true" sz="1900">
                <a:solidFill>
                  <a:srgbClr val="1A2F81"/>
                </a:solidFill>
                <a:latin typeface="Montserrat Semi-Bold"/>
                <a:ea typeface="Montserrat Semi-Bold"/>
                <a:cs typeface="Montserrat Semi-Bold"/>
                <a:sym typeface="Montserrat Semi-Bold"/>
              </a:rPr>
              <a:t>TOPIC 01</a:t>
            </a:r>
          </a:p>
        </p:txBody>
      </p:sp>
      <p:sp>
        <p:nvSpPr>
          <p:cNvPr name="TextBox 41" id="41"/>
          <p:cNvSpPr txBox="true"/>
          <p:nvPr/>
        </p:nvSpPr>
        <p:spPr>
          <a:xfrm rot="0">
            <a:off x="1409859" y="4760638"/>
            <a:ext cx="4146232" cy="577215"/>
          </a:xfrm>
          <a:prstGeom prst="rect">
            <a:avLst/>
          </a:prstGeom>
        </p:spPr>
        <p:txBody>
          <a:bodyPr anchor="t" rtlCol="false" tIns="0" lIns="0" bIns="0" rIns="0">
            <a:spAutoFit/>
          </a:bodyPr>
          <a:lstStyle/>
          <a:p>
            <a:pPr algn="ctr">
              <a:lnSpc>
                <a:spcPts val="3359"/>
              </a:lnSpc>
              <a:spcBef>
                <a:spcPct val="0"/>
              </a:spcBef>
            </a:pPr>
            <a:r>
              <a:rPr lang="en-US" b="true" sz="2399">
                <a:solidFill>
                  <a:srgbClr val="1A2F81"/>
                </a:solidFill>
                <a:latin typeface="たづがね角ゴシック Info Bold"/>
                <a:ea typeface="たづがね角ゴシック Info Bold"/>
                <a:cs typeface="たづがね角ゴシック Info Bold"/>
                <a:sym typeface="たづがね角ゴシック Info Bold"/>
              </a:rPr>
              <a:t>提案資料テンプレートの整備</a:t>
            </a:r>
          </a:p>
        </p:txBody>
      </p:sp>
      <p:sp>
        <p:nvSpPr>
          <p:cNvPr name="TextBox 42" id="42"/>
          <p:cNvSpPr txBox="true"/>
          <p:nvPr/>
        </p:nvSpPr>
        <p:spPr>
          <a:xfrm rot="0">
            <a:off x="1409859" y="6251603"/>
            <a:ext cx="4146232" cy="2606675"/>
          </a:xfrm>
          <a:prstGeom prst="rect">
            <a:avLst/>
          </a:prstGeom>
        </p:spPr>
        <p:txBody>
          <a:bodyPr anchor="t" rtlCol="false" tIns="0" lIns="0" bIns="0" rIns="0">
            <a:spAutoFit/>
          </a:bodyPr>
          <a:lstStyle/>
          <a:p>
            <a:pPr algn="just">
              <a:lnSpc>
                <a:spcPts val="2800"/>
              </a:lnSpc>
              <a:spcBef>
                <a:spcPct val="0"/>
              </a:spcBef>
            </a:pPr>
            <a:r>
              <a:rPr lang="en-US" sz="2000">
                <a:solidFill>
                  <a:srgbClr val="010817"/>
                </a:solidFill>
                <a:latin typeface="たづがね角ゴシック Info"/>
                <a:ea typeface="たづがね角ゴシック Info"/>
                <a:cs typeface="たづがね角ゴシック Info"/>
                <a:sym typeface="たづがね角ゴシック Info"/>
              </a:rPr>
              <a:t>社内共有用の資料テンプレートを新たに6種類作成し、共有フォルダに整備。導入1ヶ月での使用率は85％を超え、全体の作成工数は約30％削減されました。資料の品質と表現の統一感が向上し、部門間の情報共有もスムーズに。</a:t>
            </a:r>
          </a:p>
        </p:txBody>
      </p:sp>
      <p:grpSp>
        <p:nvGrpSpPr>
          <p:cNvPr name="Group 43" id="43"/>
          <p:cNvGrpSpPr/>
          <p:nvPr/>
        </p:nvGrpSpPr>
        <p:grpSpPr>
          <a:xfrm rot="0">
            <a:off x="1409859" y="5622417"/>
            <a:ext cx="4146232" cy="535121"/>
            <a:chOff x="0" y="0"/>
            <a:chExt cx="1092012" cy="140937"/>
          </a:xfrm>
        </p:grpSpPr>
        <p:sp>
          <p:nvSpPr>
            <p:cNvPr name="Freeform 44" id="44"/>
            <p:cNvSpPr/>
            <p:nvPr/>
          </p:nvSpPr>
          <p:spPr>
            <a:xfrm flipH="false" flipV="false" rot="0">
              <a:off x="0" y="0"/>
              <a:ext cx="1092012" cy="140937"/>
            </a:xfrm>
            <a:custGeom>
              <a:avLst/>
              <a:gdLst/>
              <a:ahLst/>
              <a:cxnLst/>
              <a:rect r="r" b="b" t="t" l="l"/>
              <a:pathLst>
                <a:path h="140937" w="1092012">
                  <a:moveTo>
                    <a:pt x="70469" y="0"/>
                  </a:moveTo>
                  <a:lnTo>
                    <a:pt x="1021543" y="0"/>
                  </a:lnTo>
                  <a:cubicBezTo>
                    <a:pt x="1040233" y="0"/>
                    <a:pt x="1058157" y="7424"/>
                    <a:pt x="1071372" y="20640"/>
                  </a:cubicBezTo>
                  <a:cubicBezTo>
                    <a:pt x="1084587" y="33855"/>
                    <a:pt x="1092012" y="51779"/>
                    <a:pt x="1092012" y="70469"/>
                  </a:cubicBezTo>
                  <a:lnTo>
                    <a:pt x="1092012" y="70469"/>
                  </a:lnTo>
                  <a:cubicBezTo>
                    <a:pt x="1092012" y="89158"/>
                    <a:pt x="1084587" y="107082"/>
                    <a:pt x="1071372" y="120297"/>
                  </a:cubicBezTo>
                  <a:cubicBezTo>
                    <a:pt x="1058157" y="133513"/>
                    <a:pt x="1040233" y="140937"/>
                    <a:pt x="1021543" y="140937"/>
                  </a:cubicBezTo>
                  <a:lnTo>
                    <a:pt x="70469" y="140937"/>
                  </a:lnTo>
                  <a:cubicBezTo>
                    <a:pt x="51779" y="140937"/>
                    <a:pt x="33855" y="133513"/>
                    <a:pt x="20640" y="120297"/>
                  </a:cubicBezTo>
                  <a:cubicBezTo>
                    <a:pt x="7424" y="107082"/>
                    <a:pt x="0" y="89158"/>
                    <a:pt x="0" y="70469"/>
                  </a:cubicBezTo>
                  <a:lnTo>
                    <a:pt x="0" y="70469"/>
                  </a:lnTo>
                  <a:cubicBezTo>
                    <a:pt x="0" y="51779"/>
                    <a:pt x="7424" y="33855"/>
                    <a:pt x="20640" y="20640"/>
                  </a:cubicBezTo>
                  <a:cubicBezTo>
                    <a:pt x="33855" y="7424"/>
                    <a:pt x="51779" y="0"/>
                    <a:pt x="70469" y="0"/>
                  </a:cubicBezTo>
                  <a:close/>
                </a:path>
              </a:pathLst>
            </a:custGeom>
            <a:solidFill>
              <a:srgbClr val="1A2F81"/>
            </a:solidFill>
            <a:ln cap="rnd">
              <a:noFill/>
              <a:prstDash val="solid"/>
              <a:round/>
            </a:ln>
          </p:spPr>
        </p:sp>
        <p:sp>
          <p:nvSpPr>
            <p:cNvPr name="TextBox 45" id="45"/>
            <p:cNvSpPr txBox="true"/>
            <p:nvPr/>
          </p:nvSpPr>
          <p:spPr>
            <a:xfrm>
              <a:off x="0" y="-200025"/>
              <a:ext cx="1092012" cy="340962"/>
            </a:xfrm>
            <a:prstGeom prst="rect">
              <a:avLst/>
            </a:prstGeom>
          </p:spPr>
          <p:txBody>
            <a:bodyPr anchor="ctr" rtlCol="false" tIns="50800" lIns="50800" bIns="50800" rIns="50800"/>
            <a:lstStyle/>
            <a:p>
              <a:pPr algn="ctr">
                <a:lnSpc>
                  <a:spcPts val="3079"/>
                </a:lnSpc>
              </a:pPr>
            </a:p>
          </p:txBody>
        </p:sp>
      </p:grpSp>
      <p:sp>
        <p:nvSpPr>
          <p:cNvPr name="TextBox 46" id="46"/>
          <p:cNvSpPr txBox="true"/>
          <p:nvPr/>
        </p:nvSpPr>
        <p:spPr>
          <a:xfrm rot="0">
            <a:off x="1409859" y="5593750"/>
            <a:ext cx="4146232" cy="430530"/>
          </a:xfrm>
          <a:prstGeom prst="rect">
            <a:avLst/>
          </a:prstGeom>
        </p:spPr>
        <p:txBody>
          <a:bodyPr anchor="t" rtlCol="false" tIns="0" lIns="0" bIns="0" rIns="0">
            <a:spAutoFit/>
          </a:bodyPr>
          <a:lstStyle/>
          <a:p>
            <a:pPr algn="ctr">
              <a:lnSpc>
                <a:spcPts val="2520"/>
              </a:lnSpc>
              <a:spcBef>
                <a:spcPct val="0"/>
              </a:spcBef>
            </a:pPr>
            <a:r>
              <a:rPr lang="en-US" sz="1800">
                <a:solidFill>
                  <a:srgbClr val="F7F8F9"/>
                </a:solidFill>
                <a:latin typeface="たづがね角ゴシック Info Medium"/>
                <a:ea typeface="たづがね角ゴシック Info Medium"/>
                <a:cs typeface="たづがね角ゴシック Info Medium"/>
                <a:sym typeface="たづがね角ゴシック Info Medium"/>
              </a:rPr>
              <a:t>業務効率化／資料作成／社内共有</a:t>
            </a:r>
          </a:p>
        </p:txBody>
      </p:sp>
      <p:sp>
        <p:nvSpPr>
          <p:cNvPr name="TextBox 47" id="47"/>
          <p:cNvSpPr txBox="true"/>
          <p:nvPr/>
        </p:nvSpPr>
        <p:spPr>
          <a:xfrm rot="0">
            <a:off x="7061359" y="3390928"/>
            <a:ext cx="4146232" cy="323215"/>
          </a:xfrm>
          <a:prstGeom prst="rect">
            <a:avLst/>
          </a:prstGeom>
        </p:spPr>
        <p:txBody>
          <a:bodyPr anchor="t" rtlCol="false" tIns="0" lIns="0" bIns="0" rIns="0">
            <a:spAutoFit/>
          </a:bodyPr>
          <a:lstStyle/>
          <a:p>
            <a:pPr algn="ctr">
              <a:lnSpc>
                <a:spcPts val="2660"/>
              </a:lnSpc>
              <a:spcBef>
                <a:spcPct val="0"/>
              </a:spcBef>
            </a:pPr>
            <a:r>
              <a:rPr lang="en-US" b="true" sz="1900">
                <a:solidFill>
                  <a:srgbClr val="086B89"/>
                </a:solidFill>
                <a:latin typeface="Montserrat Semi-Bold"/>
                <a:ea typeface="Montserrat Semi-Bold"/>
                <a:cs typeface="Montserrat Semi-Bold"/>
                <a:sym typeface="Montserrat Semi-Bold"/>
              </a:rPr>
              <a:t>TOPIC 02</a:t>
            </a:r>
          </a:p>
        </p:txBody>
      </p:sp>
      <p:sp>
        <p:nvSpPr>
          <p:cNvPr name="TextBox 48" id="48"/>
          <p:cNvSpPr txBox="true"/>
          <p:nvPr/>
        </p:nvSpPr>
        <p:spPr>
          <a:xfrm rot="0">
            <a:off x="7061359" y="4760638"/>
            <a:ext cx="4146232" cy="577215"/>
          </a:xfrm>
          <a:prstGeom prst="rect">
            <a:avLst/>
          </a:prstGeom>
        </p:spPr>
        <p:txBody>
          <a:bodyPr anchor="t" rtlCol="false" tIns="0" lIns="0" bIns="0" rIns="0">
            <a:spAutoFit/>
          </a:bodyPr>
          <a:lstStyle/>
          <a:p>
            <a:pPr algn="ctr">
              <a:lnSpc>
                <a:spcPts val="3359"/>
              </a:lnSpc>
              <a:spcBef>
                <a:spcPct val="0"/>
              </a:spcBef>
            </a:pPr>
            <a:r>
              <a:rPr lang="en-US" b="true" sz="2399">
                <a:solidFill>
                  <a:srgbClr val="086B89"/>
                </a:solidFill>
                <a:latin typeface="たづがね角ゴシック Info Bold"/>
                <a:ea typeface="たづがね角ゴシック Info Bold"/>
                <a:cs typeface="たづがね角ゴシック Info Bold"/>
                <a:sym typeface="たづがね角ゴシック Info Bold"/>
              </a:rPr>
              <a:t>月次セミナーの定着化</a:t>
            </a:r>
          </a:p>
        </p:txBody>
      </p:sp>
      <p:sp>
        <p:nvSpPr>
          <p:cNvPr name="TextBox 49" id="49"/>
          <p:cNvSpPr txBox="true"/>
          <p:nvPr/>
        </p:nvSpPr>
        <p:spPr>
          <a:xfrm rot="0">
            <a:off x="7061359" y="6251603"/>
            <a:ext cx="4146232" cy="2606675"/>
          </a:xfrm>
          <a:prstGeom prst="rect">
            <a:avLst/>
          </a:prstGeom>
        </p:spPr>
        <p:txBody>
          <a:bodyPr anchor="t" rtlCol="false" tIns="0" lIns="0" bIns="0" rIns="0">
            <a:spAutoFit/>
          </a:bodyPr>
          <a:lstStyle/>
          <a:p>
            <a:pPr algn="just" marL="0" indent="0" lvl="0">
              <a:lnSpc>
                <a:spcPts val="2800"/>
              </a:lnSpc>
              <a:spcBef>
                <a:spcPct val="0"/>
              </a:spcBef>
            </a:pPr>
            <a:r>
              <a:rPr lang="en-US" sz="2000" strike="noStrike" u="none">
                <a:solidFill>
                  <a:srgbClr val="010817"/>
                </a:solidFill>
                <a:latin typeface="たづがね角ゴシック Info"/>
                <a:ea typeface="たづがね角ゴシック Info"/>
                <a:cs typeface="たづがね角ゴシック Info"/>
                <a:sym typeface="たづがね角ゴシック Info"/>
              </a:rPr>
              <a:t>業務知識の底上げを目的に、毎月1回の社内セミナーを定例開催。</a:t>
            </a:r>
          </a:p>
          <a:p>
            <a:pPr algn="just" marL="0" indent="0" lvl="0">
              <a:lnSpc>
                <a:spcPts val="2800"/>
              </a:lnSpc>
              <a:spcBef>
                <a:spcPct val="0"/>
              </a:spcBef>
            </a:pPr>
            <a:r>
              <a:rPr lang="en-US" sz="2000" strike="noStrike" u="none">
                <a:solidFill>
                  <a:srgbClr val="010817"/>
                </a:solidFill>
                <a:latin typeface="たづがね角ゴシック Info"/>
                <a:ea typeface="たづがね角ゴシック Info"/>
                <a:cs typeface="たづがね角ゴシック Info"/>
                <a:sym typeface="たづがね角ゴシック Info"/>
              </a:rPr>
              <a:t>上半期で計6回を実施し、参加率は平均82％を記録。実務部門からは「翌日から活かせる内容だった」との声も多く、社内のナレッジ共有文化の醸成に寄与しています。</a:t>
            </a:r>
          </a:p>
        </p:txBody>
      </p:sp>
      <p:grpSp>
        <p:nvGrpSpPr>
          <p:cNvPr name="Group 50" id="50"/>
          <p:cNvGrpSpPr/>
          <p:nvPr/>
        </p:nvGrpSpPr>
        <p:grpSpPr>
          <a:xfrm rot="0">
            <a:off x="7061359" y="5622417"/>
            <a:ext cx="4146232" cy="535121"/>
            <a:chOff x="0" y="0"/>
            <a:chExt cx="1092012" cy="140937"/>
          </a:xfrm>
        </p:grpSpPr>
        <p:sp>
          <p:nvSpPr>
            <p:cNvPr name="Freeform 51" id="51"/>
            <p:cNvSpPr/>
            <p:nvPr/>
          </p:nvSpPr>
          <p:spPr>
            <a:xfrm flipH="false" flipV="false" rot="0">
              <a:off x="0" y="0"/>
              <a:ext cx="1092012" cy="140937"/>
            </a:xfrm>
            <a:custGeom>
              <a:avLst/>
              <a:gdLst/>
              <a:ahLst/>
              <a:cxnLst/>
              <a:rect r="r" b="b" t="t" l="l"/>
              <a:pathLst>
                <a:path h="140937" w="1092012">
                  <a:moveTo>
                    <a:pt x="70469" y="0"/>
                  </a:moveTo>
                  <a:lnTo>
                    <a:pt x="1021543" y="0"/>
                  </a:lnTo>
                  <a:cubicBezTo>
                    <a:pt x="1040233" y="0"/>
                    <a:pt x="1058157" y="7424"/>
                    <a:pt x="1071372" y="20640"/>
                  </a:cubicBezTo>
                  <a:cubicBezTo>
                    <a:pt x="1084587" y="33855"/>
                    <a:pt x="1092012" y="51779"/>
                    <a:pt x="1092012" y="70469"/>
                  </a:cubicBezTo>
                  <a:lnTo>
                    <a:pt x="1092012" y="70469"/>
                  </a:lnTo>
                  <a:cubicBezTo>
                    <a:pt x="1092012" y="89158"/>
                    <a:pt x="1084587" y="107082"/>
                    <a:pt x="1071372" y="120297"/>
                  </a:cubicBezTo>
                  <a:cubicBezTo>
                    <a:pt x="1058157" y="133513"/>
                    <a:pt x="1040233" y="140937"/>
                    <a:pt x="1021543" y="140937"/>
                  </a:cubicBezTo>
                  <a:lnTo>
                    <a:pt x="70469" y="140937"/>
                  </a:lnTo>
                  <a:cubicBezTo>
                    <a:pt x="51779" y="140937"/>
                    <a:pt x="33855" y="133513"/>
                    <a:pt x="20640" y="120297"/>
                  </a:cubicBezTo>
                  <a:cubicBezTo>
                    <a:pt x="7424" y="107082"/>
                    <a:pt x="0" y="89158"/>
                    <a:pt x="0" y="70469"/>
                  </a:cubicBezTo>
                  <a:lnTo>
                    <a:pt x="0" y="70469"/>
                  </a:lnTo>
                  <a:cubicBezTo>
                    <a:pt x="0" y="51779"/>
                    <a:pt x="7424" y="33855"/>
                    <a:pt x="20640" y="20640"/>
                  </a:cubicBezTo>
                  <a:cubicBezTo>
                    <a:pt x="33855" y="7424"/>
                    <a:pt x="51779" y="0"/>
                    <a:pt x="70469" y="0"/>
                  </a:cubicBezTo>
                  <a:close/>
                </a:path>
              </a:pathLst>
            </a:custGeom>
            <a:solidFill>
              <a:srgbClr val="086B89"/>
            </a:solidFill>
            <a:ln cap="rnd">
              <a:noFill/>
              <a:prstDash val="solid"/>
              <a:round/>
            </a:ln>
          </p:spPr>
        </p:sp>
        <p:sp>
          <p:nvSpPr>
            <p:cNvPr name="TextBox 52" id="52"/>
            <p:cNvSpPr txBox="true"/>
            <p:nvPr/>
          </p:nvSpPr>
          <p:spPr>
            <a:xfrm>
              <a:off x="0" y="-200025"/>
              <a:ext cx="1092012" cy="340962"/>
            </a:xfrm>
            <a:prstGeom prst="rect">
              <a:avLst/>
            </a:prstGeom>
          </p:spPr>
          <p:txBody>
            <a:bodyPr anchor="ctr" rtlCol="false" tIns="50800" lIns="50800" bIns="50800" rIns="50800"/>
            <a:lstStyle/>
            <a:p>
              <a:pPr algn="ctr">
                <a:lnSpc>
                  <a:spcPts val="3079"/>
                </a:lnSpc>
              </a:pPr>
            </a:p>
          </p:txBody>
        </p:sp>
      </p:grpSp>
      <p:sp>
        <p:nvSpPr>
          <p:cNvPr name="TextBox 53" id="53"/>
          <p:cNvSpPr txBox="true"/>
          <p:nvPr/>
        </p:nvSpPr>
        <p:spPr>
          <a:xfrm rot="0">
            <a:off x="7061359" y="5593750"/>
            <a:ext cx="4146232" cy="430530"/>
          </a:xfrm>
          <a:prstGeom prst="rect">
            <a:avLst/>
          </a:prstGeom>
        </p:spPr>
        <p:txBody>
          <a:bodyPr anchor="t" rtlCol="false" tIns="0" lIns="0" bIns="0" rIns="0">
            <a:spAutoFit/>
          </a:bodyPr>
          <a:lstStyle/>
          <a:p>
            <a:pPr algn="ctr">
              <a:lnSpc>
                <a:spcPts val="2520"/>
              </a:lnSpc>
              <a:spcBef>
                <a:spcPct val="0"/>
              </a:spcBef>
            </a:pPr>
            <a:r>
              <a:rPr lang="en-US" sz="1800">
                <a:solidFill>
                  <a:srgbClr val="F7F8F9"/>
                </a:solidFill>
                <a:latin typeface="たづがね角ゴシック Info Medium"/>
                <a:ea typeface="たづがね角ゴシック Info Medium"/>
                <a:cs typeface="たづがね角ゴシック Info Medium"/>
                <a:sym typeface="たづがね角ゴシック Info Medium"/>
              </a:rPr>
              <a:t>社内教育／ナレッジ共有／学び</a:t>
            </a:r>
          </a:p>
        </p:txBody>
      </p:sp>
      <p:grpSp>
        <p:nvGrpSpPr>
          <p:cNvPr name="Group 54" id="54"/>
          <p:cNvGrpSpPr/>
          <p:nvPr/>
        </p:nvGrpSpPr>
        <p:grpSpPr>
          <a:xfrm rot="0">
            <a:off x="6680200" y="3048055"/>
            <a:ext cx="4908550" cy="95222"/>
            <a:chOff x="0" y="0"/>
            <a:chExt cx="1292787" cy="25079"/>
          </a:xfrm>
        </p:grpSpPr>
        <p:sp>
          <p:nvSpPr>
            <p:cNvPr name="Freeform 55" id="55"/>
            <p:cNvSpPr/>
            <p:nvPr/>
          </p:nvSpPr>
          <p:spPr>
            <a:xfrm flipH="false" flipV="false" rot="0">
              <a:off x="0" y="0"/>
              <a:ext cx="1292787" cy="25079"/>
            </a:xfrm>
            <a:custGeom>
              <a:avLst/>
              <a:gdLst/>
              <a:ahLst/>
              <a:cxnLst/>
              <a:rect r="r" b="b" t="t" l="l"/>
              <a:pathLst>
                <a:path h="25079" w="1292787">
                  <a:moveTo>
                    <a:pt x="0" y="0"/>
                  </a:moveTo>
                  <a:lnTo>
                    <a:pt x="1292787" y="0"/>
                  </a:lnTo>
                  <a:lnTo>
                    <a:pt x="1292787" y="25079"/>
                  </a:lnTo>
                  <a:lnTo>
                    <a:pt x="0" y="25079"/>
                  </a:lnTo>
                  <a:close/>
                </a:path>
              </a:pathLst>
            </a:custGeom>
            <a:solidFill>
              <a:srgbClr val="086B89"/>
            </a:solidFill>
            <a:ln cap="sq">
              <a:noFill/>
              <a:prstDash val="solid"/>
              <a:miter/>
            </a:ln>
          </p:spPr>
        </p:sp>
        <p:sp>
          <p:nvSpPr>
            <p:cNvPr name="TextBox 56" id="56"/>
            <p:cNvSpPr txBox="true"/>
            <p:nvPr/>
          </p:nvSpPr>
          <p:spPr>
            <a:xfrm>
              <a:off x="0" y="-200025"/>
              <a:ext cx="1292787" cy="225104"/>
            </a:xfrm>
            <a:prstGeom prst="rect">
              <a:avLst/>
            </a:prstGeom>
          </p:spPr>
          <p:txBody>
            <a:bodyPr anchor="ctr" rtlCol="false" tIns="50800" lIns="50800" bIns="50800" rIns="50800"/>
            <a:lstStyle/>
            <a:p>
              <a:pPr algn="ctr">
                <a:lnSpc>
                  <a:spcPts val="3079"/>
                </a:lnSpc>
              </a:pPr>
            </a:p>
          </p:txBody>
        </p:sp>
      </p:grpSp>
      <p:grpSp>
        <p:nvGrpSpPr>
          <p:cNvPr name="Group 57" id="57"/>
          <p:cNvGrpSpPr/>
          <p:nvPr/>
        </p:nvGrpSpPr>
        <p:grpSpPr>
          <a:xfrm rot="0">
            <a:off x="12331700" y="3048055"/>
            <a:ext cx="4908550" cy="95222"/>
            <a:chOff x="0" y="0"/>
            <a:chExt cx="1292787" cy="25079"/>
          </a:xfrm>
        </p:grpSpPr>
        <p:sp>
          <p:nvSpPr>
            <p:cNvPr name="Freeform 58" id="58"/>
            <p:cNvSpPr/>
            <p:nvPr/>
          </p:nvSpPr>
          <p:spPr>
            <a:xfrm flipH="false" flipV="false" rot="0">
              <a:off x="0" y="0"/>
              <a:ext cx="1292787" cy="25079"/>
            </a:xfrm>
            <a:custGeom>
              <a:avLst/>
              <a:gdLst/>
              <a:ahLst/>
              <a:cxnLst/>
              <a:rect r="r" b="b" t="t" l="l"/>
              <a:pathLst>
                <a:path h="25079" w="1292787">
                  <a:moveTo>
                    <a:pt x="0" y="0"/>
                  </a:moveTo>
                  <a:lnTo>
                    <a:pt x="1292787" y="0"/>
                  </a:lnTo>
                  <a:lnTo>
                    <a:pt x="1292787" y="25079"/>
                  </a:lnTo>
                  <a:lnTo>
                    <a:pt x="0" y="25079"/>
                  </a:lnTo>
                  <a:close/>
                </a:path>
              </a:pathLst>
            </a:custGeom>
            <a:solidFill>
              <a:srgbClr val="5D5491"/>
            </a:solidFill>
            <a:ln cap="sq">
              <a:noFill/>
              <a:prstDash val="solid"/>
              <a:miter/>
            </a:ln>
          </p:spPr>
        </p:sp>
        <p:sp>
          <p:nvSpPr>
            <p:cNvPr name="TextBox 59" id="59"/>
            <p:cNvSpPr txBox="true"/>
            <p:nvPr/>
          </p:nvSpPr>
          <p:spPr>
            <a:xfrm>
              <a:off x="0" y="-200025"/>
              <a:ext cx="1292787" cy="225104"/>
            </a:xfrm>
            <a:prstGeom prst="rect">
              <a:avLst/>
            </a:prstGeom>
          </p:spPr>
          <p:txBody>
            <a:bodyPr anchor="ctr" rtlCol="false" tIns="50800" lIns="50800" bIns="50800" rIns="50800"/>
            <a:lstStyle/>
            <a:p>
              <a:pPr algn="ctr">
                <a:lnSpc>
                  <a:spcPts val="3079"/>
                </a:lnSpc>
              </a:pPr>
            </a:p>
          </p:txBody>
        </p:sp>
      </p:grpSp>
      <p:grpSp>
        <p:nvGrpSpPr>
          <p:cNvPr name="Group 60" id="60"/>
          <p:cNvGrpSpPr/>
          <p:nvPr/>
        </p:nvGrpSpPr>
        <p:grpSpPr>
          <a:xfrm rot="0">
            <a:off x="1028700" y="3048055"/>
            <a:ext cx="4908550" cy="95222"/>
            <a:chOff x="0" y="0"/>
            <a:chExt cx="1292787" cy="25079"/>
          </a:xfrm>
        </p:grpSpPr>
        <p:sp>
          <p:nvSpPr>
            <p:cNvPr name="Freeform 61" id="61"/>
            <p:cNvSpPr/>
            <p:nvPr/>
          </p:nvSpPr>
          <p:spPr>
            <a:xfrm flipH="false" flipV="false" rot="0">
              <a:off x="0" y="0"/>
              <a:ext cx="1292787" cy="25079"/>
            </a:xfrm>
            <a:custGeom>
              <a:avLst/>
              <a:gdLst/>
              <a:ahLst/>
              <a:cxnLst/>
              <a:rect r="r" b="b" t="t" l="l"/>
              <a:pathLst>
                <a:path h="25079" w="1292787">
                  <a:moveTo>
                    <a:pt x="0" y="0"/>
                  </a:moveTo>
                  <a:lnTo>
                    <a:pt x="1292787" y="0"/>
                  </a:lnTo>
                  <a:lnTo>
                    <a:pt x="1292787" y="25079"/>
                  </a:lnTo>
                  <a:lnTo>
                    <a:pt x="0" y="25079"/>
                  </a:lnTo>
                  <a:close/>
                </a:path>
              </a:pathLst>
            </a:custGeom>
            <a:solidFill>
              <a:srgbClr val="1A2F81"/>
            </a:solidFill>
            <a:ln cap="sq">
              <a:noFill/>
              <a:prstDash val="solid"/>
              <a:miter/>
            </a:ln>
          </p:spPr>
        </p:sp>
        <p:sp>
          <p:nvSpPr>
            <p:cNvPr name="TextBox 62" id="62"/>
            <p:cNvSpPr txBox="true"/>
            <p:nvPr/>
          </p:nvSpPr>
          <p:spPr>
            <a:xfrm>
              <a:off x="0" y="-200025"/>
              <a:ext cx="1292787" cy="225104"/>
            </a:xfrm>
            <a:prstGeom prst="rect">
              <a:avLst/>
            </a:prstGeom>
          </p:spPr>
          <p:txBody>
            <a:bodyPr anchor="ctr" rtlCol="false" tIns="50800" lIns="50800" bIns="50800" rIns="50800"/>
            <a:lstStyle/>
            <a:p>
              <a:pPr algn="ctr">
                <a:lnSpc>
                  <a:spcPts val="3079"/>
                </a:lnSpc>
              </a:pP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7F8F9"/>
        </a:solidFill>
      </p:bgPr>
    </p:bg>
    <p:spTree>
      <p:nvGrpSpPr>
        <p:cNvPr id="1" name=""/>
        <p:cNvGrpSpPr/>
        <p:nvPr/>
      </p:nvGrpSpPr>
      <p:grpSpPr>
        <a:xfrm>
          <a:off x="0" y="0"/>
          <a:ext cx="0" cy="0"/>
          <a:chOff x="0" y="0"/>
          <a:chExt cx="0" cy="0"/>
        </a:xfrm>
      </p:grpSpPr>
      <p:grpSp>
        <p:nvGrpSpPr>
          <p:cNvPr name="Group 2" id="2"/>
          <p:cNvGrpSpPr/>
          <p:nvPr/>
        </p:nvGrpSpPr>
        <p:grpSpPr>
          <a:xfrm rot="0">
            <a:off x="1047750" y="2144053"/>
            <a:ext cx="95250" cy="481013"/>
            <a:chOff x="0" y="0"/>
            <a:chExt cx="19464" cy="98292"/>
          </a:xfrm>
        </p:grpSpPr>
        <p:sp>
          <p:nvSpPr>
            <p:cNvPr name="Freeform 3" id="3"/>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4" id="4"/>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grpSp>
        <p:nvGrpSpPr>
          <p:cNvPr name="Group 5" id="5"/>
          <p:cNvGrpSpPr/>
          <p:nvPr/>
        </p:nvGrpSpPr>
        <p:grpSpPr>
          <a:xfrm rot="0">
            <a:off x="16063860" y="1132115"/>
            <a:ext cx="1177622" cy="189410"/>
            <a:chOff x="0" y="0"/>
            <a:chExt cx="1570163" cy="252547"/>
          </a:xfrm>
        </p:grpSpPr>
        <p:grpSp>
          <p:nvGrpSpPr>
            <p:cNvPr name="Group 6" id="6"/>
            <p:cNvGrpSpPr/>
            <p:nvPr/>
          </p:nvGrpSpPr>
          <p:grpSpPr>
            <a:xfrm rot="0">
              <a:off x="0" y="0"/>
              <a:ext cx="252547" cy="252547"/>
              <a:chOff x="0" y="0"/>
              <a:chExt cx="81040" cy="81040"/>
            </a:xfrm>
          </p:grpSpPr>
          <p:sp>
            <p:nvSpPr>
              <p:cNvPr name="Freeform 7" id="7"/>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8" id="8"/>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9" id="9"/>
            <p:cNvGrpSpPr/>
            <p:nvPr/>
          </p:nvGrpSpPr>
          <p:grpSpPr>
            <a:xfrm rot="0">
              <a:off x="439205" y="0"/>
              <a:ext cx="252547" cy="252547"/>
              <a:chOff x="0" y="0"/>
              <a:chExt cx="81040" cy="81040"/>
            </a:xfrm>
          </p:grpSpPr>
          <p:sp>
            <p:nvSpPr>
              <p:cNvPr name="Freeform 10" id="10"/>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1" id="11"/>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2" id="12"/>
            <p:cNvGrpSpPr/>
            <p:nvPr/>
          </p:nvGrpSpPr>
          <p:grpSpPr>
            <a:xfrm rot="0">
              <a:off x="878410" y="0"/>
              <a:ext cx="252547" cy="252547"/>
              <a:chOff x="0" y="0"/>
              <a:chExt cx="81040" cy="81040"/>
            </a:xfrm>
          </p:grpSpPr>
          <p:sp>
            <p:nvSpPr>
              <p:cNvPr name="Freeform 13" id="13"/>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4" id="14"/>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5" id="15"/>
            <p:cNvGrpSpPr/>
            <p:nvPr/>
          </p:nvGrpSpPr>
          <p:grpSpPr>
            <a:xfrm rot="0">
              <a:off x="1317615" y="0"/>
              <a:ext cx="252547" cy="252547"/>
              <a:chOff x="0" y="0"/>
              <a:chExt cx="81040" cy="81040"/>
            </a:xfrm>
          </p:grpSpPr>
          <p:sp>
            <p:nvSpPr>
              <p:cNvPr name="Freeform 16" id="16"/>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7" id="17"/>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grpSp>
        <p:nvGrpSpPr>
          <p:cNvPr name="Group 18" id="18"/>
          <p:cNvGrpSpPr/>
          <p:nvPr/>
        </p:nvGrpSpPr>
        <p:grpSpPr>
          <a:xfrm rot="0">
            <a:off x="2305050" y="3048055"/>
            <a:ext cx="14954250" cy="1380173"/>
            <a:chOff x="0" y="0"/>
            <a:chExt cx="3938568" cy="363502"/>
          </a:xfrm>
        </p:grpSpPr>
        <p:sp>
          <p:nvSpPr>
            <p:cNvPr name="Freeform 19" id="19"/>
            <p:cNvSpPr/>
            <p:nvPr/>
          </p:nvSpPr>
          <p:spPr>
            <a:xfrm flipH="false" flipV="false" rot="0">
              <a:off x="0" y="0"/>
              <a:ext cx="3938568" cy="363502"/>
            </a:xfrm>
            <a:custGeom>
              <a:avLst/>
              <a:gdLst/>
              <a:ahLst/>
              <a:cxnLst/>
              <a:rect r="r" b="b" t="t" l="l"/>
              <a:pathLst>
                <a:path h="363502" w="3938568">
                  <a:moveTo>
                    <a:pt x="0" y="0"/>
                  </a:moveTo>
                  <a:lnTo>
                    <a:pt x="3938568" y="0"/>
                  </a:lnTo>
                  <a:lnTo>
                    <a:pt x="3938568" y="363502"/>
                  </a:lnTo>
                  <a:lnTo>
                    <a:pt x="0" y="363502"/>
                  </a:lnTo>
                  <a:close/>
                </a:path>
              </a:pathLst>
            </a:custGeom>
            <a:ln w="19050" cap="sq">
              <a:solidFill>
                <a:srgbClr val="555555"/>
              </a:solidFill>
              <a:prstDash val="solid"/>
              <a:miter/>
            </a:ln>
          </p:spPr>
        </p:sp>
        <p:sp>
          <p:nvSpPr>
            <p:cNvPr name="TextBox 20" id="20"/>
            <p:cNvSpPr txBox="true"/>
            <p:nvPr/>
          </p:nvSpPr>
          <p:spPr>
            <a:xfrm>
              <a:off x="0" y="-200025"/>
              <a:ext cx="3938568" cy="563527"/>
            </a:xfrm>
            <a:prstGeom prst="rect">
              <a:avLst/>
            </a:prstGeom>
          </p:spPr>
          <p:txBody>
            <a:bodyPr anchor="ctr" rtlCol="false" tIns="50800" lIns="50800" bIns="50800" rIns="50800"/>
            <a:lstStyle/>
            <a:p>
              <a:pPr algn="ctr">
                <a:lnSpc>
                  <a:spcPts val="3079"/>
                </a:lnSpc>
              </a:pPr>
            </a:p>
          </p:txBody>
        </p:sp>
      </p:grpSp>
      <p:grpSp>
        <p:nvGrpSpPr>
          <p:cNvPr name="Group 21" id="21"/>
          <p:cNvGrpSpPr/>
          <p:nvPr/>
        </p:nvGrpSpPr>
        <p:grpSpPr>
          <a:xfrm rot="0">
            <a:off x="2305050" y="4658079"/>
            <a:ext cx="14954250" cy="1380173"/>
            <a:chOff x="0" y="0"/>
            <a:chExt cx="3938568" cy="363502"/>
          </a:xfrm>
        </p:grpSpPr>
        <p:sp>
          <p:nvSpPr>
            <p:cNvPr name="Freeform 22" id="22"/>
            <p:cNvSpPr/>
            <p:nvPr/>
          </p:nvSpPr>
          <p:spPr>
            <a:xfrm flipH="false" flipV="false" rot="0">
              <a:off x="0" y="0"/>
              <a:ext cx="3938568" cy="363502"/>
            </a:xfrm>
            <a:custGeom>
              <a:avLst/>
              <a:gdLst/>
              <a:ahLst/>
              <a:cxnLst/>
              <a:rect r="r" b="b" t="t" l="l"/>
              <a:pathLst>
                <a:path h="363502" w="3938568">
                  <a:moveTo>
                    <a:pt x="0" y="0"/>
                  </a:moveTo>
                  <a:lnTo>
                    <a:pt x="3938568" y="0"/>
                  </a:lnTo>
                  <a:lnTo>
                    <a:pt x="3938568" y="363502"/>
                  </a:lnTo>
                  <a:lnTo>
                    <a:pt x="0" y="363502"/>
                  </a:lnTo>
                  <a:close/>
                </a:path>
              </a:pathLst>
            </a:custGeom>
            <a:ln w="19050" cap="sq">
              <a:solidFill>
                <a:srgbClr val="1A2F81"/>
              </a:solidFill>
              <a:prstDash val="solid"/>
              <a:miter/>
            </a:ln>
          </p:spPr>
        </p:sp>
        <p:sp>
          <p:nvSpPr>
            <p:cNvPr name="TextBox 23" id="23"/>
            <p:cNvSpPr txBox="true"/>
            <p:nvPr/>
          </p:nvSpPr>
          <p:spPr>
            <a:xfrm>
              <a:off x="0" y="-200025"/>
              <a:ext cx="3938568" cy="563527"/>
            </a:xfrm>
            <a:prstGeom prst="rect">
              <a:avLst/>
            </a:prstGeom>
          </p:spPr>
          <p:txBody>
            <a:bodyPr anchor="ctr" rtlCol="false" tIns="50800" lIns="50800" bIns="50800" rIns="50800"/>
            <a:lstStyle/>
            <a:p>
              <a:pPr algn="ctr">
                <a:lnSpc>
                  <a:spcPts val="3079"/>
                </a:lnSpc>
              </a:pPr>
            </a:p>
          </p:txBody>
        </p:sp>
      </p:grpSp>
      <p:grpSp>
        <p:nvGrpSpPr>
          <p:cNvPr name="Group 24" id="24"/>
          <p:cNvGrpSpPr/>
          <p:nvPr/>
        </p:nvGrpSpPr>
        <p:grpSpPr>
          <a:xfrm rot="0">
            <a:off x="2305050" y="6268103"/>
            <a:ext cx="14954250" cy="1380173"/>
            <a:chOff x="0" y="0"/>
            <a:chExt cx="3938568" cy="363502"/>
          </a:xfrm>
        </p:grpSpPr>
        <p:sp>
          <p:nvSpPr>
            <p:cNvPr name="Freeform 25" id="25"/>
            <p:cNvSpPr/>
            <p:nvPr/>
          </p:nvSpPr>
          <p:spPr>
            <a:xfrm flipH="false" flipV="false" rot="0">
              <a:off x="0" y="0"/>
              <a:ext cx="3938568" cy="363502"/>
            </a:xfrm>
            <a:custGeom>
              <a:avLst/>
              <a:gdLst/>
              <a:ahLst/>
              <a:cxnLst/>
              <a:rect r="r" b="b" t="t" l="l"/>
              <a:pathLst>
                <a:path h="363502" w="3938568">
                  <a:moveTo>
                    <a:pt x="0" y="0"/>
                  </a:moveTo>
                  <a:lnTo>
                    <a:pt x="3938568" y="0"/>
                  </a:lnTo>
                  <a:lnTo>
                    <a:pt x="3938568" y="363502"/>
                  </a:lnTo>
                  <a:lnTo>
                    <a:pt x="0" y="363502"/>
                  </a:lnTo>
                  <a:close/>
                </a:path>
              </a:pathLst>
            </a:custGeom>
            <a:ln w="19050" cap="sq">
              <a:solidFill>
                <a:srgbClr val="1A2F81"/>
              </a:solidFill>
              <a:prstDash val="solid"/>
              <a:miter/>
            </a:ln>
          </p:spPr>
        </p:sp>
        <p:sp>
          <p:nvSpPr>
            <p:cNvPr name="TextBox 26" id="26"/>
            <p:cNvSpPr txBox="true"/>
            <p:nvPr/>
          </p:nvSpPr>
          <p:spPr>
            <a:xfrm>
              <a:off x="0" y="-200025"/>
              <a:ext cx="3938568" cy="563527"/>
            </a:xfrm>
            <a:prstGeom prst="rect">
              <a:avLst/>
            </a:prstGeom>
          </p:spPr>
          <p:txBody>
            <a:bodyPr anchor="ctr" rtlCol="false" tIns="50800" lIns="50800" bIns="50800" rIns="50800"/>
            <a:lstStyle/>
            <a:p>
              <a:pPr algn="ctr">
                <a:lnSpc>
                  <a:spcPts val="3079"/>
                </a:lnSpc>
              </a:pPr>
            </a:p>
          </p:txBody>
        </p:sp>
      </p:grpSp>
      <p:grpSp>
        <p:nvGrpSpPr>
          <p:cNvPr name="Group 27" id="27"/>
          <p:cNvGrpSpPr/>
          <p:nvPr/>
        </p:nvGrpSpPr>
        <p:grpSpPr>
          <a:xfrm rot="0">
            <a:off x="2305050" y="7878128"/>
            <a:ext cx="14954250" cy="1380173"/>
            <a:chOff x="0" y="0"/>
            <a:chExt cx="3938568" cy="363502"/>
          </a:xfrm>
        </p:grpSpPr>
        <p:sp>
          <p:nvSpPr>
            <p:cNvPr name="Freeform 28" id="28"/>
            <p:cNvSpPr/>
            <p:nvPr/>
          </p:nvSpPr>
          <p:spPr>
            <a:xfrm flipH="false" flipV="false" rot="0">
              <a:off x="0" y="0"/>
              <a:ext cx="3938568" cy="363502"/>
            </a:xfrm>
            <a:custGeom>
              <a:avLst/>
              <a:gdLst/>
              <a:ahLst/>
              <a:cxnLst/>
              <a:rect r="r" b="b" t="t" l="l"/>
              <a:pathLst>
                <a:path h="363502" w="3938568">
                  <a:moveTo>
                    <a:pt x="0" y="0"/>
                  </a:moveTo>
                  <a:lnTo>
                    <a:pt x="3938568" y="0"/>
                  </a:lnTo>
                  <a:lnTo>
                    <a:pt x="3938568" y="363502"/>
                  </a:lnTo>
                  <a:lnTo>
                    <a:pt x="0" y="363502"/>
                  </a:lnTo>
                  <a:close/>
                </a:path>
              </a:pathLst>
            </a:custGeom>
            <a:ln w="19050" cap="sq">
              <a:solidFill>
                <a:srgbClr val="1A2F81"/>
              </a:solidFill>
              <a:prstDash val="solid"/>
              <a:miter/>
            </a:ln>
          </p:spPr>
        </p:sp>
        <p:sp>
          <p:nvSpPr>
            <p:cNvPr name="TextBox 29" id="29"/>
            <p:cNvSpPr txBox="true"/>
            <p:nvPr/>
          </p:nvSpPr>
          <p:spPr>
            <a:xfrm>
              <a:off x="0" y="-200025"/>
              <a:ext cx="3938568" cy="563527"/>
            </a:xfrm>
            <a:prstGeom prst="rect">
              <a:avLst/>
            </a:prstGeom>
          </p:spPr>
          <p:txBody>
            <a:bodyPr anchor="ctr" rtlCol="false" tIns="50800" lIns="50800" bIns="50800" rIns="50800"/>
            <a:lstStyle/>
            <a:p>
              <a:pPr algn="ctr">
                <a:lnSpc>
                  <a:spcPts val="3079"/>
                </a:lnSpc>
              </a:pPr>
            </a:p>
          </p:txBody>
        </p:sp>
      </p:grpSp>
      <p:grpSp>
        <p:nvGrpSpPr>
          <p:cNvPr name="Group 30" id="30"/>
          <p:cNvGrpSpPr/>
          <p:nvPr/>
        </p:nvGrpSpPr>
        <p:grpSpPr>
          <a:xfrm rot="0">
            <a:off x="1501682" y="4450643"/>
            <a:ext cx="211454" cy="185022"/>
            <a:chOff x="0" y="0"/>
            <a:chExt cx="812800" cy="711200"/>
          </a:xfrm>
        </p:grpSpPr>
        <p:sp>
          <p:nvSpPr>
            <p:cNvPr name="Freeform 31" id="31"/>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555555"/>
            </a:solidFill>
          </p:spPr>
        </p:sp>
        <p:sp>
          <p:nvSpPr>
            <p:cNvPr name="TextBox 32" id="32"/>
            <p:cNvSpPr txBox="true"/>
            <p:nvPr/>
          </p:nvSpPr>
          <p:spPr>
            <a:xfrm>
              <a:off x="127000" y="-92075"/>
              <a:ext cx="558800" cy="473075"/>
            </a:xfrm>
            <a:prstGeom prst="rect">
              <a:avLst/>
            </a:prstGeom>
          </p:spPr>
          <p:txBody>
            <a:bodyPr anchor="ctr" rtlCol="false" tIns="50800" lIns="50800" bIns="50800" rIns="50800"/>
            <a:lstStyle/>
            <a:p>
              <a:pPr algn="ctr">
                <a:lnSpc>
                  <a:spcPts val="2210"/>
                </a:lnSpc>
              </a:pPr>
            </a:p>
          </p:txBody>
        </p:sp>
      </p:grpSp>
      <p:sp>
        <p:nvSpPr>
          <p:cNvPr name="TextBox 33" id="33"/>
          <p:cNvSpPr txBox="true"/>
          <p:nvPr/>
        </p:nvSpPr>
        <p:spPr>
          <a:xfrm rot="0">
            <a:off x="1301441" y="1915295"/>
            <a:ext cx="7604434"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資料作成の効率と品質を向上</a:t>
            </a:r>
          </a:p>
        </p:txBody>
      </p:sp>
      <p:sp>
        <p:nvSpPr>
          <p:cNvPr name="TextBox 34" id="34"/>
          <p:cNvSpPr txBox="true"/>
          <p:nvPr/>
        </p:nvSpPr>
        <p:spPr>
          <a:xfrm rot="0">
            <a:off x="1047750" y="828675"/>
            <a:ext cx="10159841" cy="577215"/>
          </a:xfrm>
          <a:prstGeom prst="rect">
            <a:avLst/>
          </a:prstGeom>
        </p:spPr>
        <p:txBody>
          <a:bodyPr anchor="t" rtlCol="false" tIns="0" lIns="0" bIns="0" rIns="0">
            <a:spAutoFit/>
          </a:bodyPr>
          <a:lstStyle/>
          <a:p>
            <a:pPr algn="l">
              <a:lnSpc>
                <a:spcPts val="3359"/>
              </a:lnSpc>
              <a:spcBef>
                <a:spcPct val="0"/>
              </a:spcBef>
            </a:pPr>
            <a:r>
              <a:rPr lang="en-US" sz="2400">
                <a:solidFill>
                  <a:srgbClr val="1A2F81"/>
                </a:solidFill>
                <a:latin typeface="たづがね角ゴシック Info"/>
                <a:ea typeface="たづがね角ゴシック Info"/>
                <a:cs typeface="たづがね角ゴシック Info"/>
                <a:sym typeface="たづがね角ゴシック Info"/>
              </a:rPr>
              <a:t>Topic 01：提案資料の標準化</a:t>
            </a:r>
          </a:p>
        </p:txBody>
      </p:sp>
      <p:sp>
        <p:nvSpPr>
          <p:cNvPr name="TextBox 35" id="35"/>
          <p:cNvSpPr txBox="true"/>
          <p:nvPr/>
        </p:nvSpPr>
        <p:spPr>
          <a:xfrm rot="0">
            <a:off x="9172575" y="1054418"/>
            <a:ext cx="6688237" cy="306705"/>
          </a:xfrm>
          <a:prstGeom prst="rect">
            <a:avLst/>
          </a:prstGeom>
        </p:spPr>
        <p:txBody>
          <a:bodyPr anchor="t" rtlCol="false" tIns="0" lIns="0" bIns="0" rIns="0">
            <a:spAutoFit/>
          </a:bodyPr>
          <a:lstStyle/>
          <a:p>
            <a:pPr algn="r">
              <a:lnSpc>
                <a:spcPts val="2520"/>
              </a:lnSpc>
              <a:spcBef>
                <a:spcPct val="0"/>
              </a:spcBef>
            </a:pPr>
            <a:r>
              <a:rPr lang="en-US" b="true" sz="1800">
                <a:solidFill>
                  <a:srgbClr val="1A2F81"/>
                </a:solidFill>
                <a:latin typeface="Montserrat Medium"/>
                <a:ea typeface="Montserrat Medium"/>
                <a:cs typeface="Montserrat Medium"/>
                <a:sym typeface="Montserrat Medium"/>
              </a:rPr>
              <a:t>Standardization of Proposal Documents</a:t>
            </a:r>
          </a:p>
        </p:txBody>
      </p:sp>
      <p:sp>
        <p:nvSpPr>
          <p:cNvPr name="TextBox 36" id="36"/>
          <p:cNvSpPr txBox="true"/>
          <p:nvPr/>
        </p:nvSpPr>
        <p:spPr>
          <a:xfrm rot="0">
            <a:off x="1047750" y="3549229"/>
            <a:ext cx="1119318" cy="339725"/>
          </a:xfrm>
          <a:prstGeom prst="rect">
            <a:avLst/>
          </a:prstGeom>
        </p:spPr>
        <p:txBody>
          <a:bodyPr anchor="t" rtlCol="false" tIns="0" lIns="0" bIns="0" rIns="0">
            <a:spAutoFit/>
          </a:bodyPr>
          <a:lstStyle/>
          <a:p>
            <a:pPr algn="ctr">
              <a:lnSpc>
                <a:spcPts val="2800"/>
              </a:lnSpc>
              <a:spcBef>
                <a:spcPct val="0"/>
              </a:spcBef>
            </a:pPr>
            <a:r>
              <a:rPr lang="en-US" b="true" sz="2000">
                <a:solidFill>
                  <a:srgbClr val="555555"/>
                </a:solidFill>
                <a:latin typeface="Montserrat Bold"/>
                <a:ea typeface="Montserrat Bold"/>
                <a:cs typeface="Montserrat Bold"/>
                <a:sym typeface="Montserrat Bold"/>
              </a:rPr>
              <a:t>Before</a:t>
            </a:r>
          </a:p>
        </p:txBody>
      </p:sp>
      <p:sp>
        <p:nvSpPr>
          <p:cNvPr name="TextBox 37" id="37"/>
          <p:cNvSpPr txBox="true"/>
          <p:nvPr/>
        </p:nvSpPr>
        <p:spPr>
          <a:xfrm rot="0">
            <a:off x="2858625" y="3339997"/>
            <a:ext cx="2461676" cy="577215"/>
          </a:xfrm>
          <a:prstGeom prst="rect">
            <a:avLst/>
          </a:prstGeom>
        </p:spPr>
        <p:txBody>
          <a:bodyPr anchor="t" rtlCol="false" tIns="0" lIns="0" bIns="0" rIns="0">
            <a:spAutoFit/>
          </a:bodyPr>
          <a:lstStyle/>
          <a:p>
            <a:pPr algn="l">
              <a:lnSpc>
                <a:spcPts val="3359"/>
              </a:lnSpc>
              <a:spcBef>
                <a:spcPct val="0"/>
              </a:spcBef>
            </a:pPr>
            <a:r>
              <a:rPr lang="en-US" b="true" sz="2400">
                <a:solidFill>
                  <a:srgbClr val="555555"/>
                </a:solidFill>
                <a:latin typeface="たづがね角ゴシック Info Bold"/>
                <a:ea typeface="たづがね角ゴシック Info Bold"/>
                <a:cs typeface="たづがね角ゴシック Info Bold"/>
                <a:sym typeface="たづがね角ゴシック Info Bold"/>
              </a:rPr>
              <a:t>取り組みの背景</a:t>
            </a:r>
          </a:p>
        </p:txBody>
      </p:sp>
      <p:sp>
        <p:nvSpPr>
          <p:cNvPr name="TextBox 38" id="38"/>
          <p:cNvSpPr txBox="true"/>
          <p:nvPr/>
        </p:nvSpPr>
        <p:spPr>
          <a:xfrm rot="0">
            <a:off x="5320301" y="3230141"/>
            <a:ext cx="11557999" cy="835025"/>
          </a:xfrm>
          <a:prstGeom prst="rect">
            <a:avLst/>
          </a:prstGeom>
        </p:spPr>
        <p:txBody>
          <a:bodyPr anchor="t" rtlCol="false" tIns="0" lIns="0" bIns="0" rIns="0">
            <a:spAutoFit/>
          </a:bodyPr>
          <a:lstStyle/>
          <a:p>
            <a:pPr algn="l" marL="431799" indent="-215899" lvl="1">
              <a:lnSpc>
                <a:spcPts val="2799"/>
              </a:lnSpc>
              <a:spcBef>
                <a:spcPct val="0"/>
              </a:spcBef>
              <a:buFont typeface="Arial"/>
              <a:buChar char="•"/>
            </a:pPr>
            <a:r>
              <a:rPr lang="en-US" sz="1999" strike="noStrike" u="none">
                <a:solidFill>
                  <a:srgbClr val="555555"/>
                </a:solidFill>
                <a:latin typeface="たづがね角ゴシック Info Medium"/>
                <a:ea typeface="たづがね角ゴシック Info Medium"/>
                <a:cs typeface="たづがね角ゴシック Info Medium"/>
                <a:sym typeface="たづがね角ゴシック Info Medium"/>
              </a:rPr>
              <a:t>各担当者が独自のフォーマットで資料を作成しており、 提出物の表現や構成にばらつきがあった。</a:t>
            </a:r>
          </a:p>
          <a:p>
            <a:pPr algn="l" marL="431799" indent="-215899" lvl="1">
              <a:lnSpc>
                <a:spcPts val="2799"/>
              </a:lnSpc>
              <a:spcBef>
                <a:spcPct val="0"/>
              </a:spcBef>
              <a:buFont typeface="Arial"/>
              <a:buChar char="•"/>
            </a:pPr>
            <a:r>
              <a:rPr lang="en-US" sz="1999" strike="noStrike" u="none">
                <a:solidFill>
                  <a:srgbClr val="555555"/>
                </a:solidFill>
                <a:latin typeface="たづがね角ゴシック Info Medium"/>
                <a:ea typeface="たづがね角ゴシック Info Medium"/>
                <a:cs typeface="たづがね角ゴシック Info Medium"/>
                <a:sym typeface="たづがね角ゴシック Info Medium"/>
              </a:rPr>
              <a:t>資料作成に毎回時間がかかり、業務の負荷や品質に影響。</a:t>
            </a:r>
          </a:p>
        </p:txBody>
      </p:sp>
      <p:sp>
        <p:nvSpPr>
          <p:cNvPr name="TextBox 39" id="39"/>
          <p:cNvSpPr txBox="true"/>
          <p:nvPr/>
        </p:nvSpPr>
        <p:spPr>
          <a:xfrm rot="0">
            <a:off x="1047750" y="5159253"/>
            <a:ext cx="1119318" cy="339725"/>
          </a:xfrm>
          <a:prstGeom prst="rect">
            <a:avLst/>
          </a:prstGeom>
        </p:spPr>
        <p:txBody>
          <a:bodyPr anchor="t" rtlCol="false" tIns="0" lIns="0" bIns="0" rIns="0">
            <a:spAutoFit/>
          </a:bodyPr>
          <a:lstStyle/>
          <a:p>
            <a:pPr algn="ctr">
              <a:lnSpc>
                <a:spcPts val="2800"/>
              </a:lnSpc>
              <a:spcBef>
                <a:spcPct val="0"/>
              </a:spcBef>
            </a:pPr>
            <a:r>
              <a:rPr lang="en-US" b="true" sz="2000">
                <a:solidFill>
                  <a:srgbClr val="1A2F81"/>
                </a:solidFill>
                <a:latin typeface="Montserrat Bold"/>
                <a:ea typeface="Montserrat Bold"/>
                <a:cs typeface="Montserrat Bold"/>
                <a:sym typeface="Montserrat Bold"/>
              </a:rPr>
              <a:t>Acti</a:t>
            </a:r>
            <a:r>
              <a:rPr lang="en-US" b="true" sz="2000">
                <a:solidFill>
                  <a:srgbClr val="1A2F81"/>
                </a:solidFill>
                <a:latin typeface="Montserrat Bold"/>
                <a:ea typeface="Montserrat Bold"/>
                <a:cs typeface="Montserrat Bold"/>
                <a:sym typeface="Montserrat Bold"/>
              </a:rPr>
              <a:t>on</a:t>
            </a:r>
          </a:p>
        </p:txBody>
      </p:sp>
      <p:sp>
        <p:nvSpPr>
          <p:cNvPr name="TextBox 40" id="40"/>
          <p:cNvSpPr txBox="true"/>
          <p:nvPr/>
        </p:nvSpPr>
        <p:spPr>
          <a:xfrm rot="0">
            <a:off x="2858625" y="4950021"/>
            <a:ext cx="2461676" cy="577215"/>
          </a:xfrm>
          <a:prstGeom prst="rect">
            <a:avLst/>
          </a:prstGeom>
        </p:spPr>
        <p:txBody>
          <a:bodyPr anchor="t" rtlCol="false" tIns="0" lIns="0" bIns="0" rIns="0">
            <a:spAutoFit/>
          </a:bodyPr>
          <a:lstStyle/>
          <a:p>
            <a:pPr algn="l">
              <a:lnSpc>
                <a:spcPts val="3359"/>
              </a:lnSpc>
              <a:spcBef>
                <a:spcPct val="0"/>
              </a:spcBef>
            </a:pPr>
            <a:r>
              <a:rPr lang="en-US" b="true" sz="2400">
                <a:solidFill>
                  <a:srgbClr val="1A2F81"/>
                </a:solidFill>
                <a:latin typeface="たづがね角ゴシック Info Bold"/>
                <a:ea typeface="たづがね角ゴシック Info Bold"/>
                <a:cs typeface="たづがね角ゴシック Info Bold"/>
                <a:sym typeface="たづがね角ゴシック Info Bold"/>
              </a:rPr>
              <a:t>実施したこと</a:t>
            </a:r>
          </a:p>
        </p:txBody>
      </p:sp>
      <p:sp>
        <p:nvSpPr>
          <p:cNvPr name="TextBox 41" id="41"/>
          <p:cNvSpPr txBox="true"/>
          <p:nvPr/>
        </p:nvSpPr>
        <p:spPr>
          <a:xfrm rot="0">
            <a:off x="5320301" y="4840166"/>
            <a:ext cx="11557999" cy="835025"/>
          </a:xfrm>
          <a:prstGeom prst="rect">
            <a:avLst/>
          </a:prstGeom>
        </p:spPr>
        <p:txBody>
          <a:bodyPr anchor="t" rtlCol="false" tIns="0" lIns="0" bIns="0" rIns="0">
            <a:spAutoFit/>
          </a:bodyPr>
          <a:lstStyle/>
          <a:p>
            <a:pPr algn="l" marL="431799" indent="-215899" lvl="1">
              <a:lnSpc>
                <a:spcPts val="2799"/>
              </a:lnSpc>
              <a:buFont typeface="Arial"/>
              <a:buChar char="•"/>
            </a:pPr>
            <a:r>
              <a:rPr lang="en-US" sz="1999">
                <a:solidFill>
                  <a:srgbClr val="010817"/>
                </a:solidFill>
                <a:latin typeface="たづがね角ゴシック Info Medium"/>
                <a:ea typeface="たづがね角ゴシック Info Medium"/>
                <a:cs typeface="たづがね角ゴシック Info Medium"/>
                <a:sym typeface="たづがね角ゴシック Info Medium"/>
              </a:rPr>
              <a:t>提案資料の構成・見出し・色使いを統一したテンプレートを新たに6種作成。</a:t>
            </a:r>
          </a:p>
          <a:p>
            <a:pPr algn="l" marL="431799" indent="-215899" lvl="1">
              <a:lnSpc>
                <a:spcPts val="2799"/>
              </a:lnSpc>
              <a:buFont typeface="Arial"/>
              <a:buChar char="•"/>
            </a:pPr>
            <a:r>
              <a:rPr lang="en-US" sz="1999">
                <a:solidFill>
                  <a:srgbClr val="010817"/>
                </a:solidFill>
                <a:latin typeface="たづがね角ゴシック Info Medium"/>
                <a:ea typeface="たづがね角ゴシック Info Medium"/>
                <a:cs typeface="たづがね角ゴシック Info Medium"/>
                <a:sym typeface="たづがね角ゴシック Info Medium"/>
              </a:rPr>
              <a:t>共通フォルダに格納し、誰でもすぐ</a:t>
            </a:r>
            <a:r>
              <a:rPr lang="en-US" sz="1999">
                <a:solidFill>
                  <a:srgbClr val="010817"/>
                </a:solidFill>
                <a:latin typeface="たづがね角ゴシック Info Medium"/>
                <a:ea typeface="たづがね角ゴシック Info Medium"/>
                <a:cs typeface="たづがね角ゴシック Info Medium"/>
                <a:sym typeface="たづがね角ゴシック Info Medium"/>
              </a:rPr>
              <a:t>に活用できるよう導線も整理。</a:t>
            </a:r>
          </a:p>
        </p:txBody>
      </p:sp>
      <p:sp>
        <p:nvSpPr>
          <p:cNvPr name="TextBox 42" id="42"/>
          <p:cNvSpPr txBox="true"/>
          <p:nvPr/>
        </p:nvSpPr>
        <p:spPr>
          <a:xfrm rot="0">
            <a:off x="1047750" y="6769277"/>
            <a:ext cx="1119318" cy="339725"/>
          </a:xfrm>
          <a:prstGeom prst="rect">
            <a:avLst/>
          </a:prstGeom>
        </p:spPr>
        <p:txBody>
          <a:bodyPr anchor="t" rtlCol="false" tIns="0" lIns="0" bIns="0" rIns="0">
            <a:spAutoFit/>
          </a:bodyPr>
          <a:lstStyle/>
          <a:p>
            <a:pPr algn="ctr">
              <a:lnSpc>
                <a:spcPts val="2800"/>
              </a:lnSpc>
              <a:spcBef>
                <a:spcPct val="0"/>
              </a:spcBef>
            </a:pPr>
            <a:r>
              <a:rPr lang="en-US" b="true" sz="2000">
                <a:solidFill>
                  <a:srgbClr val="1A2F81"/>
                </a:solidFill>
                <a:latin typeface="Montserrat Bold"/>
                <a:ea typeface="Montserrat Bold"/>
                <a:cs typeface="Montserrat Bold"/>
                <a:sym typeface="Montserrat Bold"/>
              </a:rPr>
              <a:t>Tips</a:t>
            </a:r>
          </a:p>
        </p:txBody>
      </p:sp>
      <p:sp>
        <p:nvSpPr>
          <p:cNvPr name="TextBox 43" id="43"/>
          <p:cNvSpPr txBox="true"/>
          <p:nvPr/>
        </p:nvSpPr>
        <p:spPr>
          <a:xfrm rot="0">
            <a:off x="2858625" y="6560045"/>
            <a:ext cx="2461676" cy="577215"/>
          </a:xfrm>
          <a:prstGeom prst="rect">
            <a:avLst/>
          </a:prstGeom>
        </p:spPr>
        <p:txBody>
          <a:bodyPr anchor="t" rtlCol="false" tIns="0" lIns="0" bIns="0" rIns="0">
            <a:spAutoFit/>
          </a:bodyPr>
          <a:lstStyle/>
          <a:p>
            <a:pPr algn="l">
              <a:lnSpc>
                <a:spcPts val="3359"/>
              </a:lnSpc>
              <a:spcBef>
                <a:spcPct val="0"/>
              </a:spcBef>
            </a:pPr>
            <a:r>
              <a:rPr lang="en-US" b="true" sz="2400">
                <a:solidFill>
                  <a:srgbClr val="1A2F81"/>
                </a:solidFill>
                <a:latin typeface="たづがね角ゴシック Info Bold"/>
                <a:ea typeface="たづがね角ゴシック Info Bold"/>
                <a:cs typeface="たづがね角ゴシック Info Bold"/>
                <a:sym typeface="たづがね角ゴシック Info Bold"/>
              </a:rPr>
              <a:t>工夫した点</a:t>
            </a:r>
          </a:p>
        </p:txBody>
      </p:sp>
      <p:sp>
        <p:nvSpPr>
          <p:cNvPr name="TextBox 44" id="44"/>
          <p:cNvSpPr txBox="true"/>
          <p:nvPr/>
        </p:nvSpPr>
        <p:spPr>
          <a:xfrm rot="0">
            <a:off x="5320301" y="6273977"/>
            <a:ext cx="11557999" cy="1187450"/>
          </a:xfrm>
          <a:prstGeom prst="rect">
            <a:avLst/>
          </a:prstGeom>
        </p:spPr>
        <p:txBody>
          <a:bodyPr anchor="t" rtlCol="false" tIns="0" lIns="0" bIns="0" rIns="0">
            <a:spAutoFit/>
          </a:bodyPr>
          <a:lstStyle/>
          <a:p>
            <a:pPr algn="l" marL="431799" indent="-215899" lvl="1">
              <a:lnSpc>
                <a:spcPts val="2799"/>
              </a:lnSpc>
              <a:spcBef>
                <a:spcPct val="0"/>
              </a:spcBef>
              <a:buFont typeface="Arial"/>
              <a:buChar char="•"/>
            </a:pPr>
            <a:r>
              <a:rPr lang="en-US" sz="1999" strike="noStrike" u="none">
                <a:solidFill>
                  <a:srgbClr val="010817"/>
                </a:solidFill>
                <a:latin typeface="たづがね角ゴシック Info Medium"/>
                <a:ea typeface="たづがね角ゴシック Info Medium"/>
                <a:cs typeface="たづがね角ゴシック Info Medium"/>
                <a:sym typeface="たづがね角ゴシック Info Medium"/>
              </a:rPr>
              <a:t>よく使われる資料構成をもとにテンプレートを構築。</a:t>
            </a:r>
          </a:p>
          <a:p>
            <a:pPr algn="l" marL="431799" indent="-215899" lvl="1">
              <a:lnSpc>
                <a:spcPts val="2799"/>
              </a:lnSpc>
              <a:spcBef>
                <a:spcPct val="0"/>
              </a:spcBef>
              <a:buFont typeface="Arial"/>
              <a:buChar char="•"/>
            </a:pPr>
            <a:r>
              <a:rPr lang="en-US" sz="1999" strike="noStrike" u="none">
                <a:solidFill>
                  <a:srgbClr val="010817"/>
                </a:solidFill>
                <a:latin typeface="たづがね角ゴシック Info Medium"/>
                <a:ea typeface="たづがね角ゴシック Info Medium"/>
                <a:cs typeface="たづがね角ゴシック Info Medium"/>
                <a:sym typeface="たづがね角ゴシック Info Medium"/>
              </a:rPr>
              <a:t>書き方例や入力見本をあらかじめ記載することで編集のハードルを軽減。</a:t>
            </a:r>
          </a:p>
          <a:p>
            <a:pPr algn="l" marL="431799" indent="-215899" lvl="1">
              <a:lnSpc>
                <a:spcPts val="2799"/>
              </a:lnSpc>
              <a:spcBef>
                <a:spcPct val="0"/>
              </a:spcBef>
              <a:buFont typeface="Arial"/>
              <a:buChar char="•"/>
            </a:pPr>
            <a:r>
              <a:rPr lang="en-US" sz="1999" strike="noStrike" u="none">
                <a:solidFill>
                  <a:srgbClr val="010817"/>
                </a:solidFill>
                <a:latin typeface="たづがね角ゴシック Info Medium"/>
                <a:ea typeface="たづがね角ゴシック Info Medium"/>
                <a:cs typeface="たづがね角ゴシック Info Medium"/>
                <a:sym typeface="たづがね角ゴシック Info Medium"/>
              </a:rPr>
              <a:t>トーンやビジュアルも統一し、ブランド性を強化</a:t>
            </a:r>
          </a:p>
        </p:txBody>
      </p:sp>
      <p:sp>
        <p:nvSpPr>
          <p:cNvPr name="TextBox 45" id="45"/>
          <p:cNvSpPr txBox="true"/>
          <p:nvPr/>
        </p:nvSpPr>
        <p:spPr>
          <a:xfrm rot="0">
            <a:off x="1047750" y="8379301"/>
            <a:ext cx="1119318" cy="339725"/>
          </a:xfrm>
          <a:prstGeom prst="rect">
            <a:avLst/>
          </a:prstGeom>
        </p:spPr>
        <p:txBody>
          <a:bodyPr anchor="t" rtlCol="false" tIns="0" lIns="0" bIns="0" rIns="0">
            <a:spAutoFit/>
          </a:bodyPr>
          <a:lstStyle/>
          <a:p>
            <a:pPr algn="ctr">
              <a:lnSpc>
                <a:spcPts val="2800"/>
              </a:lnSpc>
              <a:spcBef>
                <a:spcPct val="0"/>
              </a:spcBef>
            </a:pPr>
            <a:r>
              <a:rPr lang="en-US" b="true" sz="2000">
                <a:solidFill>
                  <a:srgbClr val="1A2F81"/>
                </a:solidFill>
                <a:latin typeface="Montserrat Bold"/>
                <a:ea typeface="Montserrat Bold"/>
                <a:cs typeface="Montserrat Bold"/>
                <a:sym typeface="Montserrat Bold"/>
              </a:rPr>
              <a:t>Aft</a:t>
            </a:r>
            <a:r>
              <a:rPr lang="en-US" b="true" sz="2000">
                <a:solidFill>
                  <a:srgbClr val="1A2F81"/>
                </a:solidFill>
                <a:latin typeface="Montserrat Bold"/>
                <a:ea typeface="Montserrat Bold"/>
                <a:cs typeface="Montserrat Bold"/>
                <a:sym typeface="Montserrat Bold"/>
              </a:rPr>
              <a:t>er</a:t>
            </a:r>
          </a:p>
        </p:txBody>
      </p:sp>
      <p:sp>
        <p:nvSpPr>
          <p:cNvPr name="TextBox 46" id="46"/>
          <p:cNvSpPr txBox="true"/>
          <p:nvPr/>
        </p:nvSpPr>
        <p:spPr>
          <a:xfrm rot="0">
            <a:off x="2858625" y="8170069"/>
            <a:ext cx="2461676" cy="577215"/>
          </a:xfrm>
          <a:prstGeom prst="rect">
            <a:avLst/>
          </a:prstGeom>
        </p:spPr>
        <p:txBody>
          <a:bodyPr anchor="t" rtlCol="false" tIns="0" lIns="0" bIns="0" rIns="0">
            <a:spAutoFit/>
          </a:bodyPr>
          <a:lstStyle/>
          <a:p>
            <a:pPr algn="l">
              <a:lnSpc>
                <a:spcPts val="3359"/>
              </a:lnSpc>
              <a:spcBef>
                <a:spcPct val="0"/>
              </a:spcBef>
            </a:pPr>
            <a:r>
              <a:rPr lang="en-US" b="true" sz="2400">
                <a:solidFill>
                  <a:srgbClr val="1A2F81"/>
                </a:solidFill>
                <a:latin typeface="たづがね角ゴシック Info Bold"/>
                <a:ea typeface="たづがね角ゴシック Info Bold"/>
                <a:cs typeface="たづがね角ゴシック Info Bold"/>
                <a:sym typeface="たづがね角ゴシック Info Bold"/>
              </a:rPr>
              <a:t>得られた成果</a:t>
            </a:r>
          </a:p>
        </p:txBody>
      </p:sp>
      <p:sp>
        <p:nvSpPr>
          <p:cNvPr name="TextBox 47" id="47"/>
          <p:cNvSpPr txBox="true"/>
          <p:nvPr/>
        </p:nvSpPr>
        <p:spPr>
          <a:xfrm rot="0">
            <a:off x="5320301" y="7884001"/>
            <a:ext cx="11557999" cy="1187450"/>
          </a:xfrm>
          <a:prstGeom prst="rect">
            <a:avLst/>
          </a:prstGeom>
        </p:spPr>
        <p:txBody>
          <a:bodyPr anchor="t" rtlCol="false" tIns="0" lIns="0" bIns="0" rIns="0">
            <a:spAutoFit/>
          </a:bodyPr>
          <a:lstStyle/>
          <a:p>
            <a:pPr algn="l" marL="431799" indent="-215899" lvl="1">
              <a:lnSpc>
                <a:spcPts val="2799"/>
              </a:lnSpc>
              <a:spcBef>
                <a:spcPct val="0"/>
              </a:spcBef>
              <a:buFont typeface="Arial"/>
              <a:buChar char="•"/>
            </a:pPr>
            <a:r>
              <a:rPr lang="en-US" sz="1999" strike="noStrike" u="none">
                <a:solidFill>
                  <a:srgbClr val="010817"/>
                </a:solidFill>
                <a:latin typeface="たづがね角ゴシック Info Medium"/>
                <a:ea typeface="たづがね角ゴシック Info Medium"/>
                <a:cs typeface="たづがね角ゴシック Info Medium"/>
                <a:sym typeface="たづがね角ゴシック Info Medium"/>
              </a:rPr>
              <a:t>導入から1ヶ月で利用率85％を達成。</a:t>
            </a:r>
          </a:p>
          <a:p>
            <a:pPr algn="l" marL="431799" indent="-215899" lvl="1">
              <a:lnSpc>
                <a:spcPts val="2799"/>
              </a:lnSpc>
              <a:spcBef>
                <a:spcPct val="0"/>
              </a:spcBef>
              <a:buFont typeface="Arial"/>
              <a:buChar char="•"/>
            </a:pPr>
            <a:r>
              <a:rPr lang="en-US" sz="1999" strike="noStrike" u="none">
                <a:solidFill>
                  <a:srgbClr val="010817"/>
                </a:solidFill>
                <a:latin typeface="たづがね角ゴシック Info Medium"/>
                <a:ea typeface="たづがね角ゴシック Info Medium"/>
                <a:cs typeface="たづがね角ゴシック Info Medium"/>
                <a:sym typeface="たづがね角ゴシック Info Medium"/>
              </a:rPr>
              <a:t>資料作成にかかる時間を平均30％削減。</a:t>
            </a:r>
          </a:p>
          <a:p>
            <a:pPr algn="l" marL="431799" indent="-215899" lvl="1">
              <a:lnSpc>
                <a:spcPts val="2799"/>
              </a:lnSpc>
              <a:spcBef>
                <a:spcPct val="0"/>
              </a:spcBef>
              <a:buFont typeface="Arial"/>
              <a:buChar char="•"/>
            </a:pPr>
            <a:r>
              <a:rPr lang="en-US" sz="1999" strike="noStrike" u="none">
                <a:solidFill>
                  <a:srgbClr val="010817"/>
                </a:solidFill>
                <a:latin typeface="たづがね角ゴシック Info Medium"/>
                <a:ea typeface="たづがね角ゴシック Info Medium"/>
                <a:cs typeface="たづがね角ゴシック Info Medium"/>
                <a:sym typeface="たづがね角ゴシック Info Medium"/>
              </a:rPr>
              <a:t>「資料のクオリティが安定した」との声が多く、社内全体での活用が進んでいる。</a:t>
            </a:r>
          </a:p>
        </p:txBody>
      </p:sp>
      <p:grpSp>
        <p:nvGrpSpPr>
          <p:cNvPr name="Group 48" id="48"/>
          <p:cNvGrpSpPr/>
          <p:nvPr/>
        </p:nvGrpSpPr>
        <p:grpSpPr>
          <a:xfrm rot="0">
            <a:off x="1501682" y="6060667"/>
            <a:ext cx="211454" cy="185022"/>
            <a:chOff x="0" y="0"/>
            <a:chExt cx="812800" cy="711200"/>
          </a:xfrm>
        </p:grpSpPr>
        <p:sp>
          <p:nvSpPr>
            <p:cNvPr name="Freeform 49" id="49"/>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1A2F81"/>
            </a:solidFill>
          </p:spPr>
        </p:sp>
        <p:sp>
          <p:nvSpPr>
            <p:cNvPr name="TextBox 50" id="50"/>
            <p:cNvSpPr txBox="true"/>
            <p:nvPr/>
          </p:nvSpPr>
          <p:spPr>
            <a:xfrm>
              <a:off x="127000" y="-92075"/>
              <a:ext cx="558800" cy="473075"/>
            </a:xfrm>
            <a:prstGeom prst="rect">
              <a:avLst/>
            </a:prstGeom>
          </p:spPr>
          <p:txBody>
            <a:bodyPr anchor="ctr" rtlCol="false" tIns="50800" lIns="50800" bIns="50800" rIns="50800"/>
            <a:lstStyle/>
            <a:p>
              <a:pPr algn="ctr">
                <a:lnSpc>
                  <a:spcPts val="2210"/>
                </a:lnSpc>
              </a:pPr>
            </a:p>
          </p:txBody>
        </p:sp>
      </p:grpSp>
      <p:grpSp>
        <p:nvGrpSpPr>
          <p:cNvPr name="Group 51" id="51"/>
          <p:cNvGrpSpPr/>
          <p:nvPr/>
        </p:nvGrpSpPr>
        <p:grpSpPr>
          <a:xfrm rot="0">
            <a:off x="1501682" y="7670691"/>
            <a:ext cx="211454" cy="185022"/>
            <a:chOff x="0" y="0"/>
            <a:chExt cx="812800" cy="711200"/>
          </a:xfrm>
        </p:grpSpPr>
        <p:sp>
          <p:nvSpPr>
            <p:cNvPr name="Freeform 52" id="52"/>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1A2F81"/>
            </a:solidFill>
          </p:spPr>
        </p:sp>
        <p:sp>
          <p:nvSpPr>
            <p:cNvPr name="TextBox 53" id="53"/>
            <p:cNvSpPr txBox="true"/>
            <p:nvPr/>
          </p:nvSpPr>
          <p:spPr>
            <a:xfrm>
              <a:off x="127000" y="-92075"/>
              <a:ext cx="558800" cy="473075"/>
            </a:xfrm>
            <a:prstGeom prst="rect">
              <a:avLst/>
            </a:prstGeom>
          </p:spPr>
          <p:txBody>
            <a:bodyPr anchor="ctr" rtlCol="false" tIns="50800" lIns="50800" bIns="50800" rIns="50800"/>
            <a:lstStyle/>
            <a:p>
              <a:pPr algn="ctr">
                <a:lnSpc>
                  <a:spcPts val="2210"/>
                </a:lnSpc>
              </a:pPr>
            </a:p>
          </p:txBody>
        </p:sp>
      </p:grpSp>
      <p:grpSp>
        <p:nvGrpSpPr>
          <p:cNvPr name="Group 54" id="54"/>
          <p:cNvGrpSpPr/>
          <p:nvPr/>
        </p:nvGrpSpPr>
        <p:grpSpPr>
          <a:xfrm rot="0">
            <a:off x="2305050" y="3048055"/>
            <a:ext cx="121509" cy="1380173"/>
            <a:chOff x="0" y="0"/>
            <a:chExt cx="32002" cy="363502"/>
          </a:xfrm>
        </p:grpSpPr>
        <p:sp>
          <p:nvSpPr>
            <p:cNvPr name="Freeform 55" id="55"/>
            <p:cNvSpPr/>
            <p:nvPr/>
          </p:nvSpPr>
          <p:spPr>
            <a:xfrm flipH="false" flipV="false" rot="0">
              <a:off x="0" y="0"/>
              <a:ext cx="32002" cy="363502"/>
            </a:xfrm>
            <a:custGeom>
              <a:avLst/>
              <a:gdLst/>
              <a:ahLst/>
              <a:cxnLst/>
              <a:rect r="r" b="b" t="t" l="l"/>
              <a:pathLst>
                <a:path h="363502" w="32002">
                  <a:moveTo>
                    <a:pt x="0" y="0"/>
                  </a:moveTo>
                  <a:lnTo>
                    <a:pt x="32002" y="0"/>
                  </a:lnTo>
                  <a:lnTo>
                    <a:pt x="32002" y="363502"/>
                  </a:lnTo>
                  <a:lnTo>
                    <a:pt x="0" y="363502"/>
                  </a:lnTo>
                  <a:close/>
                </a:path>
              </a:pathLst>
            </a:custGeom>
            <a:solidFill>
              <a:srgbClr val="555555"/>
            </a:solidFill>
            <a:ln cap="sq">
              <a:noFill/>
              <a:prstDash val="solid"/>
              <a:miter/>
            </a:ln>
          </p:spPr>
        </p:sp>
        <p:sp>
          <p:nvSpPr>
            <p:cNvPr name="TextBox 56" id="56"/>
            <p:cNvSpPr txBox="true"/>
            <p:nvPr/>
          </p:nvSpPr>
          <p:spPr>
            <a:xfrm>
              <a:off x="0" y="-200025"/>
              <a:ext cx="32002" cy="563527"/>
            </a:xfrm>
            <a:prstGeom prst="rect">
              <a:avLst/>
            </a:prstGeom>
          </p:spPr>
          <p:txBody>
            <a:bodyPr anchor="ctr" rtlCol="false" tIns="50800" lIns="50800" bIns="50800" rIns="50800"/>
            <a:lstStyle/>
            <a:p>
              <a:pPr algn="ctr">
                <a:lnSpc>
                  <a:spcPts val="3079"/>
                </a:lnSpc>
              </a:pPr>
            </a:p>
          </p:txBody>
        </p:sp>
      </p:grpSp>
      <p:grpSp>
        <p:nvGrpSpPr>
          <p:cNvPr name="Group 57" id="57"/>
          <p:cNvGrpSpPr/>
          <p:nvPr/>
        </p:nvGrpSpPr>
        <p:grpSpPr>
          <a:xfrm rot="0">
            <a:off x="2305050" y="4658079"/>
            <a:ext cx="121509" cy="1380173"/>
            <a:chOff x="0" y="0"/>
            <a:chExt cx="32002" cy="363502"/>
          </a:xfrm>
        </p:grpSpPr>
        <p:sp>
          <p:nvSpPr>
            <p:cNvPr name="Freeform 58" id="58"/>
            <p:cNvSpPr/>
            <p:nvPr/>
          </p:nvSpPr>
          <p:spPr>
            <a:xfrm flipH="false" flipV="false" rot="0">
              <a:off x="0" y="0"/>
              <a:ext cx="32002" cy="363502"/>
            </a:xfrm>
            <a:custGeom>
              <a:avLst/>
              <a:gdLst/>
              <a:ahLst/>
              <a:cxnLst/>
              <a:rect r="r" b="b" t="t" l="l"/>
              <a:pathLst>
                <a:path h="363502" w="32002">
                  <a:moveTo>
                    <a:pt x="0" y="0"/>
                  </a:moveTo>
                  <a:lnTo>
                    <a:pt x="32002" y="0"/>
                  </a:lnTo>
                  <a:lnTo>
                    <a:pt x="32002" y="363502"/>
                  </a:lnTo>
                  <a:lnTo>
                    <a:pt x="0" y="363502"/>
                  </a:lnTo>
                  <a:close/>
                </a:path>
              </a:pathLst>
            </a:custGeom>
            <a:solidFill>
              <a:srgbClr val="1A2F81"/>
            </a:solidFill>
            <a:ln cap="sq">
              <a:noFill/>
              <a:prstDash val="solid"/>
              <a:miter/>
            </a:ln>
          </p:spPr>
        </p:sp>
        <p:sp>
          <p:nvSpPr>
            <p:cNvPr name="TextBox 59" id="59"/>
            <p:cNvSpPr txBox="true"/>
            <p:nvPr/>
          </p:nvSpPr>
          <p:spPr>
            <a:xfrm>
              <a:off x="0" y="-200025"/>
              <a:ext cx="32002" cy="563527"/>
            </a:xfrm>
            <a:prstGeom prst="rect">
              <a:avLst/>
            </a:prstGeom>
          </p:spPr>
          <p:txBody>
            <a:bodyPr anchor="ctr" rtlCol="false" tIns="50800" lIns="50800" bIns="50800" rIns="50800"/>
            <a:lstStyle/>
            <a:p>
              <a:pPr algn="ctr">
                <a:lnSpc>
                  <a:spcPts val="3079"/>
                </a:lnSpc>
              </a:pPr>
            </a:p>
          </p:txBody>
        </p:sp>
      </p:grpSp>
      <p:grpSp>
        <p:nvGrpSpPr>
          <p:cNvPr name="Group 60" id="60"/>
          <p:cNvGrpSpPr/>
          <p:nvPr/>
        </p:nvGrpSpPr>
        <p:grpSpPr>
          <a:xfrm rot="0">
            <a:off x="2305050" y="6268103"/>
            <a:ext cx="121509" cy="1380173"/>
            <a:chOff x="0" y="0"/>
            <a:chExt cx="32002" cy="363502"/>
          </a:xfrm>
        </p:grpSpPr>
        <p:sp>
          <p:nvSpPr>
            <p:cNvPr name="Freeform 61" id="61"/>
            <p:cNvSpPr/>
            <p:nvPr/>
          </p:nvSpPr>
          <p:spPr>
            <a:xfrm flipH="false" flipV="false" rot="0">
              <a:off x="0" y="0"/>
              <a:ext cx="32002" cy="363502"/>
            </a:xfrm>
            <a:custGeom>
              <a:avLst/>
              <a:gdLst/>
              <a:ahLst/>
              <a:cxnLst/>
              <a:rect r="r" b="b" t="t" l="l"/>
              <a:pathLst>
                <a:path h="363502" w="32002">
                  <a:moveTo>
                    <a:pt x="0" y="0"/>
                  </a:moveTo>
                  <a:lnTo>
                    <a:pt x="32002" y="0"/>
                  </a:lnTo>
                  <a:lnTo>
                    <a:pt x="32002" y="363502"/>
                  </a:lnTo>
                  <a:lnTo>
                    <a:pt x="0" y="363502"/>
                  </a:lnTo>
                  <a:close/>
                </a:path>
              </a:pathLst>
            </a:custGeom>
            <a:solidFill>
              <a:srgbClr val="1A2F81"/>
            </a:solidFill>
            <a:ln cap="sq">
              <a:noFill/>
              <a:prstDash val="solid"/>
              <a:miter/>
            </a:ln>
          </p:spPr>
        </p:sp>
        <p:sp>
          <p:nvSpPr>
            <p:cNvPr name="TextBox 62" id="62"/>
            <p:cNvSpPr txBox="true"/>
            <p:nvPr/>
          </p:nvSpPr>
          <p:spPr>
            <a:xfrm>
              <a:off x="0" y="-200025"/>
              <a:ext cx="32002" cy="563527"/>
            </a:xfrm>
            <a:prstGeom prst="rect">
              <a:avLst/>
            </a:prstGeom>
          </p:spPr>
          <p:txBody>
            <a:bodyPr anchor="ctr" rtlCol="false" tIns="50800" lIns="50800" bIns="50800" rIns="50800"/>
            <a:lstStyle/>
            <a:p>
              <a:pPr algn="ctr">
                <a:lnSpc>
                  <a:spcPts val="3079"/>
                </a:lnSpc>
              </a:pPr>
            </a:p>
          </p:txBody>
        </p:sp>
      </p:grpSp>
      <p:grpSp>
        <p:nvGrpSpPr>
          <p:cNvPr name="Group 63" id="63"/>
          <p:cNvGrpSpPr/>
          <p:nvPr/>
        </p:nvGrpSpPr>
        <p:grpSpPr>
          <a:xfrm rot="0">
            <a:off x="2305050" y="7878128"/>
            <a:ext cx="121509" cy="1380173"/>
            <a:chOff x="0" y="0"/>
            <a:chExt cx="32002" cy="363502"/>
          </a:xfrm>
        </p:grpSpPr>
        <p:sp>
          <p:nvSpPr>
            <p:cNvPr name="Freeform 64" id="64"/>
            <p:cNvSpPr/>
            <p:nvPr/>
          </p:nvSpPr>
          <p:spPr>
            <a:xfrm flipH="false" flipV="false" rot="0">
              <a:off x="0" y="0"/>
              <a:ext cx="32002" cy="363502"/>
            </a:xfrm>
            <a:custGeom>
              <a:avLst/>
              <a:gdLst/>
              <a:ahLst/>
              <a:cxnLst/>
              <a:rect r="r" b="b" t="t" l="l"/>
              <a:pathLst>
                <a:path h="363502" w="32002">
                  <a:moveTo>
                    <a:pt x="0" y="0"/>
                  </a:moveTo>
                  <a:lnTo>
                    <a:pt x="32002" y="0"/>
                  </a:lnTo>
                  <a:lnTo>
                    <a:pt x="32002" y="363502"/>
                  </a:lnTo>
                  <a:lnTo>
                    <a:pt x="0" y="363502"/>
                  </a:lnTo>
                  <a:close/>
                </a:path>
              </a:pathLst>
            </a:custGeom>
            <a:solidFill>
              <a:srgbClr val="1A2F81"/>
            </a:solidFill>
            <a:ln cap="sq">
              <a:noFill/>
              <a:prstDash val="solid"/>
              <a:miter/>
            </a:ln>
          </p:spPr>
        </p:sp>
        <p:sp>
          <p:nvSpPr>
            <p:cNvPr name="TextBox 65" id="65"/>
            <p:cNvSpPr txBox="true"/>
            <p:nvPr/>
          </p:nvSpPr>
          <p:spPr>
            <a:xfrm>
              <a:off x="0" y="-200025"/>
              <a:ext cx="32002" cy="563527"/>
            </a:xfrm>
            <a:prstGeom prst="rect">
              <a:avLst/>
            </a:prstGeom>
          </p:spPr>
          <p:txBody>
            <a:bodyPr anchor="ctr" rtlCol="false" tIns="50800" lIns="50800" bIns="50800" rIns="50800"/>
            <a:lstStyle/>
            <a:p>
              <a:pPr algn="ctr">
                <a:lnSpc>
                  <a:spcPts val="3079"/>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8F9"/>
        </a:solidFill>
      </p:bgPr>
    </p:bg>
    <p:spTree>
      <p:nvGrpSpPr>
        <p:cNvPr id="1" name=""/>
        <p:cNvGrpSpPr/>
        <p:nvPr/>
      </p:nvGrpSpPr>
      <p:grpSpPr>
        <a:xfrm>
          <a:off x="0" y="0"/>
          <a:ext cx="0" cy="0"/>
          <a:chOff x="0" y="0"/>
          <a:chExt cx="0" cy="0"/>
        </a:xfrm>
      </p:grpSpPr>
      <p:grpSp>
        <p:nvGrpSpPr>
          <p:cNvPr name="Group 2" id="2"/>
          <p:cNvGrpSpPr/>
          <p:nvPr/>
        </p:nvGrpSpPr>
        <p:grpSpPr>
          <a:xfrm rot="0">
            <a:off x="1047750" y="2144053"/>
            <a:ext cx="95250" cy="481013"/>
            <a:chOff x="0" y="0"/>
            <a:chExt cx="19464" cy="98292"/>
          </a:xfrm>
        </p:grpSpPr>
        <p:sp>
          <p:nvSpPr>
            <p:cNvPr name="Freeform 3" id="3"/>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4" id="4"/>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grpSp>
        <p:nvGrpSpPr>
          <p:cNvPr name="Group 5" id="5"/>
          <p:cNvGrpSpPr/>
          <p:nvPr/>
        </p:nvGrpSpPr>
        <p:grpSpPr>
          <a:xfrm rot="0">
            <a:off x="16063860" y="1132115"/>
            <a:ext cx="1177622" cy="189410"/>
            <a:chOff x="0" y="0"/>
            <a:chExt cx="1570163" cy="252547"/>
          </a:xfrm>
        </p:grpSpPr>
        <p:grpSp>
          <p:nvGrpSpPr>
            <p:cNvPr name="Group 6" id="6"/>
            <p:cNvGrpSpPr/>
            <p:nvPr/>
          </p:nvGrpSpPr>
          <p:grpSpPr>
            <a:xfrm rot="0">
              <a:off x="0" y="0"/>
              <a:ext cx="252547" cy="252547"/>
              <a:chOff x="0" y="0"/>
              <a:chExt cx="81040" cy="81040"/>
            </a:xfrm>
          </p:grpSpPr>
          <p:sp>
            <p:nvSpPr>
              <p:cNvPr name="Freeform 7" id="7"/>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8" id="8"/>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9" id="9"/>
            <p:cNvGrpSpPr/>
            <p:nvPr/>
          </p:nvGrpSpPr>
          <p:grpSpPr>
            <a:xfrm rot="0">
              <a:off x="439205" y="0"/>
              <a:ext cx="252547" cy="252547"/>
              <a:chOff x="0" y="0"/>
              <a:chExt cx="81040" cy="81040"/>
            </a:xfrm>
          </p:grpSpPr>
          <p:sp>
            <p:nvSpPr>
              <p:cNvPr name="Freeform 10" id="10"/>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1" id="11"/>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2" id="12"/>
            <p:cNvGrpSpPr/>
            <p:nvPr/>
          </p:nvGrpSpPr>
          <p:grpSpPr>
            <a:xfrm rot="0">
              <a:off x="878410" y="0"/>
              <a:ext cx="252547" cy="252547"/>
              <a:chOff x="0" y="0"/>
              <a:chExt cx="81040" cy="81040"/>
            </a:xfrm>
          </p:grpSpPr>
          <p:sp>
            <p:nvSpPr>
              <p:cNvPr name="Freeform 13" id="13"/>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4" id="14"/>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5" id="15"/>
            <p:cNvGrpSpPr/>
            <p:nvPr/>
          </p:nvGrpSpPr>
          <p:grpSpPr>
            <a:xfrm rot="0">
              <a:off x="1317615" y="0"/>
              <a:ext cx="252547" cy="252547"/>
              <a:chOff x="0" y="0"/>
              <a:chExt cx="81040" cy="81040"/>
            </a:xfrm>
          </p:grpSpPr>
          <p:sp>
            <p:nvSpPr>
              <p:cNvPr name="Freeform 16" id="16"/>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7" id="17"/>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pic>
        <p:nvPicPr>
          <p:cNvPr name="Picture 18" id="18"/>
          <p:cNvPicPr>
            <a:picLocks noChangeAspect="true"/>
          </p:cNvPicPr>
          <p:nvPr/>
        </p:nvPicPr>
        <p:blipFill>
          <a:blip r:embed="rId2"/>
          <a:stretch>
            <a:fillRect/>
          </a:stretch>
        </p:blipFill>
        <p:spPr>
          <a:xfrm rot="0">
            <a:off x="258026" y="3698296"/>
            <a:ext cx="9262872" cy="5271981"/>
          </a:xfrm>
          <a:prstGeom prst="rect">
            <a:avLst/>
          </a:prstGeom>
        </p:spPr>
      </p:pic>
      <p:sp>
        <p:nvSpPr>
          <p:cNvPr name="TextBox 19" id="19"/>
          <p:cNvSpPr txBox="true"/>
          <p:nvPr/>
        </p:nvSpPr>
        <p:spPr>
          <a:xfrm rot="0">
            <a:off x="1029932" y="2828980"/>
            <a:ext cx="7715250" cy="577215"/>
          </a:xfrm>
          <a:prstGeom prst="rect">
            <a:avLst/>
          </a:prstGeom>
        </p:spPr>
        <p:txBody>
          <a:bodyPr anchor="t" rtlCol="false" tIns="0" lIns="0" bIns="0" rIns="0">
            <a:spAutoFit/>
          </a:bodyPr>
          <a:lstStyle/>
          <a:p>
            <a:pPr algn="l">
              <a:lnSpc>
                <a:spcPts val="3359"/>
              </a:lnSpc>
              <a:spcBef>
                <a:spcPct val="0"/>
              </a:spcBef>
            </a:pPr>
            <a:r>
              <a:rPr lang="en-US" sz="2399">
                <a:solidFill>
                  <a:srgbClr val="1A2F81"/>
                </a:solidFill>
                <a:latin typeface="たづがね角ゴシック Info Medium"/>
                <a:ea typeface="たづがね角ゴシック Info Medium"/>
                <a:cs typeface="たづがね角ゴシック Info Medium"/>
                <a:sym typeface="たづがね角ゴシック Info Medium"/>
              </a:rPr>
              <a:t>参加</a:t>
            </a:r>
            <a:r>
              <a:rPr lang="en-US" sz="2399">
                <a:solidFill>
                  <a:srgbClr val="1A2F81"/>
                </a:solidFill>
                <a:latin typeface="たづがね角ゴシック Info Medium"/>
                <a:ea typeface="たづがね角ゴシック Info Medium"/>
                <a:cs typeface="たづがね角ゴシック Info Medium"/>
                <a:sym typeface="たづがね角ゴシック Info Medium"/>
              </a:rPr>
              <a:t>率の推移</a:t>
            </a:r>
          </a:p>
        </p:txBody>
      </p:sp>
      <p:grpSp>
        <p:nvGrpSpPr>
          <p:cNvPr name="Group 20" id="20"/>
          <p:cNvGrpSpPr/>
          <p:nvPr/>
        </p:nvGrpSpPr>
        <p:grpSpPr>
          <a:xfrm rot="0">
            <a:off x="1350002" y="3709332"/>
            <a:ext cx="7078919" cy="556760"/>
            <a:chOff x="0" y="0"/>
            <a:chExt cx="1864407" cy="146636"/>
          </a:xfrm>
        </p:grpSpPr>
        <p:sp>
          <p:nvSpPr>
            <p:cNvPr name="Freeform 21" id="21"/>
            <p:cNvSpPr/>
            <p:nvPr/>
          </p:nvSpPr>
          <p:spPr>
            <a:xfrm flipH="false" flipV="false" rot="0">
              <a:off x="0" y="0"/>
              <a:ext cx="1864407" cy="146636"/>
            </a:xfrm>
            <a:custGeom>
              <a:avLst/>
              <a:gdLst/>
              <a:ahLst/>
              <a:cxnLst/>
              <a:rect r="r" b="b" t="t" l="l"/>
              <a:pathLst>
                <a:path h="146636" w="1864407">
                  <a:moveTo>
                    <a:pt x="73318" y="0"/>
                  </a:moveTo>
                  <a:lnTo>
                    <a:pt x="1791089" y="0"/>
                  </a:lnTo>
                  <a:cubicBezTo>
                    <a:pt x="1810534" y="0"/>
                    <a:pt x="1829183" y="7725"/>
                    <a:pt x="1842932" y="21474"/>
                  </a:cubicBezTo>
                  <a:cubicBezTo>
                    <a:pt x="1856682" y="35224"/>
                    <a:pt x="1864407" y="53873"/>
                    <a:pt x="1864407" y="73318"/>
                  </a:cubicBezTo>
                  <a:lnTo>
                    <a:pt x="1864407" y="73318"/>
                  </a:lnTo>
                  <a:cubicBezTo>
                    <a:pt x="1864407" y="113811"/>
                    <a:pt x="1831581" y="146636"/>
                    <a:pt x="1791089" y="146636"/>
                  </a:cubicBezTo>
                  <a:lnTo>
                    <a:pt x="73318" y="146636"/>
                  </a:lnTo>
                  <a:cubicBezTo>
                    <a:pt x="53873" y="146636"/>
                    <a:pt x="35224" y="138912"/>
                    <a:pt x="21474" y="125162"/>
                  </a:cubicBezTo>
                  <a:cubicBezTo>
                    <a:pt x="7725" y="111412"/>
                    <a:pt x="0" y="92763"/>
                    <a:pt x="0" y="73318"/>
                  </a:cubicBezTo>
                  <a:lnTo>
                    <a:pt x="0" y="73318"/>
                  </a:lnTo>
                  <a:cubicBezTo>
                    <a:pt x="0" y="53873"/>
                    <a:pt x="7725" y="35224"/>
                    <a:pt x="21474" y="21474"/>
                  </a:cubicBezTo>
                  <a:cubicBezTo>
                    <a:pt x="35224" y="7725"/>
                    <a:pt x="53873" y="0"/>
                    <a:pt x="73318" y="0"/>
                  </a:cubicBezTo>
                  <a:close/>
                </a:path>
              </a:pathLst>
            </a:custGeom>
            <a:solidFill>
              <a:srgbClr val="1A2F81"/>
            </a:solidFill>
          </p:spPr>
        </p:sp>
        <p:sp>
          <p:nvSpPr>
            <p:cNvPr name="TextBox 22" id="22"/>
            <p:cNvSpPr txBox="true"/>
            <p:nvPr/>
          </p:nvSpPr>
          <p:spPr>
            <a:xfrm>
              <a:off x="0" y="-200025"/>
              <a:ext cx="1864407" cy="346661"/>
            </a:xfrm>
            <a:prstGeom prst="rect">
              <a:avLst/>
            </a:prstGeom>
          </p:spPr>
          <p:txBody>
            <a:bodyPr anchor="ctr" rtlCol="false" tIns="50800" lIns="50800" bIns="50800" rIns="50800"/>
            <a:lstStyle/>
            <a:p>
              <a:pPr algn="ctr">
                <a:lnSpc>
                  <a:spcPts val="3079"/>
                </a:lnSpc>
              </a:pPr>
            </a:p>
          </p:txBody>
        </p:sp>
      </p:grpSp>
      <p:grpSp>
        <p:nvGrpSpPr>
          <p:cNvPr name="Group 23" id="23"/>
          <p:cNvGrpSpPr/>
          <p:nvPr/>
        </p:nvGrpSpPr>
        <p:grpSpPr>
          <a:xfrm rot="-10800000">
            <a:off x="5765385" y="4184880"/>
            <a:ext cx="221271" cy="275797"/>
            <a:chOff x="0" y="0"/>
            <a:chExt cx="570592" cy="711200"/>
          </a:xfrm>
        </p:grpSpPr>
        <p:sp>
          <p:nvSpPr>
            <p:cNvPr name="Freeform 24" id="24"/>
            <p:cNvSpPr/>
            <p:nvPr/>
          </p:nvSpPr>
          <p:spPr>
            <a:xfrm flipH="false" flipV="false" rot="0">
              <a:off x="0" y="0"/>
              <a:ext cx="570592" cy="711200"/>
            </a:xfrm>
            <a:custGeom>
              <a:avLst/>
              <a:gdLst/>
              <a:ahLst/>
              <a:cxnLst/>
              <a:rect r="r" b="b" t="t" l="l"/>
              <a:pathLst>
                <a:path h="711200" w="570592">
                  <a:moveTo>
                    <a:pt x="285296" y="0"/>
                  </a:moveTo>
                  <a:lnTo>
                    <a:pt x="570592" y="711200"/>
                  </a:lnTo>
                  <a:lnTo>
                    <a:pt x="0" y="711200"/>
                  </a:lnTo>
                  <a:lnTo>
                    <a:pt x="285296" y="0"/>
                  </a:lnTo>
                  <a:close/>
                </a:path>
              </a:pathLst>
            </a:custGeom>
            <a:solidFill>
              <a:srgbClr val="1A2F81"/>
            </a:solidFill>
          </p:spPr>
        </p:sp>
        <p:sp>
          <p:nvSpPr>
            <p:cNvPr name="TextBox 25" id="25"/>
            <p:cNvSpPr txBox="true"/>
            <p:nvPr/>
          </p:nvSpPr>
          <p:spPr>
            <a:xfrm>
              <a:off x="89155" y="130175"/>
              <a:ext cx="392282" cy="530225"/>
            </a:xfrm>
            <a:prstGeom prst="rect">
              <a:avLst/>
            </a:prstGeom>
          </p:spPr>
          <p:txBody>
            <a:bodyPr anchor="ctr" rtlCol="false" tIns="50800" lIns="50800" bIns="50800" rIns="50800"/>
            <a:lstStyle/>
            <a:p>
              <a:pPr algn="ctr">
                <a:lnSpc>
                  <a:spcPts val="3079"/>
                </a:lnSpc>
              </a:pPr>
            </a:p>
          </p:txBody>
        </p:sp>
      </p:grpSp>
      <p:sp>
        <p:nvSpPr>
          <p:cNvPr name="TextBox 26" id="26"/>
          <p:cNvSpPr txBox="true"/>
          <p:nvPr/>
        </p:nvSpPr>
        <p:spPr>
          <a:xfrm rot="0">
            <a:off x="1350002" y="3628620"/>
            <a:ext cx="7078919" cy="518160"/>
          </a:xfrm>
          <a:prstGeom prst="rect">
            <a:avLst/>
          </a:prstGeom>
        </p:spPr>
        <p:txBody>
          <a:bodyPr anchor="t" rtlCol="false" tIns="0" lIns="0" bIns="0" rIns="0">
            <a:spAutoFit/>
          </a:bodyPr>
          <a:lstStyle/>
          <a:p>
            <a:pPr algn="ctr">
              <a:lnSpc>
                <a:spcPts val="2940"/>
              </a:lnSpc>
              <a:spcBef>
                <a:spcPct val="0"/>
              </a:spcBef>
            </a:pPr>
            <a:r>
              <a:rPr lang="en-US" sz="2100">
                <a:solidFill>
                  <a:srgbClr val="F7F8F9"/>
                </a:solidFill>
                <a:latin typeface="たづがね角ゴシック Info Medium"/>
                <a:ea typeface="たづがね角ゴシック Info Medium"/>
                <a:cs typeface="たづがね角ゴシック Info Medium"/>
                <a:sym typeface="たづがね角ゴシック Info Medium"/>
              </a:rPr>
              <a:t>4月テーマ「業務効率の見直し」が、参加率TOP！</a:t>
            </a:r>
          </a:p>
        </p:txBody>
      </p:sp>
      <p:sp>
        <p:nvSpPr>
          <p:cNvPr name="TextBox 27" id="27"/>
          <p:cNvSpPr txBox="true"/>
          <p:nvPr/>
        </p:nvSpPr>
        <p:spPr>
          <a:xfrm rot="0">
            <a:off x="9526232" y="2828980"/>
            <a:ext cx="7715250" cy="577215"/>
          </a:xfrm>
          <a:prstGeom prst="rect">
            <a:avLst/>
          </a:prstGeom>
        </p:spPr>
        <p:txBody>
          <a:bodyPr anchor="t" rtlCol="false" tIns="0" lIns="0" bIns="0" rIns="0">
            <a:spAutoFit/>
          </a:bodyPr>
          <a:lstStyle/>
          <a:p>
            <a:pPr algn="l">
              <a:lnSpc>
                <a:spcPts val="3359"/>
              </a:lnSpc>
              <a:spcBef>
                <a:spcPct val="0"/>
              </a:spcBef>
            </a:pPr>
            <a:r>
              <a:rPr lang="en-US" sz="2399">
                <a:solidFill>
                  <a:srgbClr val="086B89"/>
                </a:solidFill>
                <a:latin typeface="たづがね角ゴシック Info Medium"/>
                <a:ea typeface="たづがね角ゴシック Info Medium"/>
                <a:cs typeface="たづがね角ゴシック Info Medium"/>
                <a:sym typeface="たづがね角ゴシック Info Medium"/>
              </a:rPr>
              <a:t>満足度スコア</a:t>
            </a:r>
          </a:p>
        </p:txBody>
      </p:sp>
      <p:pic>
        <p:nvPicPr>
          <p:cNvPr name="Picture 28" id="28"/>
          <p:cNvPicPr>
            <a:picLocks noChangeAspect="true"/>
          </p:cNvPicPr>
          <p:nvPr/>
        </p:nvPicPr>
        <p:blipFill>
          <a:blip r:embed="rId3"/>
          <a:stretch>
            <a:fillRect/>
          </a:stretch>
        </p:blipFill>
        <p:spPr>
          <a:xfrm rot="0">
            <a:off x="10208226" y="3003383"/>
            <a:ext cx="6927590" cy="5772286"/>
          </a:xfrm>
          <a:prstGeom prst="rect">
            <a:avLst/>
          </a:prstGeom>
        </p:spPr>
      </p:pic>
      <p:sp>
        <p:nvSpPr>
          <p:cNvPr name="TextBox 29" id="29"/>
          <p:cNvSpPr txBox="true"/>
          <p:nvPr/>
        </p:nvSpPr>
        <p:spPr>
          <a:xfrm rot="0">
            <a:off x="9507182" y="5641877"/>
            <a:ext cx="7715250" cy="951230"/>
          </a:xfrm>
          <a:prstGeom prst="rect">
            <a:avLst/>
          </a:prstGeom>
        </p:spPr>
        <p:txBody>
          <a:bodyPr anchor="t" rtlCol="false" tIns="0" lIns="0" bIns="0" rIns="0">
            <a:spAutoFit/>
          </a:bodyPr>
          <a:lstStyle/>
          <a:p>
            <a:pPr algn="ctr">
              <a:lnSpc>
                <a:spcPts val="3219"/>
              </a:lnSpc>
            </a:pPr>
            <a:r>
              <a:rPr lang="en-US" sz="2299" b="true">
                <a:solidFill>
                  <a:srgbClr val="086B89"/>
                </a:solidFill>
                <a:latin typeface="たづがね角ゴシック Info Bold"/>
                <a:ea typeface="たづがね角ゴシック Info Bold"/>
                <a:cs typeface="たづがね角ゴシック Info Bold"/>
                <a:sym typeface="たづがね角ゴシック Info Bold"/>
              </a:rPr>
              <a:t>平均満足度</a:t>
            </a:r>
          </a:p>
          <a:p>
            <a:pPr algn="ctr">
              <a:lnSpc>
                <a:spcPts val="3219"/>
              </a:lnSpc>
              <a:spcBef>
                <a:spcPct val="0"/>
              </a:spcBef>
            </a:pPr>
            <a:r>
              <a:rPr lang="en-US" b="true" sz="2299">
                <a:solidFill>
                  <a:srgbClr val="086B89"/>
                </a:solidFill>
                <a:latin typeface="たづがね角ゴシック Info Bold"/>
                <a:ea typeface="たづがね角ゴシック Info Bold"/>
                <a:cs typeface="たづがね角ゴシック Info Bold"/>
                <a:sym typeface="たづがね角ゴシック Info Bold"/>
              </a:rPr>
              <a:t>4.6／5.0</a:t>
            </a:r>
          </a:p>
        </p:txBody>
      </p:sp>
      <p:grpSp>
        <p:nvGrpSpPr>
          <p:cNvPr name="Group 30" id="30"/>
          <p:cNvGrpSpPr/>
          <p:nvPr/>
        </p:nvGrpSpPr>
        <p:grpSpPr>
          <a:xfrm rot="0">
            <a:off x="1057275" y="8645774"/>
            <a:ext cx="16211550" cy="612526"/>
            <a:chOff x="0" y="0"/>
            <a:chExt cx="4269709" cy="161324"/>
          </a:xfrm>
        </p:grpSpPr>
        <p:sp>
          <p:nvSpPr>
            <p:cNvPr name="Freeform 31" id="31"/>
            <p:cNvSpPr/>
            <p:nvPr/>
          </p:nvSpPr>
          <p:spPr>
            <a:xfrm flipH="false" flipV="false" rot="0">
              <a:off x="0" y="0"/>
              <a:ext cx="4269709" cy="161324"/>
            </a:xfrm>
            <a:custGeom>
              <a:avLst/>
              <a:gdLst/>
              <a:ahLst/>
              <a:cxnLst/>
              <a:rect r="r" b="b" t="t" l="l"/>
              <a:pathLst>
                <a:path h="161324" w="4269709">
                  <a:moveTo>
                    <a:pt x="47756" y="0"/>
                  </a:moveTo>
                  <a:lnTo>
                    <a:pt x="4221953" y="0"/>
                  </a:lnTo>
                  <a:cubicBezTo>
                    <a:pt x="4248328" y="0"/>
                    <a:pt x="4269709" y="21381"/>
                    <a:pt x="4269709" y="47756"/>
                  </a:cubicBezTo>
                  <a:lnTo>
                    <a:pt x="4269709" y="113568"/>
                  </a:lnTo>
                  <a:cubicBezTo>
                    <a:pt x="4269709" y="126234"/>
                    <a:pt x="4264677" y="138380"/>
                    <a:pt x="4255722" y="147336"/>
                  </a:cubicBezTo>
                  <a:cubicBezTo>
                    <a:pt x="4246766" y="156292"/>
                    <a:pt x="4234619" y="161324"/>
                    <a:pt x="4221953" y="161324"/>
                  </a:cubicBezTo>
                  <a:lnTo>
                    <a:pt x="47756" y="161324"/>
                  </a:lnTo>
                  <a:cubicBezTo>
                    <a:pt x="35090" y="161324"/>
                    <a:pt x="22943" y="156292"/>
                    <a:pt x="13987" y="147336"/>
                  </a:cubicBezTo>
                  <a:cubicBezTo>
                    <a:pt x="5031" y="138380"/>
                    <a:pt x="0" y="126234"/>
                    <a:pt x="0" y="113568"/>
                  </a:cubicBezTo>
                  <a:lnTo>
                    <a:pt x="0" y="47756"/>
                  </a:lnTo>
                  <a:cubicBezTo>
                    <a:pt x="0" y="35090"/>
                    <a:pt x="5031" y="22943"/>
                    <a:pt x="13987" y="13987"/>
                  </a:cubicBezTo>
                  <a:cubicBezTo>
                    <a:pt x="22943" y="5031"/>
                    <a:pt x="35090" y="0"/>
                    <a:pt x="47756" y="0"/>
                  </a:cubicBezTo>
                  <a:close/>
                </a:path>
              </a:pathLst>
            </a:custGeom>
            <a:ln w="19050" cap="rnd">
              <a:solidFill>
                <a:srgbClr val="090909"/>
              </a:solidFill>
              <a:prstDash val="solid"/>
              <a:round/>
            </a:ln>
          </p:spPr>
        </p:sp>
        <p:sp>
          <p:nvSpPr>
            <p:cNvPr name="TextBox 32" id="32"/>
            <p:cNvSpPr txBox="true"/>
            <p:nvPr/>
          </p:nvSpPr>
          <p:spPr>
            <a:xfrm>
              <a:off x="0" y="-200025"/>
              <a:ext cx="4269709" cy="361349"/>
            </a:xfrm>
            <a:prstGeom prst="rect">
              <a:avLst/>
            </a:prstGeom>
          </p:spPr>
          <p:txBody>
            <a:bodyPr anchor="ctr" rtlCol="false" tIns="50800" lIns="50800" bIns="50800" rIns="50800"/>
            <a:lstStyle/>
            <a:p>
              <a:pPr algn="ctr">
                <a:lnSpc>
                  <a:spcPts val="3079"/>
                </a:lnSpc>
              </a:pPr>
            </a:p>
          </p:txBody>
        </p:sp>
      </p:grpSp>
      <p:sp>
        <p:nvSpPr>
          <p:cNvPr name="TextBox 33" id="33"/>
          <p:cNvSpPr txBox="true"/>
          <p:nvPr/>
        </p:nvSpPr>
        <p:spPr>
          <a:xfrm rot="0">
            <a:off x="1301441" y="1915295"/>
            <a:ext cx="7604434"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セミナー参加状況と満足度の推移</a:t>
            </a:r>
          </a:p>
        </p:txBody>
      </p:sp>
      <p:sp>
        <p:nvSpPr>
          <p:cNvPr name="TextBox 34" id="34"/>
          <p:cNvSpPr txBox="true"/>
          <p:nvPr/>
        </p:nvSpPr>
        <p:spPr>
          <a:xfrm rot="0">
            <a:off x="1047750" y="828675"/>
            <a:ext cx="10159841" cy="577215"/>
          </a:xfrm>
          <a:prstGeom prst="rect">
            <a:avLst/>
          </a:prstGeom>
        </p:spPr>
        <p:txBody>
          <a:bodyPr anchor="t" rtlCol="false" tIns="0" lIns="0" bIns="0" rIns="0">
            <a:spAutoFit/>
          </a:bodyPr>
          <a:lstStyle/>
          <a:p>
            <a:pPr algn="l">
              <a:lnSpc>
                <a:spcPts val="3359"/>
              </a:lnSpc>
              <a:spcBef>
                <a:spcPct val="0"/>
              </a:spcBef>
            </a:pPr>
            <a:r>
              <a:rPr lang="en-US" sz="2400">
                <a:solidFill>
                  <a:srgbClr val="1A2F81"/>
                </a:solidFill>
                <a:latin typeface="たづがね角ゴシック Info"/>
                <a:ea typeface="たづがね角ゴシック Info"/>
                <a:cs typeface="たづがね角ゴシック Info"/>
                <a:sym typeface="たづがね角ゴシック Info"/>
              </a:rPr>
              <a:t>Topic 02：セミナー運営の強化</a:t>
            </a:r>
          </a:p>
        </p:txBody>
      </p:sp>
      <p:sp>
        <p:nvSpPr>
          <p:cNvPr name="TextBox 35" id="35"/>
          <p:cNvSpPr txBox="true"/>
          <p:nvPr/>
        </p:nvSpPr>
        <p:spPr>
          <a:xfrm rot="0">
            <a:off x="9172575" y="1054418"/>
            <a:ext cx="6688237" cy="306705"/>
          </a:xfrm>
          <a:prstGeom prst="rect">
            <a:avLst/>
          </a:prstGeom>
        </p:spPr>
        <p:txBody>
          <a:bodyPr anchor="t" rtlCol="false" tIns="0" lIns="0" bIns="0" rIns="0">
            <a:spAutoFit/>
          </a:bodyPr>
          <a:lstStyle/>
          <a:p>
            <a:pPr algn="r">
              <a:lnSpc>
                <a:spcPts val="2520"/>
              </a:lnSpc>
              <a:spcBef>
                <a:spcPct val="0"/>
              </a:spcBef>
            </a:pPr>
            <a:r>
              <a:rPr lang="en-US" b="true" sz="1800">
                <a:solidFill>
                  <a:srgbClr val="1A2F81"/>
                </a:solidFill>
                <a:latin typeface="Montserrat Medium"/>
                <a:ea typeface="Montserrat Medium"/>
                <a:cs typeface="Montserrat Medium"/>
                <a:sym typeface="Montserrat Medium"/>
              </a:rPr>
              <a:t>Enhancing Internal Seminars</a:t>
            </a:r>
          </a:p>
        </p:txBody>
      </p:sp>
      <p:sp>
        <p:nvSpPr>
          <p:cNvPr name="TextBox 36" id="36"/>
          <p:cNvSpPr txBox="true"/>
          <p:nvPr/>
        </p:nvSpPr>
        <p:spPr>
          <a:xfrm rot="0">
            <a:off x="1057275" y="8510077"/>
            <a:ext cx="16211550" cy="645795"/>
          </a:xfrm>
          <a:prstGeom prst="rect">
            <a:avLst/>
          </a:prstGeom>
        </p:spPr>
        <p:txBody>
          <a:bodyPr anchor="t" rtlCol="false" tIns="0" lIns="0" bIns="0" rIns="0">
            <a:spAutoFit/>
          </a:bodyPr>
          <a:lstStyle/>
          <a:p>
            <a:pPr algn="ctr">
              <a:lnSpc>
                <a:spcPts val="3779"/>
              </a:lnSpc>
              <a:spcBef>
                <a:spcPct val="0"/>
              </a:spcBef>
            </a:pPr>
            <a:r>
              <a:rPr lang="en-US" b="true" sz="2699">
                <a:solidFill>
                  <a:srgbClr val="010817"/>
                </a:solidFill>
                <a:latin typeface="たづがね角ゴシック Info Bold"/>
                <a:ea typeface="たづがね角ゴシック Info Bold"/>
                <a:cs typeface="たづがね角ゴシック Info Bold"/>
                <a:sym typeface="たづがね角ゴシック Info Bold"/>
              </a:rPr>
              <a:t>継続的な開催が、社内の学びと満足に直結</a:t>
            </a:r>
          </a:p>
        </p:txBody>
      </p:sp>
      <p:sp>
        <p:nvSpPr>
          <p:cNvPr name="AutoShape 37" id="37"/>
          <p:cNvSpPr/>
          <p:nvPr/>
        </p:nvSpPr>
        <p:spPr>
          <a:xfrm flipV="true">
            <a:off x="9144000" y="3048055"/>
            <a:ext cx="0" cy="5150316"/>
          </a:xfrm>
          <a:prstGeom prst="line">
            <a:avLst/>
          </a:prstGeom>
          <a:ln cap="flat" w="19050">
            <a:solidFill>
              <a:srgbClr val="B1B8C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8F9"/>
        </a:solidFill>
      </p:bgPr>
    </p:bg>
    <p:spTree>
      <p:nvGrpSpPr>
        <p:cNvPr id="1" name=""/>
        <p:cNvGrpSpPr/>
        <p:nvPr/>
      </p:nvGrpSpPr>
      <p:grpSpPr>
        <a:xfrm>
          <a:off x="0" y="0"/>
          <a:ext cx="0" cy="0"/>
          <a:chOff x="0" y="0"/>
          <a:chExt cx="0" cy="0"/>
        </a:xfrm>
      </p:grpSpPr>
      <p:grpSp>
        <p:nvGrpSpPr>
          <p:cNvPr name="Group 2" id="2"/>
          <p:cNvGrpSpPr/>
          <p:nvPr/>
        </p:nvGrpSpPr>
        <p:grpSpPr>
          <a:xfrm rot="0">
            <a:off x="1047750" y="2144053"/>
            <a:ext cx="95250" cy="481013"/>
            <a:chOff x="0" y="0"/>
            <a:chExt cx="19464" cy="98292"/>
          </a:xfrm>
        </p:grpSpPr>
        <p:sp>
          <p:nvSpPr>
            <p:cNvPr name="Freeform 3" id="3"/>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4" id="4"/>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grpSp>
        <p:nvGrpSpPr>
          <p:cNvPr name="Group 5" id="5"/>
          <p:cNvGrpSpPr/>
          <p:nvPr/>
        </p:nvGrpSpPr>
        <p:grpSpPr>
          <a:xfrm rot="0">
            <a:off x="16063860" y="1132115"/>
            <a:ext cx="1177622" cy="189410"/>
            <a:chOff x="0" y="0"/>
            <a:chExt cx="1570163" cy="252547"/>
          </a:xfrm>
        </p:grpSpPr>
        <p:grpSp>
          <p:nvGrpSpPr>
            <p:cNvPr name="Group 6" id="6"/>
            <p:cNvGrpSpPr/>
            <p:nvPr/>
          </p:nvGrpSpPr>
          <p:grpSpPr>
            <a:xfrm rot="0">
              <a:off x="0" y="0"/>
              <a:ext cx="252547" cy="252547"/>
              <a:chOff x="0" y="0"/>
              <a:chExt cx="81040" cy="81040"/>
            </a:xfrm>
          </p:grpSpPr>
          <p:sp>
            <p:nvSpPr>
              <p:cNvPr name="Freeform 7" id="7"/>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8" id="8"/>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9" id="9"/>
            <p:cNvGrpSpPr/>
            <p:nvPr/>
          </p:nvGrpSpPr>
          <p:grpSpPr>
            <a:xfrm rot="0">
              <a:off x="439205" y="0"/>
              <a:ext cx="252547" cy="252547"/>
              <a:chOff x="0" y="0"/>
              <a:chExt cx="81040" cy="81040"/>
            </a:xfrm>
          </p:grpSpPr>
          <p:sp>
            <p:nvSpPr>
              <p:cNvPr name="Freeform 10" id="10"/>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1" id="11"/>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2" id="12"/>
            <p:cNvGrpSpPr/>
            <p:nvPr/>
          </p:nvGrpSpPr>
          <p:grpSpPr>
            <a:xfrm rot="0">
              <a:off x="878410" y="0"/>
              <a:ext cx="252547" cy="252547"/>
              <a:chOff x="0" y="0"/>
              <a:chExt cx="81040" cy="81040"/>
            </a:xfrm>
          </p:grpSpPr>
          <p:sp>
            <p:nvSpPr>
              <p:cNvPr name="Freeform 13" id="13"/>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4" id="14"/>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5" id="15"/>
            <p:cNvGrpSpPr/>
            <p:nvPr/>
          </p:nvGrpSpPr>
          <p:grpSpPr>
            <a:xfrm rot="0">
              <a:off x="1317615" y="0"/>
              <a:ext cx="252547" cy="252547"/>
              <a:chOff x="0" y="0"/>
              <a:chExt cx="81040" cy="81040"/>
            </a:xfrm>
          </p:grpSpPr>
          <p:sp>
            <p:nvSpPr>
              <p:cNvPr name="Freeform 16" id="16"/>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7" id="17"/>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pic>
        <p:nvPicPr>
          <p:cNvPr name="Picture 18" id="18"/>
          <p:cNvPicPr>
            <a:picLocks noChangeAspect="true"/>
          </p:cNvPicPr>
          <p:nvPr/>
        </p:nvPicPr>
        <p:blipFill>
          <a:blip r:embed="rId2"/>
          <a:stretch>
            <a:fillRect/>
          </a:stretch>
        </p:blipFill>
        <p:spPr>
          <a:xfrm rot="0">
            <a:off x="276225" y="3727252"/>
            <a:ext cx="9258300" cy="6283523"/>
          </a:xfrm>
          <a:prstGeom prst="rect">
            <a:avLst/>
          </a:prstGeom>
        </p:spPr>
      </p:pic>
      <p:sp>
        <p:nvSpPr>
          <p:cNvPr name="TextBox 19" id="19"/>
          <p:cNvSpPr txBox="true"/>
          <p:nvPr/>
        </p:nvSpPr>
        <p:spPr>
          <a:xfrm rot="0">
            <a:off x="1029932" y="2828980"/>
            <a:ext cx="7715250" cy="577215"/>
          </a:xfrm>
          <a:prstGeom prst="rect">
            <a:avLst/>
          </a:prstGeom>
        </p:spPr>
        <p:txBody>
          <a:bodyPr anchor="t" rtlCol="false" tIns="0" lIns="0" bIns="0" rIns="0">
            <a:spAutoFit/>
          </a:bodyPr>
          <a:lstStyle/>
          <a:p>
            <a:pPr algn="l">
              <a:lnSpc>
                <a:spcPts val="3359"/>
              </a:lnSpc>
              <a:spcBef>
                <a:spcPct val="0"/>
              </a:spcBef>
            </a:pPr>
            <a:r>
              <a:rPr lang="en-US" sz="2399">
                <a:solidFill>
                  <a:srgbClr val="1A2F81"/>
                </a:solidFill>
                <a:latin typeface="たづがね角ゴシック Info Medium"/>
                <a:ea typeface="たづがね角ゴシック Info Medium"/>
                <a:cs typeface="たづがね角ゴシック Info Medium"/>
                <a:sym typeface="たづがね角ゴシック Info Medium"/>
              </a:rPr>
              <a:t>引用件数</a:t>
            </a:r>
            <a:r>
              <a:rPr lang="en-US" sz="2399">
                <a:solidFill>
                  <a:srgbClr val="1A2F81"/>
                </a:solidFill>
                <a:latin typeface="たづがね角ゴシック Info Medium"/>
                <a:ea typeface="たづがね角ゴシック Info Medium"/>
                <a:cs typeface="たづがね角ゴシック Info Medium"/>
                <a:sym typeface="たづがね角ゴシック Info Medium"/>
              </a:rPr>
              <a:t>の推移</a:t>
            </a:r>
          </a:p>
        </p:txBody>
      </p:sp>
      <p:grpSp>
        <p:nvGrpSpPr>
          <p:cNvPr name="Group 20" id="20"/>
          <p:cNvGrpSpPr/>
          <p:nvPr/>
        </p:nvGrpSpPr>
        <p:grpSpPr>
          <a:xfrm rot="0">
            <a:off x="2609679" y="4630563"/>
            <a:ext cx="4837121" cy="556760"/>
            <a:chOff x="0" y="0"/>
            <a:chExt cx="1273974" cy="146636"/>
          </a:xfrm>
        </p:grpSpPr>
        <p:sp>
          <p:nvSpPr>
            <p:cNvPr name="Freeform 21" id="21"/>
            <p:cNvSpPr/>
            <p:nvPr/>
          </p:nvSpPr>
          <p:spPr>
            <a:xfrm flipH="false" flipV="false" rot="0">
              <a:off x="0" y="0"/>
              <a:ext cx="1273974" cy="146636"/>
            </a:xfrm>
            <a:custGeom>
              <a:avLst/>
              <a:gdLst/>
              <a:ahLst/>
              <a:cxnLst/>
              <a:rect r="r" b="b" t="t" l="l"/>
              <a:pathLst>
                <a:path h="146636" w="1273974">
                  <a:moveTo>
                    <a:pt x="73318" y="0"/>
                  </a:moveTo>
                  <a:lnTo>
                    <a:pt x="1200656" y="0"/>
                  </a:lnTo>
                  <a:cubicBezTo>
                    <a:pt x="1241149" y="0"/>
                    <a:pt x="1273974" y="32826"/>
                    <a:pt x="1273974" y="73318"/>
                  </a:cubicBezTo>
                  <a:lnTo>
                    <a:pt x="1273974" y="73318"/>
                  </a:lnTo>
                  <a:cubicBezTo>
                    <a:pt x="1273974" y="92763"/>
                    <a:pt x="1266250" y="111412"/>
                    <a:pt x="1252500" y="125162"/>
                  </a:cubicBezTo>
                  <a:cubicBezTo>
                    <a:pt x="1238750" y="138912"/>
                    <a:pt x="1220101" y="146636"/>
                    <a:pt x="1200656" y="146636"/>
                  </a:cubicBezTo>
                  <a:lnTo>
                    <a:pt x="73318" y="146636"/>
                  </a:lnTo>
                  <a:cubicBezTo>
                    <a:pt x="53873" y="146636"/>
                    <a:pt x="35224" y="138912"/>
                    <a:pt x="21474" y="125162"/>
                  </a:cubicBezTo>
                  <a:cubicBezTo>
                    <a:pt x="7725" y="111412"/>
                    <a:pt x="0" y="92763"/>
                    <a:pt x="0" y="73318"/>
                  </a:cubicBezTo>
                  <a:lnTo>
                    <a:pt x="0" y="73318"/>
                  </a:lnTo>
                  <a:cubicBezTo>
                    <a:pt x="0" y="53873"/>
                    <a:pt x="7725" y="35224"/>
                    <a:pt x="21474" y="21474"/>
                  </a:cubicBezTo>
                  <a:cubicBezTo>
                    <a:pt x="35224" y="7725"/>
                    <a:pt x="53873" y="0"/>
                    <a:pt x="73318" y="0"/>
                  </a:cubicBezTo>
                  <a:close/>
                </a:path>
              </a:pathLst>
            </a:custGeom>
            <a:solidFill>
              <a:srgbClr val="1A2F81"/>
            </a:solidFill>
          </p:spPr>
        </p:sp>
        <p:sp>
          <p:nvSpPr>
            <p:cNvPr name="TextBox 22" id="22"/>
            <p:cNvSpPr txBox="true"/>
            <p:nvPr/>
          </p:nvSpPr>
          <p:spPr>
            <a:xfrm>
              <a:off x="0" y="-200025"/>
              <a:ext cx="1273974" cy="346661"/>
            </a:xfrm>
            <a:prstGeom prst="rect">
              <a:avLst/>
            </a:prstGeom>
          </p:spPr>
          <p:txBody>
            <a:bodyPr anchor="ctr" rtlCol="false" tIns="50800" lIns="50800" bIns="50800" rIns="50800"/>
            <a:lstStyle/>
            <a:p>
              <a:pPr algn="ctr">
                <a:lnSpc>
                  <a:spcPts val="3079"/>
                </a:lnSpc>
              </a:pPr>
            </a:p>
          </p:txBody>
        </p:sp>
      </p:grpSp>
      <p:grpSp>
        <p:nvGrpSpPr>
          <p:cNvPr name="Group 23" id="23"/>
          <p:cNvGrpSpPr/>
          <p:nvPr/>
        </p:nvGrpSpPr>
        <p:grpSpPr>
          <a:xfrm rot="-10800000">
            <a:off x="5554667" y="5113512"/>
            <a:ext cx="221271" cy="428625"/>
            <a:chOff x="0" y="0"/>
            <a:chExt cx="570592" cy="1105298"/>
          </a:xfrm>
        </p:grpSpPr>
        <p:sp>
          <p:nvSpPr>
            <p:cNvPr name="Freeform 24" id="24"/>
            <p:cNvSpPr/>
            <p:nvPr/>
          </p:nvSpPr>
          <p:spPr>
            <a:xfrm flipH="false" flipV="false" rot="0">
              <a:off x="0" y="0"/>
              <a:ext cx="570592" cy="1105298"/>
            </a:xfrm>
            <a:custGeom>
              <a:avLst/>
              <a:gdLst/>
              <a:ahLst/>
              <a:cxnLst/>
              <a:rect r="r" b="b" t="t" l="l"/>
              <a:pathLst>
                <a:path h="1105298" w="570592">
                  <a:moveTo>
                    <a:pt x="285296" y="0"/>
                  </a:moveTo>
                  <a:lnTo>
                    <a:pt x="570592" y="1105298"/>
                  </a:lnTo>
                  <a:lnTo>
                    <a:pt x="0" y="1105298"/>
                  </a:lnTo>
                  <a:lnTo>
                    <a:pt x="285296" y="0"/>
                  </a:lnTo>
                  <a:close/>
                </a:path>
              </a:pathLst>
            </a:custGeom>
            <a:solidFill>
              <a:srgbClr val="1A2F81"/>
            </a:solidFill>
          </p:spPr>
        </p:sp>
        <p:sp>
          <p:nvSpPr>
            <p:cNvPr name="TextBox 25" id="25"/>
            <p:cNvSpPr txBox="true"/>
            <p:nvPr/>
          </p:nvSpPr>
          <p:spPr>
            <a:xfrm>
              <a:off x="89155" y="313149"/>
              <a:ext cx="392282" cy="713199"/>
            </a:xfrm>
            <a:prstGeom prst="rect">
              <a:avLst/>
            </a:prstGeom>
          </p:spPr>
          <p:txBody>
            <a:bodyPr anchor="ctr" rtlCol="false" tIns="50800" lIns="50800" bIns="50800" rIns="50800"/>
            <a:lstStyle/>
            <a:p>
              <a:pPr algn="ctr">
                <a:lnSpc>
                  <a:spcPts val="3079"/>
                </a:lnSpc>
              </a:pPr>
            </a:p>
          </p:txBody>
        </p:sp>
      </p:grpSp>
      <p:sp>
        <p:nvSpPr>
          <p:cNvPr name="TextBox 26" id="26"/>
          <p:cNvSpPr txBox="true"/>
          <p:nvPr/>
        </p:nvSpPr>
        <p:spPr>
          <a:xfrm rot="0">
            <a:off x="2609679" y="4594935"/>
            <a:ext cx="4837121" cy="456565"/>
          </a:xfrm>
          <a:prstGeom prst="rect">
            <a:avLst/>
          </a:prstGeom>
        </p:spPr>
        <p:txBody>
          <a:bodyPr anchor="t" rtlCol="false" tIns="0" lIns="0" bIns="0" rIns="0">
            <a:spAutoFit/>
          </a:bodyPr>
          <a:lstStyle/>
          <a:p>
            <a:pPr algn="ctr">
              <a:lnSpc>
                <a:spcPts val="2660"/>
              </a:lnSpc>
              <a:spcBef>
                <a:spcPct val="0"/>
              </a:spcBef>
            </a:pPr>
            <a:r>
              <a:rPr lang="en-US" sz="1900">
                <a:solidFill>
                  <a:srgbClr val="F7F8F9"/>
                </a:solidFill>
                <a:latin typeface="たづがね角ゴシック Info Medium"/>
                <a:ea typeface="たづがね角ゴシック Info Medium"/>
                <a:cs typeface="たづがね角ゴシック Info Medium"/>
                <a:sym typeface="たづがね角ゴシック Info Medium"/>
              </a:rPr>
              <a:t>第5週：フィードバック導入後に引用増</a:t>
            </a:r>
          </a:p>
        </p:txBody>
      </p:sp>
      <p:sp>
        <p:nvSpPr>
          <p:cNvPr name="TextBox 27" id="27"/>
          <p:cNvSpPr txBox="true"/>
          <p:nvPr/>
        </p:nvSpPr>
        <p:spPr>
          <a:xfrm rot="0">
            <a:off x="9526232" y="2828980"/>
            <a:ext cx="7715250" cy="577215"/>
          </a:xfrm>
          <a:prstGeom prst="rect">
            <a:avLst/>
          </a:prstGeom>
        </p:spPr>
        <p:txBody>
          <a:bodyPr anchor="t" rtlCol="false" tIns="0" lIns="0" bIns="0" rIns="0">
            <a:spAutoFit/>
          </a:bodyPr>
          <a:lstStyle/>
          <a:p>
            <a:pPr algn="l">
              <a:lnSpc>
                <a:spcPts val="3359"/>
              </a:lnSpc>
              <a:spcBef>
                <a:spcPct val="0"/>
              </a:spcBef>
            </a:pPr>
            <a:r>
              <a:rPr lang="en-US" sz="2399">
                <a:solidFill>
                  <a:srgbClr val="086B89"/>
                </a:solidFill>
                <a:latin typeface="たづがね角ゴシック Info Medium"/>
                <a:ea typeface="たづがね角ゴシック Info Medium"/>
                <a:cs typeface="たづがね角ゴシック Info Medium"/>
                <a:sym typeface="たづがね角ゴシック Info Medium"/>
              </a:rPr>
              <a:t>KPI別使用率</a:t>
            </a:r>
          </a:p>
        </p:txBody>
      </p:sp>
      <p:sp>
        <p:nvSpPr>
          <p:cNvPr name="TextBox 28" id="28"/>
          <p:cNvSpPr txBox="true"/>
          <p:nvPr/>
        </p:nvSpPr>
        <p:spPr>
          <a:xfrm rot="0">
            <a:off x="1301441" y="1915295"/>
            <a:ext cx="7604434"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レポート活用状況の推移とKPI別使用傾向</a:t>
            </a:r>
          </a:p>
        </p:txBody>
      </p:sp>
      <p:sp>
        <p:nvSpPr>
          <p:cNvPr name="TextBox 29" id="29"/>
          <p:cNvSpPr txBox="true"/>
          <p:nvPr/>
        </p:nvSpPr>
        <p:spPr>
          <a:xfrm rot="0">
            <a:off x="1047750" y="828675"/>
            <a:ext cx="10159841" cy="577215"/>
          </a:xfrm>
          <a:prstGeom prst="rect">
            <a:avLst/>
          </a:prstGeom>
        </p:spPr>
        <p:txBody>
          <a:bodyPr anchor="t" rtlCol="false" tIns="0" lIns="0" bIns="0" rIns="0">
            <a:spAutoFit/>
          </a:bodyPr>
          <a:lstStyle/>
          <a:p>
            <a:pPr algn="l">
              <a:lnSpc>
                <a:spcPts val="3359"/>
              </a:lnSpc>
              <a:spcBef>
                <a:spcPct val="0"/>
              </a:spcBef>
            </a:pPr>
            <a:r>
              <a:rPr lang="en-US" sz="2400">
                <a:solidFill>
                  <a:srgbClr val="1A2F81"/>
                </a:solidFill>
                <a:latin typeface="たづがね角ゴシック Info"/>
                <a:ea typeface="たづがね角ゴシック Info"/>
                <a:cs typeface="たづがね角ゴシック Info"/>
                <a:sym typeface="たづがね角ゴシック Info"/>
              </a:rPr>
              <a:t>Topic 03：営業支援レポートの整備と活用状況</a:t>
            </a:r>
          </a:p>
        </p:txBody>
      </p:sp>
      <p:sp>
        <p:nvSpPr>
          <p:cNvPr name="TextBox 30" id="30"/>
          <p:cNvSpPr txBox="true"/>
          <p:nvPr/>
        </p:nvSpPr>
        <p:spPr>
          <a:xfrm rot="0">
            <a:off x="9172575" y="1054418"/>
            <a:ext cx="6688237" cy="306705"/>
          </a:xfrm>
          <a:prstGeom prst="rect">
            <a:avLst/>
          </a:prstGeom>
        </p:spPr>
        <p:txBody>
          <a:bodyPr anchor="t" rtlCol="false" tIns="0" lIns="0" bIns="0" rIns="0">
            <a:spAutoFit/>
          </a:bodyPr>
          <a:lstStyle/>
          <a:p>
            <a:pPr algn="r">
              <a:lnSpc>
                <a:spcPts val="2520"/>
              </a:lnSpc>
              <a:spcBef>
                <a:spcPct val="0"/>
              </a:spcBef>
            </a:pPr>
            <a:r>
              <a:rPr lang="en-US" b="true" sz="1800">
                <a:solidFill>
                  <a:srgbClr val="1A2F81"/>
                </a:solidFill>
                <a:latin typeface="Montserrat Medium"/>
                <a:ea typeface="Montserrat Medium"/>
                <a:cs typeface="Montserrat Medium"/>
                <a:sym typeface="Montserrat Medium"/>
              </a:rPr>
              <a:t>Enhancing Sales Support Reports</a:t>
            </a:r>
          </a:p>
        </p:txBody>
      </p:sp>
      <p:grpSp>
        <p:nvGrpSpPr>
          <p:cNvPr name="Group 31" id="31"/>
          <p:cNvGrpSpPr/>
          <p:nvPr/>
        </p:nvGrpSpPr>
        <p:grpSpPr>
          <a:xfrm rot="0">
            <a:off x="3972112" y="3806556"/>
            <a:ext cx="4773070" cy="556760"/>
            <a:chOff x="0" y="0"/>
            <a:chExt cx="1257105" cy="146636"/>
          </a:xfrm>
        </p:grpSpPr>
        <p:sp>
          <p:nvSpPr>
            <p:cNvPr name="Freeform 32" id="32"/>
            <p:cNvSpPr/>
            <p:nvPr/>
          </p:nvSpPr>
          <p:spPr>
            <a:xfrm flipH="false" flipV="false" rot="0">
              <a:off x="0" y="0"/>
              <a:ext cx="1257105" cy="146636"/>
            </a:xfrm>
            <a:custGeom>
              <a:avLst/>
              <a:gdLst/>
              <a:ahLst/>
              <a:cxnLst/>
              <a:rect r="r" b="b" t="t" l="l"/>
              <a:pathLst>
                <a:path h="146636" w="1257105">
                  <a:moveTo>
                    <a:pt x="73318" y="0"/>
                  </a:moveTo>
                  <a:lnTo>
                    <a:pt x="1183787" y="0"/>
                  </a:lnTo>
                  <a:cubicBezTo>
                    <a:pt x="1203232" y="0"/>
                    <a:pt x="1221881" y="7725"/>
                    <a:pt x="1235630" y="21474"/>
                  </a:cubicBezTo>
                  <a:cubicBezTo>
                    <a:pt x="1249380" y="35224"/>
                    <a:pt x="1257105" y="53873"/>
                    <a:pt x="1257105" y="73318"/>
                  </a:cubicBezTo>
                  <a:lnTo>
                    <a:pt x="1257105" y="73318"/>
                  </a:lnTo>
                  <a:cubicBezTo>
                    <a:pt x="1257105" y="113811"/>
                    <a:pt x="1224279" y="146636"/>
                    <a:pt x="1183787" y="146636"/>
                  </a:cubicBezTo>
                  <a:lnTo>
                    <a:pt x="73318" y="146636"/>
                  </a:lnTo>
                  <a:cubicBezTo>
                    <a:pt x="53873" y="146636"/>
                    <a:pt x="35224" y="138912"/>
                    <a:pt x="21474" y="125162"/>
                  </a:cubicBezTo>
                  <a:cubicBezTo>
                    <a:pt x="7725" y="111412"/>
                    <a:pt x="0" y="92763"/>
                    <a:pt x="0" y="73318"/>
                  </a:cubicBezTo>
                  <a:lnTo>
                    <a:pt x="0" y="73318"/>
                  </a:lnTo>
                  <a:cubicBezTo>
                    <a:pt x="0" y="53873"/>
                    <a:pt x="7725" y="35224"/>
                    <a:pt x="21474" y="21474"/>
                  </a:cubicBezTo>
                  <a:cubicBezTo>
                    <a:pt x="35224" y="7725"/>
                    <a:pt x="53873" y="0"/>
                    <a:pt x="73318" y="0"/>
                  </a:cubicBezTo>
                  <a:close/>
                </a:path>
              </a:pathLst>
            </a:custGeom>
            <a:solidFill>
              <a:srgbClr val="1A2F81"/>
            </a:solidFill>
          </p:spPr>
        </p:sp>
        <p:sp>
          <p:nvSpPr>
            <p:cNvPr name="TextBox 33" id="33"/>
            <p:cNvSpPr txBox="true"/>
            <p:nvPr/>
          </p:nvSpPr>
          <p:spPr>
            <a:xfrm>
              <a:off x="0" y="-200025"/>
              <a:ext cx="1257105" cy="346661"/>
            </a:xfrm>
            <a:prstGeom prst="rect">
              <a:avLst/>
            </a:prstGeom>
          </p:spPr>
          <p:txBody>
            <a:bodyPr anchor="ctr" rtlCol="false" tIns="50800" lIns="50800" bIns="50800" rIns="50800"/>
            <a:lstStyle/>
            <a:p>
              <a:pPr algn="ctr">
                <a:lnSpc>
                  <a:spcPts val="3079"/>
                </a:lnSpc>
              </a:pPr>
            </a:p>
          </p:txBody>
        </p:sp>
      </p:grpSp>
      <p:grpSp>
        <p:nvGrpSpPr>
          <p:cNvPr name="Group 34" id="34"/>
          <p:cNvGrpSpPr/>
          <p:nvPr/>
        </p:nvGrpSpPr>
        <p:grpSpPr>
          <a:xfrm rot="-10800000">
            <a:off x="8170700" y="4289505"/>
            <a:ext cx="221271" cy="428625"/>
            <a:chOff x="0" y="0"/>
            <a:chExt cx="570592" cy="1105298"/>
          </a:xfrm>
        </p:grpSpPr>
        <p:sp>
          <p:nvSpPr>
            <p:cNvPr name="Freeform 35" id="35"/>
            <p:cNvSpPr/>
            <p:nvPr/>
          </p:nvSpPr>
          <p:spPr>
            <a:xfrm flipH="false" flipV="false" rot="0">
              <a:off x="0" y="0"/>
              <a:ext cx="570592" cy="1105298"/>
            </a:xfrm>
            <a:custGeom>
              <a:avLst/>
              <a:gdLst/>
              <a:ahLst/>
              <a:cxnLst/>
              <a:rect r="r" b="b" t="t" l="l"/>
              <a:pathLst>
                <a:path h="1105298" w="570592">
                  <a:moveTo>
                    <a:pt x="285296" y="0"/>
                  </a:moveTo>
                  <a:lnTo>
                    <a:pt x="570592" y="1105298"/>
                  </a:lnTo>
                  <a:lnTo>
                    <a:pt x="0" y="1105298"/>
                  </a:lnTo>
                  <a:lnTo>
                    <a:pt x="285296" y="0"/>
                  </a:lnTo>
                  <a:close/>
                </a:path>
              </a:pathLst>
            </a:custGeom>
            <a:solidFill>
              <a:srgbClr val="1A2F81"/>
            </a:solidFill>
          </p:spPr>
        </p:sp>
        <p:sp>
          <p:nvSpPr>
            <p:cNvPr name="TextBox 36" id="36"/>
            <p:cNvSpPr txBox="true"/>
            <p:nvPr/>
          </p:nvSpPr>
          <p:spPr>
            <a:xfrm>
              <a:off x="89155" y="313149"/>
              <a:ext cx="392282" cy="713199"/>
            </a:xfrm>
            <a:prstGeom prst="rect">
              <a:avLst/>
            </a:prstGeom>
          </p:spPr>
          <p:txBody>
            <a:bodyPr anchor="ctr" rtlCol="false" tIns="50800" lIns="50800" bIns="50800" rIns="50800"/>
            <a:lstStyle/>
            <a:p>
              <a:pPr algn="ctr">
                <a:lnSpc>
                  <a:spcPts val="3079"/>
                </a:lnSpc>
              </a:pPr>
            </a:p>
          </p:txBody>
        </p:sp>
      </p:grpSp>
      <p:sp>
        <p:nvSpPr>
          <p:cNvPr name="TextBox 37" id="37"/>
          <p:cNvSpPr txBox="true"/>
          <p:nvPr/>
        </p:nvSpPr>
        <p:spPr>
          <a:xfrm rot="0">
            <a:off x="3972112" y="3770928"/>
            <a:ext cx="4773070" cy="456565"/>
          </a:xfrm>
          <a:prstGeom prst="rect">
            <a:avLst/>
          </a:prstGeom>
        </p:spPr>
        <p:txBody>
          <a:bodyPr anchor="t" rtlCol="false" tIns="0" lIns="0" bIns="0" rIns="0">
            <a:spAutoFit/>
          </a:bodyPr>
          <a:lstStyle/>
          <a:p>
            <a:pPr algn="ctr">
              <a:lnSpc>
                <a:spcPts val="2660"/>
              </a:lnSpc>
              <a:spcBef>
                <a:spcPct val="0"/>
              </a:spcBef>
            </a:pPr>
            <a:r>
              <a:rPr lang="en-US" sz="1900">
                <a:solidFill>
                  <a:srgbClr val="F7F8F9"/>
                </a:solidFill>
                <a:latin typeface="たづがね角ゴシック Info Medium"/>
                <a:ea typeface="たづがね角ゴシック Info Medium"/>
                <a:cs typeface="たづがね角ゴシック Info Medium"/>
                <a:sym typeface="たづがね角ゴシック Info Medium"/>
              </a:rPr>
              <a:t>第8週：営業会議での活用頻度が顕著に</a:t>
            </a:r>
          </a:p>
        </p:txBody>
      </p:sp>
      <p:pic>
        <p:nvPicPr>
          <p:cNvPr name="Picture 38" id="38"/>
          <p:cNvPicPr>
            <a:picLocks noChangeAspect="true"/>
          </p:cNvPicPr>
          <p:nvPr/>
        </p:nvPicPr>
        <p:blipFill>
          <a:blip r:embed="rId3"/>
          <a:stretch>
            <a:fillRect/>
          </a:stretch>
        </p:blipFill>
        <p:spPr>
          <a:xfrm rot="0">
            <a:off x="9242582" y="3961024"/>
            <a:ext cx="7875916" cy="5934553"/>
          </a:xfrm>
          <a:prstGeom prst="rect">
            <a:avLst/>
          </a:prstGeom>
        </p:spPr>
      </p:pic>
      <p:grpSp>
        <p:nvGrpSpPr>
          <p:cNvPr name="Group 39" id="39"/>
          <p:cNvGrpSpPr/>
          <p:nvPr/>
        </p:nvGrpSpPr>
        <p:grpSpPr>
          <a:xfrm rot="0">
            <a:off x="9995509" y="3806556"/>
            <a:ext cx="6776696" cy="556760"/>
            <a:chOff x="0" y="0"/>
            <a:chExt cx="1784809" cy="146636"/>
          </a:xfrm>
        </p:grpSpPr>
        <p:sp>
          <p:nvSpPr>
            <p:cNvPr name="Freeform 40" id="40"/>
            <p:cNvSpPr/>
            <p:nvPr/>
          </p:nvSpPr>
          <p:spPr>
            <a:xfrm flipH="false" flipV="false" rot="0">
              <a:off x="0" y="0"/>
              <a:ext cx="1784809" cy="146636"/>
            </a:xfrm>
            <a:custGeom>
              <a:avLst/>
              <a:gdLst/>
              <a:ahLst/>
              <a:cxnLst/>
              <a:rect r="r" b="b" t="t" l="l"/>
              <a:pathLst>
                <a:path h="146636" w="1784809">
                  <a:moveTo>
                    <a:pt x="73318" y="0"/>
                  </a:moveTo>
                  <a:lnTo>
                    <a:pt x="1711490" y="0"/>
                  </a:lnTo>
                  <a:cubicBezTo>
                    <a:pt x="1751983" y="0"/>
                    <a:pt x="1784809" y="32826"/>
                    <a:pt x="1784809" y="73318"/>
                  </a:cubicBezTo>
                  <a:lnTo>
                    <a:pt x="1784809" y="73318"/>
                  </a:lnTo>
                  <a:cubicBezTo>
                    <a:pt x="1784809" y="92763"/>
                    <a:pt x="1777084" y="111412"/>
                    <a:pt x="1763334" y="125162"/>
                  </a:cubicBezTo>
                  <a:cubicBezTo>
                    <a:pt x="1749584" y="138912"/>
                    <a:pt x="1730936" y="146636"/>
                    <a:pt x="1711490" y="146636"/>
                  </a:cubicBezTo>
                  <a:lnTo>
                    <a:pt x="73318" y="146636"/>
                  </a:lnTo>
                  <a:cubicBezTo>
                    <a:pt x="53873" y="146636"/>
                    <a:pt x="35224" y="138912"/>
                    <a:pt x="21474" y="125162"/>
                  </a:cubicBezTo>
                  <a:cubicBezTo>
                    <a:pt x="7725" y="111412"/>
                    <a:pt x="0" y="92763"/>
                    <a:pt x="0" y="73318"/>
                  </a:cubicBezTo>
                  <a:lnTo>
                    <a:pt x="0" y="73318"/>
                  </a:lnTo>
                  <a:cubicBezTo>
                    <a:pt x="0" y="53873"/>
                    <a:pt x="7725" y="35224"/>
                    <a:pt x="21474" y="21474"/>
                  </a:cubicBezTo>
                  <a:cubicBezTo>
                    <a:pt x="35224" y="7725"/>
                    <a:pt x="53873" y="0"/>
                    <a:pt x="73318" y="0"/>
                  </a:cubicBezTo>
                  <a:close/>
                </a:path>
              </a:pathLst>
            </a:custGeom>
            <a:solidFill>
              <a:srgbClr val="086B89"/>
            </a:solidFill>
          </p:spPr>
        </p:sp>
        <p:sp>
          <p:nvSpPr>
            <p:cNvPr name="TextBox 41" id="41"/>
            <p:cNvSpPr txBox="true"/>
            <p:nvPr/>
          </p:nvSpPr>
          <p:spPr>
            <a:xfrm>
              <a:off x="0" y="-200025"/>
              <a:ext cx="1784809" cy="346661"/>
            </a:xfrm>
            <a:prstGeom prst="rect">
              <a:avLst/>
            </a:prstGeom>
          </p:spPr>
          <p:txBody>
            <a:bodyPr anchor="ctr" rtlCol="false" tIns="50800" lIns="50800" bIns="50800" rIns="50800"/>
            <a:lstStyle/>
            <a:p>
              <a:pPr algn="ctr">
                <a:lnSpc>
                  <a:spcPts val="3079"/>
                </a:lnSpc>
              </a:pPr>
            </a:p>
          </p:txBody>
        </p:sp>
      </p:grpSp>
      <p:sp>
        <p:nvSpPr>
          <p:cNvPr name="TextBox 42" id="42"/>
          <p:cNvSpPr txBox="true"/>
          <p:nvPr/>
        </p:nvSpPr>
        <p:spPr>
          <a:xfrm rot="0">
            <a:off x="9995509" y="3777663"/>
            <a:ext cx="6776696" cy="456565"/>
          </a:xfrm>
          <a:prstGeom prst="rect">
            <a:avLst/>
          </a:prstGeom>
        </p:spPr>
        <p:txBody>
          <a:bodyPr anchor="t" rtlCol="false" tIns="0" lIns="0" bIns="0" rIns="0">
            <a:spAutoFit/>
          </a:bodyPr>
          <a:lstStyle/>
          <a:p>
            <a:pPr algn="ctr">
              <a:lnSpc>
                <a:spcPts val="2660"/>
              </a:lnSpc>
              <a:spcBef>
                <a:spcPct val="0"/>
              </a:spcBef>
            </a:pPr>
            <a:r>
              <a:rPr lang="en-US" b="true" sz="1900">
                <a:solidFill>
                  <a:srgbClr val="FFFFFF"/>
                </a:solidFill>
                <a:latin typeface="たづがね角ゴシック Info Bold"/>
                <a:ea typeface="たづがね角ゴシック Info Bold"/>
                <a:cs typeface="たづがね角ゴシック Info Bold"/>
                <a:sym typeface="たづがね角ゴシック Info Bold"/>
              </a:rPr>
              <a:t>商談件数・成約率が、レポートの中核KPIとして定着</a:t>
            </a:r>
          </a:p>
        </p:txBody>
      </p:sp>
      <p:sp>
        <p:nvSpPr>
          <p:cNvPr name="AutoShape 43" id="43"/>
          <p:cNvSpPr/>
          <p:nvPr/>
        </p:nvSpPr>
        <p:spPr>
          <a:xfrm flipV="true">
            <a:off x="9144000" y="3048055"/>
            <a:ext cx="0" cy="6191195"/>
          </a:xfrm>
          <a:prstGeom prst="line">
            <a:avLst/>
          </a:prstGeom>
          <a:ln cap="flat" w="19050">
            <a:solidFill>
              <a:srgbClr val="B1B8C0"/>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F7F8F9"/>
        </a:solidFill>
      </p:bgPr>
    </p:bg>
    <p:spTree>
      <p:nvGrpSpPr>
        <p:cNvPr id="1" name=""/>
        <p:cNvGrpSpPr/>
        <p:nvPr/>
      </p:nvGrpSpPr>
      <p:grpSpPr>
        <a:xfrm>
          <a:off x="0" y="0"/>
          <a:ext cx="0" cy="0"/>
          <a:chOff x="0" y="0"/>
          <a:chExt cx="0" cy="0"/>
        </a:xfrm>
      </p:grpSpPr>
      <p:grpSp>
        <p:nvGrpSpPr>
          <p:cNvPr name="Group 2" id="2"/>
          <p:cNvGrpSpPr/>
          <p:nvPr/>
        </p:nvGrpSpPr>
        <p:grpSpPr>
          <a:xfrm rot="0">
            <a:off x="1047750" y="2144053"/>
            <a:ext cx="95250" cy="481013"/>
            <a:chOff x="0" y="0"/>
            <a:chExt cx="19464" cy="98292"/>
          </a:xfrm>
        </p:grpSpPr>
        <p:sp>
          <p:nvSpPr>
            <p:cNvPr name="Freeform 3" id="3"/>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4" id="4"/>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grpSp>
        <p:nvGrpSpPr>
          <p:cNvPr name="Group 5" id="5"/>
          <p:cNvGrpSpPr/>
          <p:nvPr/>
        </p:nvGrpSpPr>
        <p:grpSpPr>
          <a:xfrm rot="0">
            <a:off x="16063860" y="1132115"/>
            <a:ext cx="1177622" cy="189410"/>
            <a:chOff x="0" y="0"/>
            <a:chExt cx="1570163" cy="252547"/>
          </a:xfrm>
        </p:grpSpPr>
        <p:grpSp>
          <p:nvGrpSpPr>
            <p:cNvPr name="Group 6" id="6"/>
            <p:cNvGrpSpPr/>
            <p:nvPr/>
          </p:nvGrpSpPr>
          <p:grpSpPr>
            <a:xfrm rot="0">
              <a:off x="0" y="0"/>
              <a:ext cx="252547" cy="252547"/>
              <a:chOff x="0" y="0"/>
              <a:chExt cx="81040" cy="81040"/>
            </a:xfrm>
          </p:grpSpPr>
          <p:sp>
            <p:nvSpPr>
              <p:cNvPr name="Freeform 7" id="7"/>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8" id="8"/>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9" id="9"/>
            <p:cNvGrpSpPr/>
            <p:nvPr/>
          </p:nvGrpSpPr>
          <p:grpSpPr>
            <a:xfrm rot="0">
              <a:off x="439205" y="0"/>
              <a:ext cx="252547" cy="252547"/>
              <a:chOff x="0" y="0"/>
              <a:chExt cx="81040" cy="81040"/>
            </a:xfrm>
          </p:grpSpPr>
          <p:sp>
            <p:nvSpPr>
              <p:cNvPr name="Freeform 10" id="10"/>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1" id="11"/>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2" id="12"/>
            <p:cNvGrpSpPr/>
            <p:nvPr/>
          </p:nvGrpSpPr>
          <p:grpSpPr>
            <a:xfrm rot="0">
              <a:off x="878410" y="0"/>
              <a:ext cx="252547" cy="252547"/>
              <a:chOff x="0" y="0"/>
              <a:chExt cx="81040" cy="81040"/>
            </a:xfrm>
          </p:grpSpPr>
          <p:sp>
            <p:nvSpPr>
              <p:cNvPr name="Freeform 13" id="13"/>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4" id="14"/>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5" id="15"/>
            <p:cNvGrpSpPr/>
            <p:nvPr/>
          </p:nvGrpSpPr>
          <p:grpSpPr>
            <a:xfrm rot="0">
              <a:off x="1317615" y="0"/>
              <a:ext cx="252547" cy="252547"/>
              <a:chOff x="0" y="0"/>
              <a:chExt cx="81040" cy="81040"/>
            </a:xfrm>
          </p:grpSpPr>
          <p:sp>
            <p:nvSpPr>
              <p:cNvPr name="Freeform 16" id="16"/>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7" id="17"/>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sp>
        <p:nvSpPr>
          <p:cNvPr name="TextBox 18" id="18"/>
          <p:cNvSpPr txBox="true"/>
          <p:nvPr/>
        </p:nvSpPr>
        <p:spPr>
          <a:xfrm rot="0">
            <a:off x="1301441" y="1915295"/>
            <a:ext cx="7604434"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成果を、実感あるかたちで可視化</a:t>
            </a:r>
          </a:p>
        </p:txBody>
      </p:sp>
      <p:sp>
        <p:nvSpPr>
          <p:cNvPr name="TextBox 19" id="19"/>
          <p:cNvSpPr txBox="true"/>
          <p:nvPr/>
        </p:nvSpPr>
        <p:spPr>
          <a:xfrm rot="0">
            <a:off x="1047750" y="828675"/>
            <a:ext cx="8096250" cy="577215"/>
          </a:xfrm>
          <a:prstGeom prst="rect">
            <a:avLst/>
          </a:prstGeom>
        </p:spPr>
        <p:txBody>
          <a:bodyPr anchor="t" rtlCol="false" tIns="0" lIns="0" bIns="0" rIns="0">
            <a:spAutoFit/>
          </a:bodyPr>
          <a:lstStyle/>
          <a:p>
            <a:pPr algn="l">
              <a:lnSpc>
                <a:spcPts val="3359"/>
              </a:lnSpc>
              <a:spcBef>
                <a:spcPct val="0"/>
              </a:spcBef>
            </a:pPr>
            <a:r>
              <a:rPr lang="en-US" sz="2400">
                <a:solidFill>
                  <a:srgbClr val="1A2F81"/>
                </a:solidFill>
                <a:latin typeface="たづがね角ゴシック Info"/>
                <a:ea typeface="たづがね角ゴシック Info"/>
                <a:cs typeface="たづがね角ゴシック Info"/>
                <a:sym typeface="たづがね角ゴシック Info"/>
              </a:rPr>
              <a:t>課題と改善すべきポイント</a:t>
            </a:r>
          </a:p>
        </p:txBody>
      </p:sp>
      <p:sp>
        <p:nvSpPr>
          <p:cNvPr name="TextBox 20" id="20"/>
          <p:cNvSpPr txBox="true"/>
          <p:nvPr/>
        </p:nvSpPr>
        <p:spPr>
          <a:xfrm rot="0">
            <a:off x="9172575" y="1054418"/>
            <a:ext cx="6688237" cy="306705"/>
          </a:xfrm>
          <a:prstGeom prst="rect">
            <a:avLst/>
          </a:prstGeom>
        </p:spPr>
        <p:txBody>
          <a:bodyPr anchor="t" rtlCol="false" tIns="0" lIns="0" bIns="0" rIns="0">
            <a:spAutoFit/>
          </a:bodyPr>
          <a:lstStyle/>
          <a:p>
            <a:pPr algn="r">
              <a:lnSpc>
                <a:spcPts val="2520"/>
              </a:lnSpc>
              <a:spcBef>
                <a:spcPct val="0"/>
              </a:spcBef>
            </a:pPr>
            <a:r>
              <a:rPr lang="en-US" b="true" sz="1800">
                <a:solidFill>
                  <a:srgbClr val="1A2F81"/>
                </a:solidFill>
                <a:latin typeface="Montserrat Medium"/>
                <a:ea typeface="Montserrat Medium"/>
                <a:cs typeface="Montserrat Medium"/>
                <a:sym typeface="Montserrat Medium"/>
              </a:rPr>
              <a:t>Challenges and Areas for Improvement</a:t>
            </a:r>
          </a:p>
        </p:txBody>
      </p:sp>
      <p:grpSp>
        <p:nvGrpSpPr>
          <p:cNvPr name="Group 21" id="21"/>
          <p:cNvGrpSpPr/>
          <p:nvPr/>
        </p:nvGrpSpPr>
        <p:grpSpPr>
          <a:xfrm rot="0">
            <a:off x="1047750" y="3048055"/>
            <a:ext cx="16192500" cy="1762125"/>
            <a:chOff x="0" y="0"/>
            <a:chExt cx="4264691" cy="464099"/>
          </a:xfrm>
        </p:grpSpPr>
        <p:sp>
          <p:nvSpPr>
            <p:cNvPr name="Freeform 22" id="22"/>
            <p:cNvSpPr/>
            <p:nvPr/>
          </p:nvSpPr>
          <p:spPr>
            <a:xfrm flipH="false" flipV="false" rot="0">
              <a:off x="0" y="0"/>
              <a:ext cx="4264691" cy="464099"/>
            </a:xfrm>
            <a:custGeom>
              <a:avLst/>
              <a:gdLst/>
              <a:ahLst/>
              <a:cxnLst/>
              <a:rect r="r" b="b" t="t" l="l"/>
              <a:pathLst>
                <a:path h="464099" w="4264691">
                  <a:moveTo>
                    <a:pt x="0" y="0"/>
                  </a:moveTo>
                  <a:lnTo>
                    <a:pt x="4264691" y="0"/>
                  </a:lnTo>
                  <a:lnTo>
                    <a:pt x="4264691" y="464099"/>
                  </a:lnTo>
                  <a:lnTo>
                    <a:pt x="0" y="464099"/>
                  </a:lnTo>
                  <a:close/>
                </a:path>
              </a:pathLst>
            </a:custGeom>
            <a:ln w="19050" cap="sq">
              <a:solidFill>
                <a:srgbClr val="1A2F81"/>
              </a:solidFill>
              <a:prstDash val="solid"/>
              <a:miter/>
            </a:ln>
          </p:spPr>
        </p:sp>
        <p:sp>
          <p:nvSpPr>
            <p:cNvPr name="TextBox 23" id="23"/>
            <p:cNvSpPr txBox="true"/>
            <p:nvPr/>
          </p:nvSpPr>
          <p:spPr>
            <a:xfrm>
              <a:off x="0" y="-200025"/>
              <a:ext cx="4264691" cy="664124"/>
            </a:xfrm>
            <a:prstGeom prst="rect">
              <a:avLst/>
            </a:prstGeom>
          </p:spPr>
          <p:txBody>
            <a:bodyPr anchor="ctr" rtlCol="false" tIns="50800" lIns="50800" bIns="50800" rIns="50800"/>
            <a:lstStyle/>
            <a:p>
              <a:pPr algn="ctr">
                <a:lnSpc>
                  <a:spcPts val="3079"/>
                </a:lnSpc>
              </a:pPr>
            </a:p>
          </p:txBody>
        </p:sp>
      </p:grpSp>
      <p:sp>
        <p:nvSpPr>
          <p:cNvPr name="TextBox 24" id="24"/>
          <p:cNvSpPr txBox="true"/>
          <p:nvPr/>
        </p:nvSpPr>
        <p:spPr>
          <a:xfrm rot="0">
            <a:off x="2772341" y="3530973"/>
            <a:ext cx="4557587" cy="577215"/>
          </a:xfrm>
          <a:prstGeom prst="rect">
            <a:avLst/>
          </a:prstGeom>
        </p:spPr>
        <p:txBody>
          <a:bodyPr anchor="t" rtlCol="false" tIns="0" lIns="0" bIns="0" rIns="0">
            <a:spAutoFit/>
          </a:bodyPr>
          <a:lstStyle/>
          <a:p>
            <a:pPr algn="l">
              <a:lnSpc>
                <a:spcPts val="3359"/>
              </a:lnSpc>
              <a:spcBef>
                <a:spcPct val="0"/>
              </a:spcBef>
            </a:pPr>
            <a:r>
              <a:rPr lang="en-US" b="true" sz="2399">
                <a:solidFill>
                  <a:srgbClr val="1A2F81"/>
                </a:solidFill>
                <a:latin typeface="たづがね角ゴシック Info Bold"/>
                <a:ea typeface="たづがね角ゴシック Info Bold"/>
                <a:cs typeface="たづがね角ゴシック Info Bold"/>
                <a:sym typeface="たづがね角ゴシック Info Bold"/>
              </a:rPr>
              <a:t>作業分担の偏り</a:t>
            </a:r>
          </a:p>
        </p:txBody>
      </p:sp>
      <p:sp>
        <p:nvSpPr>
          <p:cNvPr name="TextBox 25" id="25"/>
          <p:cNvSpPr txBox="true"/>
          <p:nvPr/>
        </p:nvSpPr>
        <p:spPr>
          <a:xfrm rot="0">
            <a:off x="7175022" y="3411593"/>
            <a:ext cx="9684228" cy="844550"/>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10817"/>
                </a:solidFill>
                <a:latin typeface="たづがね角ゴシック Info Medium"/>
                <a:ea typeface="たづがね角ゴシック Info Medium"/>
                <a:cs typeface="たづがね角ゴシック Info Medium"/>
                <a:sym typeface="たづがね角ゴシック Info Medium"/>
              </a:rPr>
              <a:t>担当業務が特定のメンバーに集中し、一部のタスクに遅延が発生。</a:t>
            </a:r>
          </a:p>
          <a:p>
            <a:pPr algn="l" marL="431801" indent="-215900" lvl="1">
              <a:lnSpc>
                <a:spcPts val="2800"/>
              </a:lnSpc>
              <a:buFont typeface="Arial"/>
              <a:buChar char="•"/>
            </a:pPr>
            <a:r>
              <a:rPr lang="en-US" sz="2000">
                <a:solidFill>
                  <a:srgbClr val="010817"/>
                </a:solidFill>
                <a:latin typeface="たづがね角ゴシック Info Medium"/>
                <a:ea typeface="たづがね角ゴシック Info Medium"/>
                <a:cs typeface="たづがね角ゴシック Info Medium"/>
                <a:sym typeface="たづがね角ゴシック Info Medium"/>
              </a:rPr>
              <a:t>業務ごとの標準化・平準化の仕組みが必要。</a:t>
            </a:r>
          </a:p>
        </p:txBody>
      </p:sp>
      <p:grpSp>
        <p:nvGrpSpPr>
          <p:cNvPr name="Group 26" id="26"/>
          <p:cNvGrpSpPr/>
          <p:nvPr/>
        </p:nvGrpSpPr>
        <p:grpSpPr>
          <a:xfrm rot="0">
            <a:off x="1047750" y="5164483"/>
            <a:ext cx="16192500" cy="1860233"/>
            <a:chOff x="0" y="0"/>
            <a:chExt cx="4264691" cy="489938"/>
          </a:xfrm>
        </p:grpSpPr>
        <p:sp>
          <p:nvSpPr>
            <p:cNvPr name="Freeform 27" id="27"/>
            <p:cNvSpPr/>
            <p:nvPr/>
          </p:nvSpPr>
          <p:spPr>
            <a:xfrm flipH="false" flipV="false" rot="0">
              <a:off x="0" y="0"/>
              <a:ext cx="4264691" cy="489938"/>
            </a:xfrm>
            <a:custGeom>
              <a:avLst/>
              <a:gdLst/>
              <a:ahLst/>
              <a:cxnLst/>
              <a:rect r="r" b="b" t="t" l="l"/>
              <a:pathLst>
                <a:path h="489938" w="4264691">
                  <a:moveTo>
                    <a:pt x="0" y="0"/>
                  </a:moveTo>
                  <a:lnTo>
                    <a:pt x="4264691" y="0"/>
                  </a:lnTo>
                  <a:lnTo>
                    <a:pt x="4264691" y="489938"/>
                  </a:lnTo>
                  <a:lnTo>
                    <a:pt x="0" y="489938"/>
                  </a:lnTo>
                  <a:close/>
                </a:path>
              </a:pathLst>
            </a:custGeom>
            <a:ln w="19050" cap="sq">
              <a:solidFill>
                <a:srgbClr val="086B89"/>
              </a:solidFill>
              <a:prstDash val="solid"/>
              <a:miter/>
            </a:ln>
          </p:spPr>
        </p:sp>
        <p:sp>
          <p:nvSpPr>
            <p:cNvPr name="TextBox 28" id="28"/>
            <p:cNvSpPr txBox="true"/>
            <p:nvPr/>
          </p:nvSpPr>
          <p:spPr>
            <a:xfrm>
              <a:off x="0" y="-200025"/>
              <a:ext cx="4264691" cy="689963"/>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2772341" y="5696454"/>
            <a:ext cx="4557587" cy="577215"/>
          </a:xfrm>
          <a:prstGeom prst="rect">
            <a:avLst/>
          </a:prstGeom>
        </p:spPr>
        <p:txBody>
          <a:bodyPr anchor="t" rtlCol="false" tIns="0" lIns="0" bIns="0" rIns="0">
            <a:spAutoFit/>
          </a:bodyPr>
          <a:lstStyle/>
          <a:p>
            <a:pPr algn="l">
              <a:lnSpc>
                <a:spcPts val="3359"/>
              </a:lnSpc>
              <a:spcBef>
                <a:spcPct val="0"/>
              </a:spcBef>
            </a:pPr>
            <a:r>
              <a:rPr lang="en-US" b="true" sz="2399">
                <a:solidFill>
                  <a:srgbClr val="086B89"/>
                </a:solidFill>
                <a:latin typeface="たづがね角ゴシック Info Bold"/>
                <a:ea typeface="たづがね角ゴシック Info Bold"/>
                <a:cs typeface="たづがね角ゴシック Info Bold"/>
                <a:sym typeface="たづがね角ゴシック Info Bold"/>
              </a:rPr>
              <a:t>提案資料のアップデート不足</a:t>
            </a:r>
          </a:p>
        </p:txBody>
      </p:sp>
      <p:sp>
        <p:nvSpPr>
          <p:cNvPr name="TextBox 30" id="30"/>
          <p:cNvSpPr txBox="true"/>
          <p:nvPr/>
        </p:nvSpPr>
        <p:spPr>
          <a:xfrm rot="0">
            <a:off x="7175022" y="5577074"/>
            <a:ext cx="9684228" cy="844550"/>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10817"/>
                </a:solidFill>
                <a:latin typeface="たづがね角ゴシック Info Medium"/>
                <a:ea typeface="たづがね角ゴシック Info Medium"/>
                <a:cs typeface="たづがね角ゴシック Info Medium"/>
                <a:sym typeface="たづがね角ゴシック Info Medium"/>
              </a:rPr>
              <a:t>一部の資料が3ヶ月以上更新されておらず、内容が古く感じられるとの声も。</a:t>
            </a:r>
          </a:p>
          <a:p>
            <a:pPr algn="l" marL="431801" indent="-215900" lvl="1">
              <a:lnSpc>
                <a:spcPts val="2800"/>
              </a:lnSpc>
              <a:buFont typeface="Arial"/>
              <a:buChar char="•"/>
            </a:pPr>
            <a:r>
              <a:rPr lang="en-US" sz="2000">
                <a:solidFill>
                  <a:srgbClr val="010817"/>
                </a:solidFill>
                <a:latin typeface="たづがね角ゴシック Info Medium"/>
                <a:ea typeface="たづがね角ゴシック Info Medium"/>
                <a:cs typeface="たづがね角ゴシック Info Medium"/>
                <a:sym typeface="たづがね角ゴシック Info Medium"/>
              </a:rPr>
              <a:t>週次ではなく「月初ルーティン」に組み込むなど見直しが必要。</a:t>
            </a:r>
          </a:p>
        </p:txBody>
      </p:sp>
      <p:grpSp>
        <p:nvGrpSpPr>
          <p:cNvPr name="Group 31" id="31"/>
          <p:cNvGrpSpPr/>
          <p:nvPr/>
        </p:nvGrpSpPr>
        <p:grpSpPr>
          <a:xfrm rot="0">
            <a:off x="1047750" y="7379017"/>
            <a:ext cx="16192500" cy="1860233"/>
            <a:chOff x="0" y="0"/>
            <a:chExt cx="4264691" cy="489938"/>
          </a:xfrm>
        </p:grpSpPr>
        <p:sp>
          <p:nvSpPr>
            <p:cNvPr name="Freeform 32" id="32"/>
            <p:cNvSpPr/>
            <p:nvPr/>
          </p:nvSpPr>
          <p:spPr>
            <a:xfrm flipH="false" flipV="false" rot="0">
              <a:off x="0" y="0"/>
              <a:ext cx="4264691" cy="489938"/>
            </a:xfrm>
            <a:custGeom>
              <a:avLst/>
              <a:gdLst/>
              <a:ahLst/>
              <a:cxnLst/>
              <a:rect r="r" b="b" t="t" l="l"/>
              <a:pathLst>
                <a:path h="489938" w="4264691">
                  <a:moveTo>
                    <a:pt x="0" y="0"/>
                  </a:moveTo>
                  <a:lnTo>
                    <a:pt x="4264691" y="0"/>
                  </a:lnTo>
                  <a:lnTo>
                    <a:pt x="4264691" y="489938"/>
                  </a:lnTo>
                  <a:lnTo>
                    <a:pt x="0" y="489938"/>
                  </a:lnTo>
                  <a:close/>
                </a:path>
              </a:pathLst>
            </a:custGeom>
            <a:ln w="19050" cap="sq">
              <a:solidFill>
                <a:srgbClr val="1A2F81"/>
              </a:solidFill>
              <a:prstDash val="solid"/>
              <a:miter/>
            </a:ln>
          </p:spPr>
        </p:sp>
        <p:sp>
          <p:nvSpPr>
            <p:cNvPr name="TextBox 33" id="33"/>
            <p:cNvSpPr txBox="true"/>
            <p:nvPr/>
          </p:nvSpPr>
          <p:spPr>
            <a:xfrm>
              <a:off x="0" y="-200025"/>
              <a:ext cx="4264691" cy="689963"/>
            </a:xfrm>
            <a:prstGeom prst="rect">
              <a:avLst/>
            </a:prstGeom>
          </p:spPr>
          <p:txBody>
            <a:bodyPr anchor="ctr" rtlCol="false" tIns="50800" lIns="50800" bIns="50800" rIns="50800"/>
            <a:lstStyle/>
            <a:p>
              <a:pPr algn="ctr">
                <a:lnSpc>
                  <a:spcPts val="3079"/>
                </a:lnSpc>
              </a:pPr>
            </a:p>
          </p:txBody>
        </p:sp>
      </p:grpSp>
      <p:sp>
        <p:nvSpPr>
          <p:cNvPr name="TextBox 34" id="34"/>
          <p:cNvSpPr txBox="true"/>
          <p:nvPr/>
        </p:nvSpPr>
        <p:spPr>
          <a:xfrm rot="0">
            <a:off x="2772341" y="7910989"/>
            <a:ext cx="4557587" cy="577215"/>
          </a:xfrm>
          <a:prstGeom prst="rect">
            <a:avLst/>
          </a:prstGeom>
        </p:spPr>
        <p:txBody>
          <a:bodyPr anchor="t" rtlCol="false" tIns="0" lIns="0" bIns="0" rIns="0">
            <a:spAutoFit/>
          </a:bodyPr>
          <a:lstStyle/>
          <a:p>
            <a:pPr algn="l">
              <a:lnSpc>
                <a:spcPts val="3359"/>
              </a:lnSpc>
              <a:spcBef>
                <a:spcPct val="0"/>
              </a:spcBef>
            </a:pPr>
            <a:r>
              <a:rPr lang="en-US" b="true" sz="2399">
                <a:solidFill>
                  <a:srgbClr val="5D5491"/>
                </a:solidFill>
                <a:latin typeface="たづがね角ゴシック Info Bold"/>
                <a:ea typeface="たづがね角ゴシック Info Bold"/>
                <a:cs typeface="たづがね角ゴシック Info Bold"/>
                <a:sym typeface="たづがね角ゴシック Info Bold"/>
              </a:rPr>
              <a:t>データ分析にかける時間の不足</a:t>
            </a:r>
          </a:p>
        </p:txBody>
      </p:sp>
      <p:sp>
        <p:nvSpPr>
          <p:cNvPr name="TextBox 35" id="35"/>
          <p:cNvSpPr txBox="true"/>
          <p:nvPr/>
        </p:nvSpPr>
        <p:spPr>
          <a:xfrm rot="0">
            <a:off x="7175022" y="7791609"/>
            <a:ext cx="9684228" cy="844550"/>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10817"/>
                </a:solidFill>
                <a:latin typeface="たづがね角ゴシック Info Medium"/>
                <a:ea typeface="たづがね角ゴシック Info Medium"/>
                <a:cs typeface="たづがね角ゴシック Info Medium"/>
                <a:sym typeface="たづがね角ゴシック Info Medium"/>
              </a:rPr>
              <a:t>レポート作成</a:t>
            </a:r>
            <a:r>
              <a:rPr lang="en-US" sz="2000">
                <a:solidFill>
                  <a:srgbClr val="010817"/>
                </a:solidFill>
                <a:latin typeface="たづがね角ゴシック Info Medium"/>
                <a:ea typeface="たづがね角ゴシック Info Medium"/>
                <a:cs typeface="たづがね角ゴシック Info Medium"/>
                <a:sym typeface="たづがね角ゴシック Info Medium"/>
              </a:rPr>
              <a:t>業務に追われ、仮説検証や活用施策の立案に時間を割けていない。</a:t>
            </a:r>
          </a:p>
          <a:p>
            <a:pPr algn="l" marL="431801" indent="-215900" lvl="1">
              <a:lnSpc>
                <a:spcPts val="2800"/>
              </a:lnSpc>
              <a:buFont typeface="Arial"/>
              <a:buChar char="•"/>
            </a:pPr>
            <a:r>
              <a:rPr lang="en-US" sz="2000">
                <a:solidFill>
                  <a:srgbClr val="010817"/>
                </a:solidFill>
                <a:latin typeface="たづがね角ゴシック Info Medium"/>
                <a:ea typeface="たづがね角ゴシック Info Medium"/>
                <a:cs typeface="たづがね角ゴシック Info Medium"/>
                <a:sym typeface="たづがね角ゴシック Info Medium"/>
              </a:rPr>
              <a:t>一部の集計業務を自動化するなど、分析に集中できる体制づくりが求められる。</a:t>
            </a:r>
          </a:p>
        </p:txBody>
      </p:sp>
      <p:grpSp>
        <p:nvGrpSpPr>
          <p:cNvPr name="Group 36" id="36"/>
          <p:cNvGrpSpPr/>
          <p:nvPr/>
        </p:nvGrpSpPr>
        <p:grpSpPr>
          <a:xfrm rot="0">
            <a:off x="1047750" y="3048055"/>
            <a:ext cx="95250" cy="1762125"/>
            <a:chOff x="0" y="0"/>
            <a:chExt cx="25086" cy="464099"/>
          </a:xfrm>
        </p:grpSpPr>
        <p:sp>
          <p:nvSpPr>
            <p:cNvPr name="Freeform 37" id="37"/>
            <p:cNvSpPr/>
            <p:nvPr/>
          </p:nvSpPr>
          <p:spPr>
            <a:xfrm flipH="false" flipV="false" rot="0">
              <a:off x="0" y="0"/>
              <a:ext cx="25086" cy="464099"/>
            </a:xfrm>
            <a:custGeom>
              <a:avLst/>
              <a:gdLst/>
              <a:ahLst/>
              <a:cxnLst/>
              <a:rect r="r" b="b" t="t" l="l"/>
              <a:pathLst>
                <a:path h="464099" w="25086">
                  <a:moveTo>
                    <a:pt x="0" y="0"/>
                  </a:moveTo>
                  <a:lnTo>
                    <a:pt x="25086" y="0"/>
                  </a:lnTo>
                  <a:lnTo>
                    <a:pt x="25086" y="464099"/>
                  </a:lnTo>
                  <a:lnTo>
                    <a:pt x="0" y="464099"/>
                  </a:lnTo>
                  <a:close/>
                </a:path>
              </a:pathLst>
            </a:custGeom>
            <a:solidFill>
              <a:srgbClr val="1A2F81"/>
            </a:solidFill>
            <a:ln cap="sq">
              <a:noFill/>
              <a:prstDash val="solid"/>
              <a:miter/>
            </a:ln>
          </p:spPr>
        </p:sp>
        <p:sp>
          <p:nvSpPr>
            <p:cNvPr name="TextBox 38" id="38"/>
            <p:cNvSpPr txBox="true"/>
            <p:nvPr/>
          </p:nvSpPr>
          <p:spPr>
            <a:xfrm>
              <a:off x="0" y="-200025"/>
              <a:ext cx="25086" cy="664124"/>
            </a:xfrm>
            <a:prstGeom prst="rect">
              <a:avLst/>
            </a:prstGeom>
          </p:spPr>
          <p:txBody>
            <a:bodyPr anchor="ctr" rtlCol="false" tIns="50800" lIns="50800" bIns="50800" rIns="50800"/>
            <a:lstStyle/>
            <a:p>
              <a:pPr algn="ctr">
                <a:lnSpc>
                  <a:spcPts val="3079"/>
                </a:lnSpc>
              </a:pPr>
            </a:p>
          </p:txBody>
        </p:sp>
      </p:grpSp>
      <p:grpSp>
        <p:nvGrpSpPr>
          <p:cNvPr name="Group 39" id="39"/>
          <p:cNvGrpSpPr/>
          <p:nvPr/>
        </p:nvGrpSpPr>
        <p:grpSpPr>
          <a:xfrm rot="0">
            <a:off x="1047750" y="5164483"/>
            <a:ext cx="95250" cy="1860233"/>
            <a:chOff x="0" y="0"/>
            <a:chExt cx="25086" cy="489938"/>
          </a:xfrm>
        </p:grpSpPr>
        <p:sp>
          <p:nvSpPr>
            <p:cNvPr name="Freeform 40" id="40"/>
            <p:cNvSpPr/>
            <p:nvPr/>
          </p:nvSpPr>
          <p:spPr>
            <a:xfrm flipH="false" flipV="false" rot="0">
              <a:off x="0" y="0"/>
              <a:ext cx="25086" cy="489938"/>
            </a:xfrm>
            <a:custGeom>
              <a:avLst/>
              <a:gdLst/>
              <a:ahLst/>
              <a:cxnLst/>
              <a:rect r="r" b="b" t="t" l="l"/>
              <a:pathLst>
                <a:path h="489938" w="25086">
                  <a:moveTo>
                    <a:pt x="0" y="0"/>
                  </a:moveTo>
                  <a:lnTo>
                    <a:pt x="25086" y="0"/>
                  </a:lnTo>
                  <a:lnTo>
                    <a:pt x="25086" y="489938"/>
                  </a:lnTo>
                  <a:lnTo>
                    <a:pt x="0" y="489938"/>
                  </a:lnTo>
                  <a:close/>
                </a:path>
              </a:pathLst>
            </a:custGeom>
            <a:solidFill>
              <a:srgbClr val="086B89"/>
            </a:solidFill>
            <a:ln cap="sq">
              <a:noFill/>
              <a:prstDash val="solid"/>
              <a:miter/>
            </a:ln>
          </p:spPr>
        </p:sp>
        <p:sp>
          <p:nvSpPr>
            <p:cNvPr name="TextBox 41" id="41"/>
            <p:cNvSpPr txBox="true"/>
            <p:nvPr/>
          </p:nvSpPr>
          <p:spPr>
            <a:xfrm>
              <a:off x="0" y="-200025"/>
              <a:ext cx="25086" cy="689963"/>
            </a:xfrm>
            <a:prstGeom prst="rect">
              <a:avLst/>
            </a:prstGeom>
          </p:spPr>
          <p:txBody>
            <a:bodyPr anchor="ctr" rtlCol="false" tIns="50800" lIns="50800" bIns="50800" rIns="50800"/>
            <a:lstStyle/>
            <a:p>
              <a:pPr algn="ctr">
                <a:lnSpc>
                  <a:spcPts val="3079"/>
                </a:lnSpc>
              </a:pPr>
            </a:p>
          </p:txBody>
        </p:sp>
      </p:grpSp>
      <p:grpSp>
        <p:nvGrpSpPr>
          <p:cNvPr name="Group 42" id="42"/>
          <p:cNvGrpSpPr/>
          <p:nvPr/>
        </p:nvGrpSpPr>
        <p:grpSpPr>
          <a:xfrm rot="0">
            <a:off x="1047750" y="7379017"/>
            <a:ext cx="95250" cy="1860233"/>
            <a:chOff x="0" y="0"/>
            <a:chExt cx="25086" cy="489938"/>
          </a:xfrm>
        </p:grpSpPr>
        <p:sp>
          <p:nvSpPr>
            <p:cNvPr name="Freeform 43" id="43"/>
            <p:cNvSpPr/>
            <p:nvPr/>
          </p:nvSpPr>
          <p:spPr>
            <a:xfrm flipH="false" flipV="false" rot="0">
              <a:off x="0" y="0"/>
              <a:ext cx="25086" cy="489938"/>
            </a:xfrm>
            <a:custGeom>
              <a:avLst/>
              <a:gdLst/>
              <a:ahLst/>
              <a:cxnLst/>
              <a:rect r="r" b="b" t="t" l="l"/>
              <a:pathLst>
                <a:path h="489938" w="25086">
                  <a:moveTo>
                    <a:pt x="0" y="0"/>
                  </a:moveTo>
                  <a:lnTo>
                    <a:pt x="25086" y="0"/>
                  </a:lnTo>
                  <a:lnTo>
                    <a:pt x="25086" y="489938"/>
                  </a:lnTo>
                  <a:lnTo>
                    <a:pt x="0" y="489938"/>
                  </a:lnTo>
                  <a:close/>
                </a:path>
              </a:pathLst>
            </a:custGeom>
            <a:solidFill>
              <a:srgbClr val="5D5491"/>
            </a:solidFill>
            <a:ln cap="sq">
              <a:noFill/>
              <a:prstDash val="solid"/>
              <a:miter/>
            </a:ln>
          </p:spPr>
        </p:sp>
        <p:sp>
          <p:nvSpPr>
            <p:cNvPr name="TextBox 44" id="44"/>
            <p:cNvSpPr txBox="true"/>
            <p:nvPr/>
          </p:nvSpPr>
          <p:spPr>
            <a:xfrm>
              <a:off x="0" y="-200025"/>
              <a:ext cx="25086" cy="689963"/>
            </a:xfrm>
            <a:prstGeom prst="rect">
              <a:avLst/>
            </a:prstGeom>
          </p:spPr>
          <p:txBody>
            <a:bodyPr anchor="ctr" rtlCol="false" tIns="50800" lIns="50800" bIns="50800" rIns="50800"/>
            <a:lstStyle/>
            <a:p>
              <a:pPr algn="ctr">
                <a:lnSpc>
                  <a:spcPts val="3079"/>
                </a:lnSpc>
              </a:pPr>
            </a:p>
          </p:txBody>
        </p:sp>
      </p:grpSp>
      <p:sp>
        <p:nvSpPr>
          <p:cNvPr name="TextBox 45" id="45"/>
          <p:cNvSpPr txBox="true"/>
          <p:nvPr/>
        </p:nvSpPr>
        <p:spPr>
          <a:xfrm rot="0">
            <a:off x="1468963" y="3578915"/>
            <a:ext cx="979529"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1A2F81"/>
                </a:solidFill>
                <a:latin typeface="Montserrat Semi-Bold"/>
                <a:ea typeface="Montserrat Semi-Bold"/>
                <a:cs typeface="Montserrat Semi-Bold"/>
                <a:sym typeface="Montserrat Semi-Bold"/>
              </a:rPr>
              <a:t>ISSUE</a:t>
            </a:r>
          </a:p>
        </p:txBody>
      </p:sp>
      <p:sp>
        <p:nvSpPr>
          <p:cNvPr name="TextBox 46" id="46"/>
          <p:cNvSpPr txBox="true"/>
          <p:nvPr/>
        </p:nvSpPr>
        <p:spPr>
          <a:xfrm rot="0">
            <a:off x="1468963" y="3854505"/>
            <a:ext cx="97952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1A2F81"/>
                </a:solidFill>
                <a:latin typeface="Montserrat Semi-Bold"/>
                <a:ea typeface="Montserrat Semi-Bold"/>
                <a:cs typeface="Montserrat Semi-Bold"/>
                <a:sym typeface="Montserrat Semi-Bold"/>
              </a:rPr>
              <a:t>01</a:t>
            </a:r>
          </a:p>
        </p:txBody>
      </p:sp>
      <p:sp>
        <p:nvSpPr>
          <p:cNvPr name="TextBox 47" id="47"/>
          <p:cNvSpPr txBox="true"/>
          <p:nvPr/>
        </p:nvSpPr>
        <p:spPr>
          <a:xfrm rot="0">
            <a:off x="1468963" y="5744396"/>
            <a:ext cx="979529"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086B89"/>
                </a:solidFill>
                <a:latin typeface="Montserrat Semi-Bold"/>
                <a:ea typeface="Montserrat Semi-Bold"/>
                <a:cs typeface="Montserrat Semi-Bold"/>
                <a:sym typeface="Montserrat Semi-Bold"/>
              </a:rPr>
              <a:t>ISSUE</a:t>
            </a:r>
          </a:p>
        </p:txBody>
      </p:sp>
      <p:sp>
        <p:nvSpPr>
          <p:cNvPr name="TextBox 48" id="48"/>
          <p:cNvSpPr txBox="true"/>
          <p:nvPr/>
        </p:nvSpPr>
        <p:spPr>
          <a:xfrm rot="0">
            <a:off x="1468963" y="6019986"/>
            <a:ext cx="97952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086B89"/>
                </a:solidFill>
                <a:latin typeface="Montserrat Semi-Bold"/>
                <a:ea typeface="Montserrat Semi-Bold"/>
                <a:cs typeface="Montserrat Semi-Bold"/>
                <a:sym typeface="Montserrat Semi-Bold"/>
              </a:rPr>
              <a:t>02</a:t>
            </a:r>
          </a:p>
        </p:txBody>
      </p:sp>
      <p:sp>
        <p:nvSpPr>
          <p:cNvPr name="TextBox 49" id="49"/>
          <p:cNvSpPr txBox="true"/>
          <p:nvPr/>
        </p:nvSpPr>
        <p:spPr>
          <a:xfrm rot="0">
            <a:off x="1468963" y="7958931"/>
            <a:ext cx="979529"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5D5491"/>
                </a:solidFill>
                <a:latin typeface="Montserrat Semi-Bold"/>
                <a:ea typeface="Montserrat Semi-Bold"/>
                <a:cs typeface="Montserrat Semi-Bold"/>
                <a:sym typeface="Montserrat Semi-Bold"/>
              </a:rPr>
              <a:t>ISSUE</a:t>
            </a:r>
          </a:p>
        </p:txBody>
      </p:sp>
      <p:sp>
        <p:nvSpPr>
          <p:cNvPr name="TextBox 50" id="50"/>
          <p:cNvSpPr txBox="true"/>
          <p:nvPr/>
        </p:nvSpPr>
        <p:spPr>
          <a:xfrm rot="0">
            <a:off x="1468963" y="8234521"/>
            <a:ext cx="979529" cy="396240"/>
          </a:xfrm>
          <a:prstGeom prst="rect">
            <a:avLst/>
          </a:prstGeom>
        </p:spPr>
        <p:txBody>
          <a:bodyPr anchor="t" rtlCol="false" tIns="0" lIns="0" bIns="0" rIns="0">
            <a:spAutoFit/>
          </a:bodyPr>
          <a:lstStyle/>
          <a:p>
            <a:pPr algn="ctr">
              <a:lnSpc>
                <a:spcPts val="3359"/>
              </a:lnSpc>
              <a:spcBef>
                <a:spcPct val="0"/>
              </a:spcBef>
            </a:pPr>
            <a:r>
              <a:rPr lang="en-US" b="true" sz="2400">
                <a:solidFill>
                  <a:srgbClr val="5D5491"/>
                </a:solidFill>
                <a:latin typeface="Montserrat Semi-Bold"/>
                <a:ea typeface="Montserrat Semi-Bold"/>
                <a:cs typeface="Montserrat Semi-Bold"/>
                <a:sym typeface="Montserrat Semi-Bold"/>
              </a:rPr>
              <a:t>03</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7F8F9"/>
        </a:solidFill>
      </p:bgPr>
    </p:bg>
    <p:spTree>
      <p:nvGrpSpPr>
        <p:cNvPr id="1" name=""/>
        <p:cNvGrpSpPr/>
        <p:nvPr/>
      </p:nvGrpSpPr>
      <p:grpSpPr>
        <a:xfrm>
          <a:off x="0" y="0"/>
          <a:ext cx="0" cy="0"/>
          <a:chOff x="0" y="0"/>
          <a:chExt cx="0" cy="0"/>
        </a:xfrm>
      </p:grpSpPr>
      <p:grpSp>
        <p:nvGrpSpPr>
          <p:cNvPr name="Group 2" id="2"/>
          <p:cNvGrpSpPr/>
          <p:nvPr/>
        </p:nvGrpSpPr>
        <p:grpSpPr>
          <a:xfrm rot="0">
            <a:off x="1047750" y="2144053"/>
            <a:ext cx="95250" cy="481013"/>
            <a:chOff x="0" y="0"/>
            <a:chExt cx="19464" cy="98292"/>
          </a:xfrm>
        </p:grpSpPr>
        <p:sp>
          <p:nvSpPr>
            <p:cNvPr name="Freeform 3" id="3"/>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4" id="4"/>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grpSp>
        <p:nvGrpSpPr>
          <p:cNvPr name="Group 5" id="5"/>
          <p:cNvGrpSpPr/>
          <p:nvPr/>
        </p:nvGrpSpPr>
        <p:grpSpPr>
          <a:xfrm rot="0">
            <a:off x="16063860" y="1132115"/>
            <a:ext cx="1177622" cy="189410"/>
            <a:chOff x="0" y="0"/>
            <a:chExt cx="1570163" cy="252547"/>
          </a:xfrm>
        </p:grpSpPr>
        <p:grpSp>
          <p:nvGrpSpPr>
            <p:cNvPr name="Group 6" id="6"/>
            <p:cNvGrpSpPr/>
            <p:nvPr/>
          </p:nvGrpSpPr>
          <p:grpSpPr>
            <a:xfrm rot="0">
              <a:off x="0" y="0"/>
              <a:ext cx="252547" cy="252547"/>
              <a:chOff x="0" y="0"/>
              <a:chExt cx="81040" cy="81040"/>
            </a:xfrm>
          </p:grpSpPr>
          <p:sp>
            <p:nvSpPr>
              <p:cNvPr name="Freeform 7" id="7"/>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8" id="8"/>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9" id="9"/>
            <p:cNvGrpSpPr/>
            <p:nvPr/>
          </p:nvGrpSpPr>
          <p:grpSpPr>
            <a:xfrm rot="0">
              <a:off x="439205" y="0"/>
              <a:ext cx="252547" cy="252547"/>
              <a:chOff x="0" y="0"/>
              <a:chExt cx="81040" cy="81040"/>
            </a:xfrm>
          </p:grpSpPr>
          <p:sp>
            <p:nvSpPr>
              <p:cNvPr name="Freeform 10" id="10"/>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1" id="11"/>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2" id="12"/>
            <p:cNvGrpSpPr/>
            <p:nvPr/>
          </p:nvGrpSpPr>
          <p:grpSpPr>
            <a:xfrm rot="0">
              <a:off x="878410" y="0"/>
              <a:ext cx="252547" cy="252547"/>
              <a:chOff x="0" y="0"/>
              <a:chExt cx="81040" cy="81040"/>
            </a:xfrm>
          </p:grpSpPr>
          <p:sp>
            <p:nvSpPr>
              <p:cNvPr name="Freeform 13" id="13"/>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4" id="14"/>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5" id="15"/>
            <p:cNvGrpSpPr/>
            <p:nvPr/>
          </p:nvGrpSpPr>
          <p:grpSpPr>
            <a:xfrm rot="0">
              <a:off x="1317615" y="0"/>
              <a:ext cx="252547" cy="252547"/>
              <a:chOff x="0" y="0"/>
              <a:chExt cx="81040" cy="81040"/>
            </a:xfrm>
          </p:grpSpPr>
          <p:sp>
            <p:nvSpPr>
              <p:cNvPr name="Freeform 16" id="16"/>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7" id="17"/>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sp>
        <p:nvSpPr>
          <p:cNvPr name="TextBox 18" id="18"/>
          <p:cNvSpPr txBox="true"/>
          <p:nvPr/>
        </p:nvSpPr>
        <p:spPr>
          <a:xfrm rot="0">
            <a:off x="1301441" y="1915295"/>
            <a:ext cx="15910234"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今後取り組みたいこと3つ－これまでの積み重ねを、もっと大きな価値に変えていく半年へ</a:t>
            </a:r>
          </a:p>
        </p:txBody>
      </p:sp>
      <p:sp>
        <p:nvSpPr>
          <p:cNvPr name="TextBox 19" id="19"/>
          <p:cNvSpPr txBox="true"/>
          <p:nvPr/>
        </p:nvSpPr>
        <p:spPr>
          <a:xfrm rot="0">
            <a:off x="1047750" y="828675"/>
            <a:ext cx="8096250" cy="577215"/>
          </a:xfrm>
          <a:prstGeom prst="rect">
            <a:avLst/>
          </a:prstGeom>
        </p:spPr>
        <p:txBody>
          <a:bodyPr anchor="t" rtlCol="false" tIns="0" lIns="0" bIns="0" rIns="0">
            <a:spAutoFit/>
          </a:bodyPr>
          <a:lstStyle/>
          <a:p>
            <a:pPr algn="l">
              <a:lnSpc>
                <a:spcPts val="3359"/>
              </a:lnSpc>
              <a:spcBef>
                <a:spcPct val="0"/>
              </a:spcBef>
            </a:pPr>
            <a:r>
              <a:rPr lang="en-US" sz="2400">
                <a:solidFill>
                  <a:srgbClr val="1A2F81"/>
                </a:solidFill>
                <a:latin typeface="たづがね角ゴシック Info"/>
                <a:ea typeface="たづがね角ゴシック Info"/>
                <a:cs typeface="たづがね角ゴシック Info"/>
                <a:sym typeface="たづがね角ゴシック Info"/>
              </a:rPr>
              <a:t>下半期に向けた展望</a:t>
            </a:r>
          </a:p>
        </p:txBody>
      </p:sp>
      <p:sp>
        <p:nvSpPr>
          <p:cNvPr name="TextBox 20" id="20"/>
          <p:cNvSpPr txBox="true"/>
          <p:nvPr/>
        </p:nvSpPr>
        <p:spPr>
          <a:xfrm rot="0">
            <a:off x="9172575" y="1054418"/>
            <a:ext cx="6688237" cy="306705"/>
          </a:xfrm>
          <a:prstGeom prst="rect">
            <a:avLst/>
          </a:prstGeom>
        </p:spPr>
        <p:txBody>
          <a:bodyPr anchor="t" rtlCol="false" tIns="0" lIns="0" bIns="0" rIns="0">
            <a:spAutoFit/>
          </a:bodyPr>
          <a:lstStyle/>
          <a:p>
            <a:pPr algn="r">
              <a:lnSpc>
                <a:spcPts val="2520"/>
              </a:lnSpc>
              <a:spcBef>
                <a:spcPct val="0"/>
              </a:spcBef>
            </a:pPr>
            <a:r>
              <a:rPr lang="en-US" b="true" sz="1800">
                <a:solidFill>
                  <a:srgbClr val="1A2F81"/>
                </a:solidFill>
                <a:latin typeface="Montserrat Medium"/>
                <a:ea typeface="Montserrat Medium"/>
                <a:cs typeface="Montserrat Medium"/>
                <a:sym typeface="Montserrat Medium"/>
              </a:rPr>
              <a:t>Looking Ahead to the Second Half</a:t>
            </a:r>
          </a:p>
        </p:txBody>
      </p:sp>
      <p:grpSp>
        <p:nvGrpSpPr>
          <p:cNvPr name="Group 21" id="21"/>
          <p:cNvGrpSpPr/>
          <p:nvPr/>
        </p:nvGrpSpPr>
        <p:grpSpPr>
          <a:xfrm rot="0">
            <a:off x="5605337" y="3048055"/>
            <a:ext cx="11634913" cy="952500"/>
            <a:chOff x="0" y="0"/>
            <a:chExt cx="3064339" cy="250864"/>
          </a:xfrm>
        </p:grpSpPr>
        <p:sp>
          <p:nvSpPr>
            <p:cNvPr name="Freeform 22" id="22"/>
            <p:cNvSpPr/>
            <p:nvPr/>
          </p:nvSpPr>
          <p:spPr>
            <a:xfrm flipH="false" flipV="false" rot="0">
              <a:off x="0" y="0"/>
              <a:ext cx="3064339" cy="250864"/>
            </a:xfrm>
            <a:custGeom>
              <a:avLst/>
              <a:gdLst/>
              <a:ahLst/>
              <a:cxnLst/>
              <a:rect r="r" b="b" t="t" l="l"/>
              <a:pathLst>
                <a:path h="250864" w="3064339">
                  <a:moveTo>
                    <a:pt x="66540" y="0"/>
                  </a:moveTo>
                  <a:lnTo>
                    <a:pt x="2997799" y="0"/>
                  </a:lnTo>
                  <a:cubicBezTo>
                    <a:pt x="3015447" y="0"/>
                    <a:pt x="3032371" y="7010"/>
                    <a:pt x="3044850" y="19489"/>
                  </a:cubicBezTo>
                  <a:cubicBezTo>
                    <a:pt x="3057329" y="31968"/>
                    <a:pt x="3064339" y="48893"/>
                    <a:pt x="3064339" y="66540"/>
                  </a:cubicBezTo>
                  <a:lnTo>
                    <a:pt x="3064339" y="184324"/>
                  </a:lnTo>
                  <a:cubicBezTo>
                    <a:pt x="3064339" y="201971"/>
                    <a:pt x="3057329" y="218896"/>
                    <a:pt x="3044850" y="231375"/>
                  </a:cubicBezTo>
                  <a:cubicBezTo>
                    <a:pt x="3032371" y="243854"/>
                    <a:pt x="3015447" y="250864"/>
                    <a:pt x="2997799" y="250864"/>
                  </a:cubicBezTo>
                  <a:lnTo>
                    <a:pt x="66540" y="250864"/>
                  </a:lnTo>
                  <a:cubicBezTo>
                    <a:pt x="48893" y="250864"/>
                    <a:pt x="31968" y="243854"/>
                    <a:pt x="19489" y="231375"/>
                  </a:cubicBezTo>
                  <a:cubicBezTo>
                    <a:pt x="7010" y="218896"/>
                    <a:pt x="0" y="201971"/>
                    <a:pt x="0" y="184324"/>
                  </a:cubicBezTo>
                  <a:lnTo>
                    <a:pt x="0" y="66540"/>
                  </a:lnTo>
                  <a:cubicBezTo>
                    <a:pt x="0" y="48893"/>
                    <a:pt x="7010" y="31968"/>
                    <a:pt x="19489" y="19489"/>
                  </a:cubicBezTo>
                  <a:cubicBezTo>
                    <a:pt x="31968" y="7010"/>
                    <a:pt x="48893" y="0"/>
                    <a:pt x="66540" y="0"/>
                  </a:cubicBezTo>
                  <a:close/>
                </a:path>
              </a:pathLst>
            </a:custGeom>
            <a:ln w="38100" cap="rnd">
              <a:solidFill>
                <a:srgbClr val="086B89"/>
              </a:solidFill>
              <a:prstDash val="solid"/>
              <a:round/>
            </a:ln>
          </p:spPr>
        </p:sp>
        <p:sp>
          <p:nvSpPr>
            <p:cNvPr name="TextBox 23" id="23"/>
            <p:cNvSpPr txBox="true"/>
            <p:nvPr/>
          </p:nvSpPr>
          <p:spPr>
            <a:xfrm>
              <a:off x="0" y="-200025"/>
              <a:ext cx="3064339" cy="450889"/>
            </a:xfrm>
            <a:prstGeom prst="rect">
              <a:avLst/>
            </a:prstGeom>
          </p:spPr>
          <p:txBody>
            <a:bodyPr anchor="ctr" rtlCol="false" tIns="50800" lIns="50800" bIns="50800" rIns="50800"/>
            <a:lstStyle/>
            <a:p>
              <a:pPr algn="ctr">
                <a:lnSpc>
                  <a:spcPts val="3079"/>
                </a:lnSpc>
              </a:pPr>
            </a:p>
          </p:txBody>
        </p:sp>
      </p:grpSp>
      <p:grpSp>
        <p:nvGrpSpPr>
          <p:cNvPr name="Group 24" id="24"/>
          <p:cNvGrpSpPr/>
          <p:nvPr/>
        </p:nvGrpSpPr>
        <p:grpSpPr>
          <a:xfrm rot="0">
            <a:off x="11313936" y="3991030"/>
            <a:ext cx="217714" cy="190500"/>
            <a:chOff x="0" y="0"/>
            <a:chExt cx="812800" cy="711200"/>
          </a:xfrm>
        </p:grpSpPr>
        <p:sp>
          <p:nvSpPr>
            <p:cNvPr name="Freeform 25" id="25"/>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86B89"/>
            </a:solidFill>
          </p:spPr>
        </p:sp>
        <p:sp>
          <p:nvSpPr>
            <p:cNvPr name="TextBox 26" id="26"/>
            <p:cNvSpPr txBox="true"/>
            <p:nvPr/>
          </p:nvSpPr>
          <p:spPr>
            <a:xfrm>
              <a:off x="127000" y="-149225"/>
              <a:ext cx="558800" cy="530225"/>
            </a:xfrm>
            <a:prstGeom prst="rect">
              <a:avLst/>
            </a:prstGeom>
          </p:spPr>
          <p:txBody>
            <a:bodyPr anchor="ctr" rtlCol="false" tIns="50800" lIns="50800" bIns="50800" rIns="50800"/>
            <a:lstStyle/>
            <a:p>
              <a:pPr algn="ctr">
                <a:lnSpc>
                  <a:spcPts val="3079"/>
                </a:lnSpc>
              </a:pPr>
            </a:p>
          </p:txBody>
        </p:sp>
      </p:grpSp>
      <p:sp>
        <p:nvSpPr>
          <p:cNvPr name="TextBox 27" id="27"/>
          <p:cNvSpPr txBox="true"/>
          <p:nvPr/>
        </p:nvSpPr>
        <p:spPr>
          <a:xfrm rot="0">
            <a:off x="6928582" y="3100125"/>
            <a:ext cx="8988423" cy="619760"/>
          </a:xfrm>
          <a:prstGeom prst="rect">
            <a:avLst/>
          </a:prstGeom>
        </p:spPr>
        <p:txBody>
          <a:bodyPr anchor="t" rtlCol="false" tIns="0" lIns="0" bIns="0" rIns="0">
            <a:spAutoFit/>
          </a:bodyPr>
          <a:lstStyle/>
          <a:p>
            <a:pPr algn="ctr">
              <a:lnSpc>
                <a:spcPts val="3639"/>
              </a:lnSpc>
            </a:pPr>
            <a:r>
              <a:rPr lang="en-US" b="true" sz="2599">
                <a:solidFill>
                  <a:srgbClr val="086B89"/>
                </a:solidFill>
                <a:latin typeface="たづがね角ゴシック Info Semi-Bold"/>
                <a:ea typeface="たづがね角ゴシック Info Semi-Bold"/>
                <a:cs typeface="たづがね角ゴシック Info Semi-Bold"/>
                <a:sym typeface="たづがね角ゴシック Info Semi-Bold"/>
              </a:rPr>
              <a:t>提案活動</a:t>
            </a:r>
            <a:r>
              <a:rPr lang="en-US" b="true" sz="2599">
                <a:solidFill>
                  <a:srgbClr val="086B89"/>
                </a:solidFill>
                <a:latin typeface="たづがね角ゴシック Info Semi-Bold"/>
                <a:ea typeface="たづがね角ゴシック Info Semi-Bold"/>
                <a:cs typeface="たづがね角ゴシック Info Semi-Bold"/>
                <a:sym typeface="たづがね角ゴシック Info Semi-Bold"/>
              </a:rPr>
              <a:t>の属人化を解消し、誰でも使える仕組みに</a:t>
            </a:r>
          </a:p>
        </p:txBody>
      </p:sp>
      <p:sp>
        <p:nvSpPr>
          <p:cNvPr name="TextBox 28" id="28"/>
          <p:cNvSpPr txBox="true"/>
          <p:nvPr/>
        </p:nvSpPr>
        <p:spPr>
          <a:xfrm rot="0">
            <a:off x="1047750" y="3199820"/>
            <a:ext cx="4557587" cy="577215"/>
          </a:xfrm>
          <a:prstGeom prst="rect">
            <a:avLst/>
          </a:prstGeom>
        </p:spPr>
        <p:txBody>
          <a:bodyPr anchor="t" rtlCol="false" tIns="0" lIns="0" bIns="0" rIns="0">
            <a:spAutoFit/>
          </a:bodyPr>
          <a:lstStyle/>
          <a:p>
            <a:pPr algn="l">
              <a:lnSpc>
                <a:spcPts val="3359"/>
              </a:lnSpc>
              <a:spcBef>
                <a:spcPct val="0"/>
              </a:spcBef>
            </a:pPr>
            <a:r>
              <a:rPr lang="en-US" b="true" sz="2399">
                <a:solidFill>
                  <a:srgbClr val="1A2F81"/>
                </a:solidFill>
                <a:latin typeface="たづがね角ゴシック Info Bold"/>
                <a:ea typeface="たづがね角ゴシック Info Bold"/>
                <a:cs typeface="たづがね角ゴシック Info Bold"/>
                <a:sym typeface="たづがね角ゴシック Info Bold"/>
              </a:rPr>
              <a:t>提案プロセスの標準化</a:t>
            </a:r>
          </a:p>
        </p:txBody>
      </p:sp>
      <p:sp>
        <p:nvSpPr>
          <p:cNvPr name="TextBox 29" id="29"/>
          <p:cNvSpPr txBox="true"/>
          <p:nvPr/>
        </p:nvSpPr>
        <p:spPr>
          <a:xfrm rot="0">
            <a:off x="1047750" y="3019480"/>
            <a:ext cx="2103739" cy="330200"/>
          </a:xfrm>
          <a:prstGeom prst="rect">
            <a:avLst/>
          </a:prstGeom>
        </p:spPr>
        <p:txBody>
          <a:bodyPr anchor="t" rtlCol="false" tIns="0" lIns="0" bIns="0" rIns="0">
            <a:spAutoFit/>
          </a:bodyPr>
          <a:lstStyle/>
          <a:p>
            <a:pPr algn="l">
              <a:lnSpc>
                <a:spcPts val="2799"/>
              </a:lnSpc>
              <a:spcBef>
                <a:spcPct val="0"/>
              </a:spcBef>
            </a:pPr>
            <a:r>
              <a:rPr lang="en-US" b="true" sz="1999">
                <a:solidFill>
                  <a:srgbClr val="1A2F81"/>
                </a:solidFill>
                <a:latin typeface="Montserrat Semi-Bold"/>
                <a:ea typeface="Montserrat Semi-Bold"/>
                <a:cs typeface="Montserrat Semi-Bold"/>
                <a:sym typeface="Montserrat Semi-Bold"/>
              </a:rPr>
              <a:t>VISION 01</a:t>
            </a:r>
          </a:p>
        </p:txBody>
      </p:sp>
      <p:sp>
        <p:nvSpPr>
          <p:cNvPr name="TextBox 30" id="30"/>
          <p:cNvSpPr txBox="true"/>
          <p:nvPr/>
        </p:nvSpPr>
        <p:spPr>
          <a:xfrm rot="0">
            <a:off x="5605337" y="4122396"/>
            <a:ext cx="11634913" cy="577215"/>
          </a:xfrm>
          <a:prstGeom prst="rect">
            <a:avLst/>
          </a:prstGeom>
        </p:spPr>
        <p:txBody>
          <a:bodyPr anchor="t" rtlCol="false" tIns="0" lIns="0" bIns="0" rIns="0">
            <a:spAutoFit/>
          </a:bodyPr>
          <a:lstStyle/>
          <a:p>
            <a:pPr algn="ctr">
              <a:lnSpc>
                <a:spcPts val="3359"/>
              </a:lnSpc>
              <a:spcBef>
                <a:spcPct val="0"/>
              </a:spcBef>
            </a:pPr>
            <a:r>
              <a:rPr lang="en-US" b="true" sz="2399">
                <a:solidFill>
                  <a:srgbClr val="010817"/>
                </a:solidFill>
                <a:latin typeface="たづがね角ゴシック Info Bold"/>
                <a:ea typeface="たづがね角ゴシック Info Bold"/>
                <a:cs typeface="たづがね角ゴシック Info Bold"/>
                <a:sym typeface="たづがね角ゴシック Info Bold"/>
              </a:rPr>
              <a:t>汎用テンプレートの拡充と、作成フローの手順化を推進。</a:t>
            </a:r>
          </a:p>
        </p:txBody>
      </p:sp>
      <p:sp>
        <p:nvSpPr>
          <p:cNvPr name="AutoShape 31" id="31"/>
          <p:cNvSpPr/>
          <p:nvPr/>
        </p:nvSpPr>
        <p:spPr>
          <a:xfrm>
            <a:off x="1028700" y="5041148"/>
            <a:ext cx="16182975" cy="0"/>
          </a:xfrm>
          <a:prstGeom prst="line">
            <a:avLst/>
          </a:prstGeom>
          <a:ln cap="flat" w="19050">
            <a:solidFill>
              <a:srgbClr val="B1B8C0"/>
            </a:solidFill>
            <a:prstDash val="solid"/>
            <a:headEnd type="none" len="sm" w="sm"/>
            <a:tailEnd type="none" len="sm" w="sm"/>
          </a:ln>
        </p:spPr>
      </p:sp>
      <p:grpSp>
        <p:nvGrpSpPr>
          <p:cNvPr name="Group 32" id="32"/>
          <p:cNvGrpSpPr/>
          <p:nvPr/>
        </p:nvGrpSpPr>
        <p:grpSpPr>
          <a:xfrm rot="0">
            <a:off x="5605337" y="5272115"/>
            <a:ext cx="11634913" cy="952500"/>
            <a:chOff x="0" y="0"/>
            <a:chExt cx="3064339" cy="250864"/>
          </a:xfrm>
        </p:grpSpPr>
        <p:sp>
          <p:nvSpPr>
            <p:cNvPr name="Freeform 33" id="33"/>
            <p:cNvSpPr/>
            <p:nvPr/>
          </p:nvSpPr>
          <p:spPr>
            <a:xfrm flipH="false" flipV="false" rot="0">
              <a:off x="0" y="0"/>
              <a:ext cx="3064339" cy="250864"/>
            </a:xfrm>
            <a:custGeom>
              <a:avLst/>
              <a:gdLst/>
              <a:ahLst/>
              <a:cxnLst/>
              <a:rect r="r" b="b" t="t" l="l"/>
              <a:pathLst>
                <a:path h="250864" w="3064339">
                  <a:moveTo>
                    <a:pt x="66540" y="0"/>
                  </a:moveTo>
                  <a:lnTo>
                    <a:pt x="2997799" y="0"/>
                  </a:lnTo>
                  <a:cubicBezTo>
                    <a:pt x="3015447" y="0"/>
                    <a:pt x="3032371" y="7010"/>
                    <a:pt x="3044850" y="19489"/>
                  </a:cubicBezTo>
                  <a:cubicBezTo>
                    <a:pt x="3057329" y="31968"/>
                    <a:pt x="3064339" y="48893"/>
                    <a:pt x="3064339" y="66540"/>
                  </a:cubicBezTo>
                  <a:lnTo>
                    <a:pt x="3064339" y="184324"/>
                  </a:lnTo>
                  <a:cubicBezTo>
                    <a:pt x="3064339" y="201971"/>
                    <a:pt x="3057329" y="218896"/>
                    <a:pt x="3044850" y="231375"/>
                  </a:cubicBezTo>
                  <a:cubicBezTo>
                    <a:pt x="3032371" y="243854"/>
                    <a:pt x="3015447" y="250864"/>
                    <a:pt x="2997799" y="250864"/>
                  </a:cubicBezTo>
                  <a:lnTo>
                    <a:pt x="66540" y="250864"/>
                  </a:lnTo>
                  <a:cubicBezTo>
                    <a:pt x="48893" y="250864"/>
                    <a:pt x="31968" y="243854"/>
                    <a:pt x="19489" y="231375"/>
                  </a:cubicBezTo>
                  <a:cubicBezTo>
                    <a:pt x="7010" y="218896"/>
                    <a:pt x="0" y="201971"/>
                    <a:pt x="0" y="184324"/>
                  </a:cubicBezTo>
                  <a:lnTo>
                    <a:pt x="0" y="66540"/>
                  </a:lnTo>
                  <a:cubicBezTo>
                    <a:pt x="0" y="48893"/>
                    <a:pt x="7010" y="31968"/>
                    <a:pt x="19489" y="19489"/>
                  </a:cubicBezTo>
                  <a:cubicBezTo>
                    <a:pt x="31968" y="7010"/>
                    <a:pt x="48893" y="0"/>
                    <a:pt x="66540" y="0"/>
                  </a:cubicBezTo>
                  <a:close/>
                </a:path>
              </a:pathLst>
            </a:custGeom>
            <a:ln w="38100" cap="rnd">
              <a:solidFill>
                <a:srgbClr val="086B89"/>
              </a:solidFill>
              <a:prstDash val="solid"/>
              <a:round/>
            </a:ln>
          </p:spPr>
        </p:sp>
        <p:sp>
          <p:nvSpPr>
            <p:cNvPr name="TextBox 34" id="34"/>
            <p:cNvSpPr txBox="true"/>
            <p:nvPr/>
          </p:nvSpPr>
          <p:spPr>
            <a:xfrm>
              <a:off x="0" y="-200025"/>
              <a:ext cx="3064339" cy="450889"/>
            </a:xfrm>
            <a:prstGeom prst="rect">
              <a:avLst/>
            </a:prstGeom>
          </p:spPr>
          <p:txBody>
            <a:bodyPr anchor="ctr" rtlCol="false" tIns="50800" lIns="50800" bIns="50800" rIns="50800"/>
            <a:lstStyle/>
            <a:p>
              <a:pPr algn="ctr" marL="0" indent="0" lvl="0">
                <a:lnSpc>
                  <a:spcPts val="3079"/>
                </a:lnSpc>
                <a:spcBef>
                  <a:spcPct val="0"/>
                </a:spcBef>
              </a:pPr>
            </a:p>
          </p:txBody>
        </p:sp>
      </p:grpSp>
      <p:grpSp>
        <p:nvGrpSpPr>
          <p:cNvPr name="Group 35" id="35"/>
          <p:cNvGrpSpPr/>
          <p:nvPr/>
        </p:nvGrpSpPr>
        <p:grpSpPr>
          <a:xfrm rot="0">
            <a:off x="11313936" y="6215090"/>
            <a:ext cx="217714" cy="190500"/>
            <a:chOff x="0" y="0"/>
            <a:chExt cx="812800" cy="711200"/>
          </a:xfrm>
        </p:grpSpPr>
        <p:sp>
          <p:nvSpPr>
            <p:cNvPr name="Freeform 36" id="36"/>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86B89"/>
            </a:solidFill>
          </p:spPr>
        </p:sp>
        <p:sp>
          <p:nvSpPr>
            <p:cNvPr name="TextBox 37" id="37"/>
            <p:cNvSpPr txBox="true"/>
            <p:nvPr/>
          </p:nvSpPr>
          <p:spPr>
            <a:xfrm>
              <a:off x="127000" y="-149225"/>
              <a:ext cx="558800" cy="530225"/>
            </a:xfrm>
            <a:prstGeom prst="rect">
              <a:avLst/>
            </a:prstGeom>
          </p:spPr>
          <p:txBody>
            <a:bodyPr anchor="ctr" rtlCol="false" tIns="50800" lIns="50800" bIns="50800" rIns="50800"/>
            <a:lstStyle/>
            <a:p>
              <a:pPr algn="ctr">
                <a:lnSpc>
                  <a:spcPts val="3079"/>
                </a:lnSpc>
              </a:pPr>
            </a:p>
          </p:txBody>
        </p:sp>
      </p:grpSp>
      <p:sp>
        <p:nvSpPr>
          <p:cNvPr name="TextBox 38" id="38"/>
          <p:cNvSpPr txBox="true"/>
          <p:nvPr/>
        </p:nvSpPr>
        <p:spPr>
          <a:xfrm rot="0">
            <a:off x="6928582" y="5324185"/>
            <a:ext cx="8988423" cy="619760"/>
          </a:xfrm>
          <a:prstGeom prst="rect">
            <a:avLst/>
          </a:prstGeom>
        </p:spPr>
        <p:txBody>
          <a:bodyPr anchor="t" rtlCol="false" tIns="0" lIns="0" bIns="0" rIns="0">
            <a:spAutoFit/>
          </a:bodyPr>
          <a:lstStyle/>
          <a:p>
            <a:pPr algn="ctr">
              <a:lnSpc>
                <a:spcPts val="3639"/>
              </a:lnSpc>
            </a:pPr>
            <a:r>
              <a:rPr lang="en-US" b="true" sz="2599">
                <a:solidFill>
                  <a:srgbClr val="086B89"/>
                </a:solidFill>
                <a:latin typeface="たづがね角ゴシック Info Semi-Bold"/>
                <a:ea typeface="たづがね角ゴシック Info Semi-Bold"/>
                <a:cs typeface="たづがね角ゴシック Info Semi-Bold"/>
                <a:sym typeface="たづがね角ゴシック Info Semi-Bold"/>
              </a:rPr>
              <a:t>"作る"から"活かす"レポートへ</a:t>
            </a:r>
          </a:p>
        </p:txBody>
      </p:sp>
      <p:sp>
        <p:nvSpPr>
          <p:cNvPr name="TextBox 39" id="39"/>
          <p:cNvSpPr txBox="true"/>
          <p:nvPr/>
        </p:nvSpPr>
        <p:spPr>
          <a:xfrm rot="0">
            <a:off x="1047750" y="5423880"/>
            <a:ext cx="4557587" cy="577215"/>
          </a:xfrm>
          <a:prstGeom prst="rect">
            <a:avLst/>
          </a:prstGeom>
        </p:spPr>
        <p:txBody>
          <a:bodyPr anchor="t" rtlCol="false" tIns="0" lIns="0" bIns="0" rIns="0">
            <a:spAutoFit/>
          </a:bodyPr>
          <a:lstStyle/>
          <a:p>
            <a:pPr algn="l">
              <a:lnSpc>
                <a:spcPts val="3359"/>
              </a:lnSpc>
              <a:spcBef>
                <a:spcPct val="0"/>
              </a:spcBef>
            </a:pPr>
            <a:r>
              <a:rPr lang="en-US" b="true" sz="2399">
                <a:solidFill>
                  <a:srgbClr val="1A2F81"/>
                </a:solidFill>
                <a:latin typeface="たづがね角ゴシック Info Bold"/>
                <a:ea typeface="たづがね角ゴシック Info Bold"/>
                <a:cs typeface="たづがね角ゴシック Info Bold"/>
                <a:sym typeface="たづがね角ゴシック Info Bold"/>
              </a:rPr>
              <a:t>レポート分析の質向上</a:t>
            </a:r>
          </a:p>
        </p:txBody>
      </p:sp>
      <p:sp>
        <p:nvSpPr>
          <p:cNvPr name="TextBox 40" id="40"/>
          <p:cNvSpPr txBox="true"/>
          <p:nvPr/>
        </p:nvSpPr>
        <p:spPr>
          <a:xfrm rot="0">
            <a:off x="1047750" y="5243540"/>
            <a:ext cx="2103739" cy="330200"/>
          </a:xfrm>
          <a:prstGeom prst="rect">
            <a:avLst/>
          </a:prstGeom>
        </p:spPr>
        <p:txBody>
          <a:bodyPr anchor="t" rtlCol="false" tIns="0" lIns="0" bIns="0" rIns="0">
            <a:spAutoFit/>
          </a:bodyPr>
          <a:lstStyle/>
          <a:p>
            <a:pPr algn="l">
              <a:lnSpc>
                <a:spcPts val="2799"/>
              </a:lnSpc>
              <a:spcBef>
                <a:spcPct val="0"/>
              </a:spcBef>
            </a:pPr>
            <a:r>
              <a:rPr lang="en-US" b="true" sz="1999">
                <a:solidFill>
                  <a:srgbClr val="1A2F81"/>
                </a:solidFill>
                <a:latin typeface="Montserrat Semi-Bold"/>
                <a:ea typeface="Montserrat Semi-Bold"/>
                <a:cs typeface="Montserrat Semi-Bold"/>
                <a:sym typeface="Montserrat Semi-Bold"/>
              </a:rPr>
              <a:t>VISION 02</a:t>
            </a:r>
          </a:p>
        </p:txBody>
      </p:sp>
      <p:sp>
        <p:nvSpPr>
          <p:cNvPr name="TextBox 41" id="41"/>
          <p:cNvSpPr txBox="true"/>
          <p:nvPr/>
        </p:nvSpPr>
        <p:spPr>
          <a:xfrm rot="0">
            <a:off x="5605337" y="6346456"/>
            <a:ext cx="11634913" cy="577215"/>
          </a:xfrm>
          <a:prstGeom prst="rect">
            <a:avLst/>
          </a:prstGeom>
        </p:spPr>
        <p:txBody>
          <a:bodyPr anchor="t" rtlCol="false" tIns="0" lIns="0" bIns="0" rIns="0">
            <a:spAutoFit/>
          </a:bodyPr>
          <a:lstStyle/>
          <a:p>
            <a:pPr algn="ctr">
              <a:lnSpc>
                <a:spcPts val="3359"/>
              </a:lnSpc>
              <a:spcBef>
                <a:spcPct val="0"/>
              </a:spcBef>
            </a:pPr>
            <a:r>
              <a:rPr lang="en-US" b="true" sz="2399">
                <a:solidFill>
                  <a:srgbClr val="010817"/>
                </a:solidFill>
                <a:latin typeface="たづがね角ゴシック Info Bold"/>
                <a:ea typeface="たづがね角ゴシック Info Bold"/>
                <a:cs typeface="たづがね角ゴシック Info Bold"/>
                <a:sym typeface="たづがね角ゴシック Info Bold"/>
              </a:rPr>
              <a:t>デ</a:t>
            </a:r>
            <a:r>
              <a:rPr lang="en-US" b="true" sz="2399">
                <a:solidFill>
                  <a:srgbClr val="010817"/>
                </a:solidFill>
                <a:latin typeface="たづがね角ゴシック Info Bold"/>
                <a:ea typeface="たづがね角ゴシック Info Bold"/>
                <a:cs typeface="たづがね角ゴシック Info Bold"/>
                <a:sym typeface="たづがね角ゴシック Info Bold"/>
              </a:rPr>
              <a:t>ータ活用の目的明確化と、分析視点のナレッジ共有を強化。</a:t>
            </a:r>
          </a:p>
        </p:txBody>
      </p:sp>
      <p:grpSp>
        <p:nvGrpSpPr>
          <p:cNvPr name="Group 42" id="42"/>
          <p:cNvGrpSpPr/>
          <p:nvPr/>
        </p:nvGrpSpPr>
        <p:grpSpPr>
          <a:xfrm rot="0">
            <a:off x="5605337" y="7496175"/>
            <a:ext cx="11634913" cy="952500"/>
            <a:chOff x="0" y="0"/>
            <a:chExt cx="3064339" cy="250864"/>
          </a:xfrm>
        </p:grpSpPr>
        <p:sp>
          <p:nvSpPr>
            <p:cNvPr name="Freeform 43" id="43"/>
            <p:cNvSpPr/>
            <p:nvPr/>
          </p:nvSpPr>
          <p:spPr>
            <a:xfrm flipH="false" flipV="false" rot="0">
              <a:off x="0" y="0"/>
              <a:ext cx="3064339" cy="250864"/>
            </a:xfrm>
            <a:custGeom>
              <a:avLst/>
              <a:gdLst/>
              <a:ahLst/>
              <a:cxnLst/>
              <a:rect r="r" b="b" t="t" l="l"/>
              <a:pathLst>
                <a:path h="250864" w="3064339">
                  <a:moveTo>
                    <a:pt x="66540" y="0"/>
                  </a:moveTo>
                  <a:lnTo>
                    <a:pt x="2997799" y="0"/>
                  </a:lnTo>
                  <a:cubicBezTo>
                    <a:pt x="3015447" y="0"/>
                    <a:pt x="3032371" y="7010"/>
                    <a:pt x="3044850" y="19489"/>
                  </a:cubicBezTo>
                  <a:cubicBezTo>
                    <a:pt x="3057329" y="31968"/>
                    <a:pt x="3064339" y="48893"/>
                    <a:pt x="3064339" y="66540"/>
                  </a:cubicBezTo>
                  <a:lnTo>
                    <a:pt x="3064339" y="184324"/>
                  </a:lnTo>
                  <a:cubicBezTo>
                    <a:pt x="3064339" y="201971"/>
                    <a:pt x="3057329" y="218896"/>
                    <a:pt x="3044850" y="231375"/>
                  </a:cubicBezTo>
                  <a:cubicBezTo>
                    <a:pt x="3032371" y="243854"/>
                    <a:pt x="3015447" y="250864"/>
                    <a:pt x="2997799" y="250864"/>
                  </a:cubicBezTo>
                  <a:lnTo>
                    <a:pt x="66540" y="250864"/>
                  </a:lnTo>
                  <a:cubicBezTo>
                    <a:pt x="48893" y="250864"/>
                    <a:pt x="31968" y="243854"/>
                    <a:pt x="19489" y="231375"/>
                  </a:cubicBezTo>
                  <a:cubicBezTo>
                    <a:pt x="7010" y="218896"/>
                    <a:pt x="0" y="201971"/>
                    <a:pt x="0" y="184324"/>
                  </a:cubicBezTo>
                  <a:lnTo>
                    <a:pt x="0" y="66540"/>
                  </a:lnTo>
                  <a:cubicBezTo>
                    <a:pt x="0" y="48893"/>
                    <a:pt x="7010" y="31968"/>
                    <a:pt x="19489" y="19489"/>
                  </a:cubicBezTo>
                  <a:cubicBezTo>
                    <a:pt x="31968" y="7010"/>
                    <a:pt x="48893" y="0"/>
                    <a:pt x="66540" y="0"/>
                  </a:cubicBezTo>
                  <a:close/>
                </a:path>
              </a:pathLst>
            </a:custGeom>
            <a:ln w="38100" cap="rnd">
              <a:solidFill>
                <a:srgbClr val="086B89"/>
              </a:solidFill>
              <a:prstDash val="solid"/>
              <a:round/>
            </a:ln>
          </p:spPr>
        </p:sp>
        <p:sp>
          <p:nvSpPr>
            <p:cNvPr name="TextBox 44" id="44"/>
            <p:cNvSpPr txBox="true"/>
            <p:nvPr/>
          </p:nvSpPr>
          <p:spPr>
            <a:xfrm>
              <a:off x="0" y="-200025"/>
              <a:ext cx="3064339" cy="450889"/>
            </a:xfrm>
            <a:prstGeom prst="rect">
              <a:avLst/>
            </a:prstGeom>
          </p:spPr>
          <p:txBody>
            <a:bodyPr anchor="ctr" rtlCol="false" tIns="50800" lIns="50800" bIns="50800" rIns="50800"/>
            <a:lstStyle/>
            <a:p>
              <a:pPr algn="ctr" marL="0" indent="0" lvl="0">
                <a:lnSpc>
                  <a:spcPts val="3079"/>
                </a:lnSpc>
                <a:spcBef>
                  <a:spcPct val="0"/>
                </a:spcBef>
              </a:pPr>
            </a:p>
          </p:txBody>
        </p:sp>
      </p:grpSp>
      <p:grpSp>
        <p:nvGrpSpPr>
          <p:cNvPr name="Group 45" id="45"/>
          <p:cNvGrpSpPr/>
          <p:nvPr/>
        </p:nvGrpSpPr>
        <p:grpSpPr>
          <a:xfrm rot="0">
            <a:off x="11313936" y="8439150"/>
            <a:ext cx="217714" cy="190500"/>
            <a:chOff x="0" y="0"/>
            <a:chExt cx="812800" cy="711200"/>
          </a:xfrm>
        </p:grpSpPr>
        <p:sp>
          <p:nvSpPr>
            <p:cNvPr name="Freeform 46" id="46"/>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solidFill>
              <a:srgbClr val="086B89"/>
            </a:solidFill>
          </p:spPr>
        </p:sp>
        <p:sp>
          <p:nvSpPr>
            <p:cNvPr name="TextBox 47" id="47"/>
            <p:cNvSpPr txBox="true"/>
            <p:nvPr/>
          </p:nvSpPr>
          <p:spPr>
            <a:xfrm>
              <a:off x="127000" y="-149225"/>
              <a:ext cx="558800" cy="530225"/>
            </a:xfrm>
            <a:prstGeom prst="rect">
              <a:avLst/>
            </a:prstGeom>
          </p:spPr>
          <p:txBody>
            <a:bodyPr anchor="ctr" rtlCol="false" tIns="50800" lIns="50800" bIns="50800" rIns="50800"/>
            <a:lstStyle/>
            <a:p>
              <a:pPr algn="ctr">
                <a:lnSpc>
                  <a:spcPts val="3079"/>
                </a:lnSpc>
              </a:pPr>
            </a:p>
          </p:txBody>
        </p:sp>
      </p:grpSp>
      <p:sp>
        <p:nvSpPr>
          <p:cNvPr name="TextBox 48" id="48"/>
          <p:cNvSpPr txBox="true"/>
          <p:nvPr/>
        </p:nvSpPr>
        <p:spPr>
          <a:xfrm rot="0">
            <a:off x="6928582" y="7548245"/>
            <a:ext cx="8988423" cy="619760"/>
          </a:xfrm>
          <a:prstGeom prst="rect">
            <a:avLst/>
          </a:prstGeom>
        </p:spPr>
        <p:txBody>
          <a:bodyPr anchor="t" rtlCol="false" tIns="0" lIns="0" bIns="0" rIns="0">
            <a:spAutoFit/>
          </a:bodyPr>
          <a:lstStyle/>
          <a:p>
            <a:pPr algn="ctr">
              <a:lnSpc>
                <a:spcPts val="3639"/>
              </a:lnSpc>
            </a:pPr>
            <a:r>
              <a:rPr lang="en-US" b="true" sz="2599">
                <a:solidFill>
                  <a:srgbClr val="086B89"/>
                </a:solidFill>
                <a:latin typeface="たづがね角ゴシック Info Semi-Bold"/>
                <a:ea typeface="たづがね角ゴシック Info Semi-Bold"/>
                <a:cs typeface="たづがね角ゴシック Info Semi-Bold"/>
                <a:sym typeface="たづがね角ゴシック Info Semi-Bold"/>
              </a:rPr>
              <a:t>部門</a:t>
            </a:r>
            <a:r>
              <a:rPr lang="en-US" b="true" sz="2599">
                <a:solidFill>
                  <a:srgbClr val="086B89"/>
                </a:solidFill>
                <a:latin typeface="たづがね角ゴシック Info Semi-Bold"/>
                <a:ea typeface="たづがね角ゴシック Info Semi-Bold"/>
                <a:cs typeface="たづがね角ゴシック Info Semi-Bold"/>
                <a:sym typeface="たづがね角ゴシック Info Semi-Bold"/>
              </a:rPr>
              <a:t>を超えた協働で、インパクトある成果を</a:t>
            </a:r>
          </a:p>
        </p:txBody>
      </p:sp>
      <p:sp>
        <p:nvSpPr>
          <p:cNvPr name="TextBox 49" id="49"/>
          <p:cNvSpPr txBox="true"/>
          <p:nvPr/>
        </p:nvSpPr>
        <p:spPr>
          <a:xfrm rot="0">
            <a:off x="1047750" y="7647940"/>
            <a:ext cx="4557587" cy="577215"/>
          </a:xfrm>
          <a:prstGeom prst="rect">
            <a:avLst/>
          </a:prstGeom>
        </p:spPr>
        <p:txBody>
          <a:bodyPr anchor="t" rtlCol="false" tIns="0" lIns="0" bIns="0" rIns="0">
            <a:spAutoFit/>
          </a:bodyPr>
          <a:lstStyle/>
          <a:p>
            <a:pPr algn="l">
              <a:lnSpc>
                <a:spcPts val="3359"/>
              </a:lnSpc>
              <a:spcBef>
                <a:spcPct val="0"/>
              </a:spcBef>
            </a:pPr>
            <a:r>
              <a:rPr lang="en-US" b="true" sz="2399">
                <a:solidFill>
                  <a:srgbClr val="1A2F81"/>
                </a:solidFill>
                <a:latin typeface="たづがね角ゴシック Info Bold"/>
                <a:ea typeface="たづがね角ゴシック Info Bold"/>
                <a:cs typeface="たづがね角ゴシック Info Bold"/>
                <a:sym typeface="たづがね角ゴシック Info Bold"/>
              </a:rPr>
              <a:t>チーム間連携の強化</a:t>
            </a:r>
          </a:p>
        </p:txBody>
      </p:sp>
      <p:sp>
        <p:nvSpPr>
          <p:cNvPr name="TextBox 50" id="50"/>
          <p:cNvSpPr txBox="true"/>
          <p:nvPr/>
        </p:nvSpPr>
        <p:spPr>
          <a:xfrm rot="0">
            <a:off x="1047750" y="7467600"/>
            <a:ext cx="2103739" cy="330200"/>
          </a:xfrm>
          <a:prstGeom prst="rect">
            <a:avLst/>
          </a:prstGeom>
        </p:spPr>
        <p:txBody>
          <a:bodyPr anchor="t" rtlCol="false" tIns="0" lIns="0" bIns="0" rIns="0">
            <a:spAutoFit/>
          </a:bodyPr>
          <a:lstStyle/>
          <a:p>
            <a:pPr algn="l">
              <a:lnSpc>
                <a:spcPts val="2799"/>
              </a:lnSpc>
              <a:spcBef>
                <a:spcPct val="0"/>
              </a:spcBef>
            </a:pPr>
            <a:r>
              <a:rPr lang="en-US" b="true" sz="1999">
                <a:solidFill>
                  <a:srgbClr val="1A2F81"/>
                </a:solidFill>
                <a:latin typeface="Montserrat Semi-Bold"/>
                <a:ea typeface="Montserrat Semi-Bold"/>
                <a:cs typeface="Montserrat Semi-Bold"/>
                <a:sym typeface="Montserrat Semi-Bold"/>
              </a:rPr>
              <a:t>VISION 03</a:t>
            </a:r>
          </a:p>
        </p:txBody>
      </p:sp>
      <p:sp>
        <p:nvSpPr>
          <p:cNvPr name="TextBox 51" id="51"/>
          <p:cNvSpPr txBox="true"/>
          <p:nvPr/>
        </p:nvSpPr>
        <p:spPr>
          <a:xfrm rot="0">
            <a:off x="5605337" y="8570516"/>
            <a:ext cx="11634913" cy="577215"/>
          </a:xfrm>
          <a:prstGeom prst="rect">
            <a:avLst/>
          </a:prstGeom>
        </p:spPr>
        <p:txBody>
          <a:bodyPr anchor="t" rtlCol="false" tIns="0" lIns="0" bIns="0" rIns="0">
            <a:spAutoFit/>
          </a:bodyPr>
          <a:lstStyle/>
          <a:p>
            <a:pPr algn="ctr">
              <a:lnSpc>
                <a:spcPts val="3359"/>
              </a:lnSpc>
              <a:spcBef>
                <a:spcPct val="0"/>
              </a:spcBef>
            </a:pPr>
            <a:r>
              <a:rPr lang="en-US" b="true" sz="2399">
                <a:solidFill>
                  <a:srgbClr val="010817"/>
                </a:solidFill>
                <a:latin typeface="たづがね角ゴシック Info Bold"/>
                <a:ea typeface="たづがね角ゴシック Info Bold"/>
                <a:cs typeface="たづがね角ゴシック Info Bold"/>
                <a:sym typeface="たづがね角ゴシック Info Bold"/>
              </a:rPr>
              <a:t>他部署との提案連携</a:t>
            </a:r>
            <a:r>
              <a:rPr lang="en-US" b="true" sz="2399">
                <a:solidFill>
                  <a:srgbClr val="010817"/>
                </a:solidFill>
                <a:latin typeface="たづがね角ゴシック Info Bold"/>
                <a:ea typeface="たづがね角ゴシック Info Bold"/>
                <a:cs typeface="たづがね角ゴシック Info Bold"/>
                <a:sym typeface="たづがね角ゴシック Info Bold"/>
              </a:rPr>
              <a:t>プロジェクトを定例化予定。</a:t>
            </a:r>
          </a:p>
        </p:txBody>
      </p:sp>
      <p:sp>
        <p:nvSpPr>
          <p:cNvPr name="AutoShape 52" id="52"/>
          <p:cNvSpPr/>
          <p:nvPr/>
        </p:nvSpPr>
        <p:spPr>
          <a:xfrm>
            <a:off x="1028700" y="7265208"/>
            <a:ext cx="16182975" cy="0"/>
          </a:xfrm>
          <a:prstGeom prst="line">
            <a:avLst/>
          </a:prstGeom>
          <a:ln cap="flat" w="19050">
            <a:solidFill>
              <a:srgbClr val="B1B8C0"/>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8F9"/>
        </a:solidFill>
      </p:bgPr>
    </p:bg>
    <p:spTree>
      <p:nvGrpSpPr>
        <p:cNvPr id="1" name=""/>
        <p:cNvGrpSpPr/>
        <p:nvPr/>
      </p:nvGrpSpPr>
      <p:grpSpPr>
        <a:xfrm>
          <a:off x="0" y="0"/>
          <a:ext cx="0" cy="0"/>
          <a:chOff x="0" y="0"/>
          <a:chExt cx="0" cy="0"/>
        </a:xfrm>
      </p:grpSpPr>
      <p:grpSp>
        <p:nvGrpSpPr>
          <p:cNvPr name="Group 2" id="2"/>
          <p:cNvGrpSpPr/>
          <p:nvPr/>
        </p:nvGrpSpPr>
        <p:grpSpPr>
          <a:xfrm rot="0">
            <a:off x="1047750" y="2144053"/>
            <a:ext cx="95250" cy="481013"/>
            <a:chOff x="0" y="0"/>
            <a:chExt cx="19464" cy="98292"/>
          </a:xfrm>
        </p:grpSpPr>
        <p:sp>
          <p:nvSpPr>
            <p:cNvPr name="Freeform 3" id="3"/>
            <p:cNvSpPr/>
            <p:nvPr/>
          </p:nvSpPr>
          <p:spPr>
            <a:xfrm flipH="false" flipV="false" rot="0">
              <a:off x="0" y="0"/>
              <a:ext cx="19464" cy="98292"/>
            </a:xfrm>
            <a:custGeom>
              <a:avLst/>
              <a:gdLst/>
              <a:ahLst/>
              <a:cxnLst/>
              <a:rect r="r" b="b" t="t" l="l"/>
              <a:pathLst>
                <a:path h="98292" w="19464">
                  <a:moveTo>
                    <a:pt x="0" y="0"/>
                  </a:moveTo>
                  <a:lnTo>
                    <a:pt x="19464" y="0"/>
                  </a:lnTo>
                  <a:lnTo>
                    <a:pt x="19464" y="98292"/>
                  </a:lnTo>
                  <a:lnTo>
                    <a:pt x="0" y="98292"/>
                  </a:lnTo>
                  <a:close/>
                </a:path>
              </a:pathLst>
            </a:custGeom>
            <a:solidFill>
              <a:srgbClr val="1A2F81"/>
            </a:solidFill>
            <a:ln cap="sq">
              <a:noFill/>
              <a:prstDash val="solid"/>
              <a:miter/>
            </a:ln>
          </p:spPr>
        </p:sp>
        <p:sp>
          <p:nvSpPr>
            <p:cNvPr name="TextBox 4" id="4"/>
            <p:cNvSpPr txBox="true"/>
            <p:nvPr/>
          </p:nvSpPr>
          <p:spPr>
            <a:xfrm>
              <a:off x="0" y="-114300"/>
              <a:ext cx="19464" cy="212592"/>
            </a:xfrm>
            <a:prstGeom prst="rect">
              <a:avLst/>
            </a:prstGeom>
          </p:spPr>
          <p:txBody>
            <a:bodyPr anchor="ctr" rtlCol="false" tIns="40273" lIns="40273" bIns="40273" rIns="40273"/>
            <a:lstStyle/>
            <a:p>
              <a:pPr algn="ctr" marL="0" indent="0" lvl="0">
                <a:lnSpc>
                  <a:spcPts val="1775"/>
                </a:lnSpc>
                <a:spcBef>
                  <a:spcPct val="0"/>
                </a:spcBef>
              </a:pPr>
            </a:p>
          </p:txBody>
        </p:sp>
      </p:grpSp>
      <p:grpSp>
        <p:nvGrpSpPr>
          <p:cNvPr name="Group 5" id="5"/>
          <p:cNvGrpSpPr/>
          <p:nvPr/>
        </p:nvGrpSpPr>
        <p:grpSpPr>
          <a:xfrm rot="0">
            <a:off x="16063860" y="1132115"/>
            <a:ext cx="1177622" cy="189410"/>
            <a:chOff x="0" y="0"/>
            <a:chExt cx="1570163" cy="252547"/>
          </a:xfrm>
        </p:grpSpPr>
        <p:grpSp>
          <p:nvGrpSpPr>
            <p:cNvPr name="Group 6" id="6"/>
            <p:cNvGrpSpPr/>
            <p:nvPr/>
          </p:nvGrpSpPr>
          <p:grpSpPr>
            <a:xfrm rot="0">
              <a:off x="0" y="0"/>
              <a:ext cx="252547" cy="252547"/>
              <a:chOff x="0" y="0"/>
              <a:chExt cx="81040" cy="81040"/>
            </a:xfrm>
          </p:grpSpPr>
          <p:sp>
            <p:nvSpPr>
              <p:cNvPr name="Freeform 7" id="7"/>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ABB5CA"/>
              </a:solidFill>
              <a:ln cap="sq">
                <a:noFill/>
                <a:prstDash val="solid"/>
                <a:miter/>
              </a:ln>
            </p:spPr>
          </p:sp>
          <p:sp>
            <p:nvSpPr>
              <p:cNvPr name="TextBox 8" id="8"/>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9" id="9"/>
            <p:cNvGrpSpPr/>
            <p:nvPr/>
          </p:nvGrpSpPr>
          <p:grpSpPr>
            <a:xfrm rot="0">
              <a:off x="439205" y="0"/>
              <a:ext cx="252547" cy="252547"/>
              <a:chOff x="0" y="0"/>
              <a:chExt cx="81040" cy="81040"/>
            </a:xfrm>
          </p:grpSpPr>
          <p:sp>
            <p:nvSpPr>
              <p:cNvPr name="Freeform 10" id="10"/>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808FB0"/>
              </a:solidFill>
              <a:ln cap="sq">
                <a:noFill/>
                <a:prstDash val="solid"/>
                <a:miter/>
              </a:ln>
            </p:spPr>
          </p:sp>
          <p:sp>
            <p:nvSpPr>
              <p:cNvPr name="TextBox 11" id="11"/>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2" id="12"/>
            <p:cNvGrpSpPr/>
            <p:nvPr/>
          </p:nvGrpSpPr>
          <p:grpSpPr>
            <a:xfrm rot="0">
              <a:off x="878410" y="0"/>
              <a:ext cx="252547" cy="252547"/>
              <a:chOff x="0" y="0"/>
              <a:chExt cx="81040" cy="81040"/>
            </a:xfrm>
          </p:grpSpPr>
          <p:sp>
            <p:nvSpPr>
              <p:cNvPr name="Freeform 13" id="13"/>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566A95"/>
              </a:solidFill>
              <a:ln cap="sq">
                <a:noFill/>
                <a:prstDash val="solid"/>
                <a:miter/>
              </a:ln>
            </p:spPr>
          </p:sp>
          <p:sp>
            <p:nvSpPr>
              <p:cNvPr name="TextBox 14" id="14"/>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nvGrpSpPr>
            <p:cNvPr name="Group 15" id="15"/>
            <p:cNvGrpSpPr/>
            <p:nvPr/>
          </p:nvGrpSpPr>
          <p:grpSpPr>
            <a:xfrm rot="0">
              <a:off x="1317615" y="0"/>
              <a:ext cx="252547" cy="252547"/>
              <a:chOff x="0" y="0"/>
              <a:chExt cx="81040" cy="81040"/>
            </a:xfrm>
          </p:grpSpPr>
          <p:sp>
            <p:nvSpPr>
              <p:cNvPr name="Freeform 16" id="16"/>
              <p:cNvSpPr/>
              <p:nvPr/>
            </p:nvSpPr>
            <p:spPr>
              <a:xfrm flipH="false" flipV="false" rot="0">
                <a:off x="0" y="0"/>
                <a:ext cx="81040" cy="81040"/>
              </a:xfrm>
              <a:custGeom>
                <a:avLst/>
                <a:gdLst/>
                <a:ahLst/>
                <a:cxnLst/>
                <a:rect r="r" b="b" t="t" l="l"/>
                <a:pathLst>
                  <a:path h="81040" w="81040">
                    <a:moveTo>
                      <a:pt x="0" y="0"/>
                    </a:moveTo>
                    <a:lnTo>
                      <a:pt x="81040" y="0"/>
                    </a:lnTo>
                    <a:lnTo>
                      <a:pt x="81040" y="81040"/>
                    </a:lnTo>
                    <a:lnTo>
                      <a:pt x="0" y="81040"/>
                    </a:lnTo>
                    <a:close/>
                  </a:path>
                </a:pathLst>
              </a:custGeom>
              <a:solidFill>
                <a:srgbClr val="1A2F81"/>
              </a:solidFill>
              <a:ln cap="sq">
                <a:noFill/>
                <a:prstDash val="solid"/>
                <a:miter/>
              </a:ln>
            </p:spPr>
          </p:sp>
          <p:sp>
            <p:nvSpPr>
              <p:cNvPr name="TextBox 17" id="17"/>
              <p:cNvSpPr txBox="true"/>
              <p:nvPr/>
            </p:nvSpPr>
            <p:spPr>
              <a:xfrm>
                <a:off x="0" y="-76200"/>
                <a:ext cx="81040" cy="157240"/>
              </a:xfrm>
              <a:prstGeom prst="rect">
                <a:avLst/>
              </a:prstGeom>
            </p:spPr>
            <p:txBody>
              <a:bodyPr anchor="ctr" rtlCol="false" tIns="77068" lIns="77068" bIns="77068" rIns="77068"/>
              <a:lstStyle/>
              <a:p>
                <a:pPr algn="ctr" marL="0" indent="0" lvl="0">
                  <a:lnSpc>
                    <a:spcPts val="1220"/>
                  </a:lnSpc>
                  <a:spcBef>
                    <a:spcPct val="0"/>
                  </a:spcBef>
                </a:pPr>
              </a:p>
            </p:txBody>
          </p:sp>
        </p:grpSp>
      </p:grpSp>
      <p:sp>
        <p:nvSpPr>
          <p:cNvPr name="TextBox 18" id="18"/>
          <p:cNvSpPr txBox="true"/>
          <p:nvPr/>
        </p:nvSpPr>
        <p:spPr>
          <a:xfrm rot="0">
            <a:off x="1047750" y="2819455"/>
            <a:ext cx="16192500" cy="2691130"/>
          </a:xfrm>
          <a:prstGeom prst="rect">
            <a:avLst/>
          </a:prstGeom>
        </p:spPr>
        <p:txBody>
          <a:bodyPr anchor="t" rtlCol="false" tIns="0" lIns="0" bIns="0" rIns="0">
            <a:spAutoFit/>
          </a:bodyPr>
          <a:lstStyle/>
          <a:p>
            <a:pPr algn="just">
              <a:lnSpc>
                <a:spcPts val="3440"/>
              </a:lnSpc>
            </a:pPr>
            <a:r>
              <a:rPr lang="en-US" sz="2150">
                <a:solidFill>
                  <a:srgbClr val="010817"/>
                </a:solidFill>
                <a:latin typeface="たづがね角ゴシック Info"/>
                <a:ea typeface="たづがね角ゴシック Info"/>
                <a:cs typeface="たづがね角ゴシック Info"/>
                <a:sym typeface="たづがね角ゴシック Info"/>
              </a:rPr>
              <a:t>上半期は、提案資料の整備やセミナーの定着化、営業支援データのレポート化など、業務の仕組みづくりに注力した期間となりました。</a:t>
            </a:r>
          </a:p>
          <a:p>
            <a:pPr algn="just">
              <a:lnSpc>
                <a:spcPts val="3440"/>
              </a:lnSpc>
            </a:pPr>
            <a:r>
              <a:rPr lang="en-US" sz="2150">
                <a:solidFill>
                  <a:srgbClr val="010817"/>
                </a:solidFill>
                <a:latin typeface="たづがね角ゴシック Info"/>
                <a:ea typeface="たづがね角ゴシック Info"/>
                <a:cs typeface="たづがね角ゴシック Info"/>
                <a:sym typeface="たづがね角ゴシック Info"/>
              </a:rPr>
              <a:t>特に、業務の属人化を防ぐ取り組みや、データ活用による提案精度の向上に手応えを感じています。</a:t>
            </a:r>
          </a:p>
          <a:p>
            <a:pPr algn="just">
              <a:lnSpc>
                <a:spcPts val="3440"/>
              </a:lnSpc>
            </a:pPr>
          </a:p>
          <a:p>
            <a:pPr algn="just">
              <a:lnSpc>
                <a:spcPts val="3440"/>
              </a:lnSpc>
            </a:pPr>
            <a:r>
              <a:rPr lang="en-US" sz="2150">
                <a:solidFill>
                  <a:srgbClr val="010817"/>
                </a:solidFill>
                <a:latin typeface="たづがね角ゴシック Info"/>
                <a:ea typeface="たづがね角ゴシック Info"/>
                <a:cs typeface="たづがね角ゴシック Info"/>
                <a:sym typeface="たづがね角ゴシック Info"/>
              </a:rPr>
              <a:t>下半期は、得られた成果と課題をもとに、プロセスの見直しと改善を実行していきます。</a:t>
            </a:r>
          </a:p>
          <a:p>
            <a:pPr algn="just">
              <a:lnSpc>
                <a:spcPts val="3440"/>
              </a:lnSpc>
            </a:pPr>
            <a:r>
              <a:rPr lang="en-US" sz="2150">
                <a:solidFill>
                  <a:srgbClr val="010817"/>
                </a:solidFill>
                <a:latin typeface="たづがね角ゴシック Info"/>
                <a:ea typeface="たづがね角ゴシック Info"/>
                <a:cs typeface="たづがね角ゴシック Info"/>
                <a:sym typeface="たづがね角ゴシック Info"/>
              </a:rPr>
              <a:t>チーム間連携や分析力強化にも意識を向け、より大きな成果を目指していきたいと考えています。</a:t>
            </a:r>
          </a:p>
        </p:txBody>
      </p:sp>
      <p:sp>
        <p:nvSpPr>
          <p:cNvPr name="Freeform 19" id="19"/>
          <p:cNvSpPr/>
          <p:nvPr/>
        </p:nvSpPr>
        <p:spPr>
          <a:xfrm flipH="false" flipV="false" rot="0">
            <a:off x="13281018" y="4927215"/>
            <a:ext cx="3959232" cy="4312035"/>
          </a:xfrm>
          <a:custGeom>
            <a:avLst/>
            <a:gdLst/>
            <a:ahLst/>
            <a:cxnLst/>
            <a:rect r="r" b="b" t="t" l="l"/>
            <a:pathLst>
              <a:path h="4312035" w="3959232">
                <a:moveTo>
                  <a:pt x="0" y="0"/>
                </a:moveTo>
                <a:lnTo>
                  <a:pt x="3959232" y="0"/>
                </a:lnTo>
                <a:lnTo>
                  <a:pt x="3959232" y="4312035"/>
                </a:lnTo>
                <a:lnTo>
                  <a:pt x="0" y="4312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1301441" y="1915295"/>
            <a:ext cx="15910234" cy="681355"/>
          </a:xfrm>
          <a:prstGeom prst="rect">
            <a:avLst/>
          </a:prstGeom>
        </p:spPr>
        <p:txBody>
          <a:bodyPr anchor="t" rtlCol="false" tIns="0" lIns="0" bIns="0" rIns="0">
            <a:spAutoFit/>
          </a:bodyPr>
          <a:lstStyle/>
          <a:p>
            <a:pPr algn="l" marL="0" indent="0" lvl="0">
              <a:lnSpc>
                <a:spcPts val="3919"/>
              </a:lnSpc>
              <a:spcBef>
                <a:spcPct val="0"/>
              </a:spcBef>
            </a:pPr>
            <a:r>
              <a:rPr lang="en-US" b="true" sz="2799" strike="noStrike" u="none">
                <a:solidFill>
                  <a:srgbClr val="1A2F81"/>
                </a:solidFill>
                <a:latin typeface="たづがね角ゴシック Info Bold"/>
                <a:ea typeface="たづがね角ゴシック Info Bold"/>
                <a:cs typeface="たづがね角ゴシック Info Bold"/>
                <a:sym typeface="たづがね角ゴシック Info Bold"/>
              </a:rPr>
              <a:t>次への一歩に向けて</a:t>
            </a:r>
          </a:p>
        </p:txBody>
      </p:sp>
      <p:sp>
        <p:nvSpPr>
          <p:cNvPr name="TextBox 21" id="21"/>
          <p:cNvSpPr txBox="true"/>
          <p:nvPr/>
        </p:nvSpPr>
        <p:spPr>
          <a:xfrm rot="0">
            <a:off x="1047750" y="828675"/>
            <a:ext cx="8096250" cy="577215"/>
          </a:xfrm>
          <a:prstGeom prst="rect">
            <a:avLst/>
          </a:prstGeom>
        </p:spPr>
        <p:txBody>
          <a:bodyPr anchor="t" rtlCol="false" tIns="0" lIns="0" bIns="0" rIns="0">
            <a:spAutoFit/>
          </a:bodyPr>
          <a:lstStyle/>
          <a:p>
            <a:pPr algn="l">
              <a:lnSpc>
                <a:spcPts val="3359"/>
              </a:lnSpc>
              <a:spcBef>
                <a:spcPct val="0"/>
              </a:spcBef>
            </a:pPr>
            <a:r>
              <a:rPr lang="en-US" sz="2400">
                <a:solidFill>
                  <a:srgbClr val="1A2F81"/>
                </a:solidFill>
                <a:latin typeface="たづがね角ゴシック Info"/>
                <a:ea typeface="たづがね角ゴシック Info"/>
                <a:cs typeface="たづがね角ゴシック Info"/>
                <a:sym typeface="たづがね角ゴシック Info"/>
              </a:rPr>
              <a:t>まとめ</a:t>
            </a:r>
          </a:p>
        </p:txBody>
      </p:sp>
      <p:sp>
        <p:nvSpPr>
          <p:cNvPr name="TextBox 22" id="22"/>
          <p:cNvSpPr txBox="true"/>
          <p:nvPr/>
        </p:nvSpPr>
        <p:spPr>
          <a:xfrm rot="0">
            <a:off x="9172575" y="1054418"/>
            <a:ext cx="6688237" cy="306705"/>
          </a:xfrm>
          <a:prstGeom prst="rect">
            <a:avLst/>
          </a:prstGeom>
        </p:spPr>
        <p:txBody>
          <a:bodyPr anchor="t" rtlCol="false" tIns="0" lIns="0" bIns="0" rIns="0">
            <a:spAutoFit/>
          </a:bodyPr>
          <a:lstStyle/>
          <a:p>
            <a:pPr algn="r">
              <a:lnSpc>
                <a:spcPts val="2520"/>
              </a:lnSpc>
              <a:spcBef>
                <a:spcPct val="0"/>
              </a:spcBef>
            </a:pPr>
            <a:r>
              <a:rPr lang="en-US" b="true" sz="1800">
                <a:solidFill>
                  <a:srgbClr val="1A2F81"/>
                </a:solidFill>
                <a:latin typeface="Montserrat Medium"/>
                <a:ea typeface="Montserrat Medium"/>
                <a:cs typeface="Montserrat Medium"/>
                <a:sym typeface="Montserrat Medium"/>
              </a:rPr>
              <a:t>Summary</a:t>
            </a:r>
          </a:p>
        </p:txBody>
      </p:sp>
      <p:sp>
        <p:nvSpPr>
          <p:cNvPr name="TextBox 23" id="23"/>
          <p:cNvSpPr txBox="true"/>
          <p:nvPr/>
        </p:nvSpPr>
        <p:spPr>
          <a:xfrm rot="0">
            <a:off x="1047750" y="5996360"/>
            <a:ext cx="7715250" cy="577215"/>
          </a:xfrm>
          <a:prstGeom prst="rect">
            <a:avLst/>
          </a:prstGeom>
        </p:spPr>
        <p:txBody>
          <a:bodyPr anchor="t" rtlCol="false" tIns="0" lIns="0" bIns="0" rIns="0">
            <a:spAutoFit/>
          </a:bodyPr>
          <a:lstStyle/>
          <a:p>
            <a:pPr algn="l">
              <a:lnSpc>
                <a:spcPts val="3359"/>
              </a:lnSpc>
              <a:spcBef>
                <a:spcPct val="0"/>
              </a:spcBef>
            </a:pPr>
            <a:r>
              <a:rPr lang="en-US" sz="2400">
                <a:solidFill>
                  <a:srgbClr val="010817"/>
                </a:solidFill>
                <a:latin typeface="たづがね角ゴシック Info Medium"/>
                <a:ea typeface="たづがね角ゴシック Info Medium"/>
                <a:cs typeface="たづがね角ゴシック Info Medium"/>
                <a:sym typeface="たづがね角ゴシック Info Medium"/>
              </a:rPr>
              <a:t>営業企画部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DAHTd0SZdEA</dc:identifier>
  <dcterms:modified xsi:type="dcterms:W3CDTF">2011-08-01T06:04:30Z</dcterms:modified>
  <cp:revision>1</cp:revision>
  <dc:title>青と白 ビジネス 上半期成果報告書 プレゼンテーション</dc:title>
</cp:coreProperties>
</file>